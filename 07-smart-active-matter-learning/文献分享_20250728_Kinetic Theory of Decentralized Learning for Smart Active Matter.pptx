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2" r:id="rId3"/>
    <p:sldId id="283" r:id="rId5"/>
    <p:sldId id="284" r:id="rId6"/>
    <p:sldId id="285" r:id="rId7"/>
    <p:sldId id="286" r:id="rId8"/>
    <p:sldId id="304" r:id="rId9"/>
    <p:sldId id="287" r:id="rId10"/>
    <p:sldId id="288" r:id="rId11"/>
    <p:sldId id="289" r:id="rId12"/>
    <p:sldId id="291" r:id="rId13"/>
    <p:sldId id="293" r:id="rId14"/>
    <p:sldId id="294" r:id="rId15"/>
    <p:sldId id="303" r:id="rId16"/>
    <p:sldId id="295" r:id="rId17"/>
    <p:sldId id="296" r:id="rId18"/>
    <p:sldId id="297" r:id="rId19"/>
    <p:sldId id="298" r:id="rId20"/>
    <p:sldId id="300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9" userDrawn="1">
          <p15:clr>
            <a:srgbClr val="A4A3A4"/>
          </p15:clr>
        </p15:guide>
        <p15:guide id="2" pos="387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whf" initials="w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79"/>
        <p:guide pos="387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35.png"/><Relationship Id="rId7" Type="http://schemas.openxmlformats.org/officeDocument/2006/relationships/image" Target="../media/image34.png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37.png"/><Relationship Id="rId10" Type="http://schemas.openxmlformats.org/officeDocument/2006/relationships/image" Target="../media/image36.png"/><Relationship Id="rId1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5.png"/><Relationship Id="rId7" Type="http://schemas.openxmlformats.org/officeDocument/2006/relationships/image" Target="../media/image44.png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2.png"/><Relationship Id="rId8" Type="http://schemas.openxmlformats.org/officeDocument/2006/relationships/image" Target="../media/image51.png"/><Relationship Id="rId7" Type="http://schemas.openxmlformats.org/officeDocument/2006/relationships/image" Target="../media/image50.png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3" Type="http://schemas.openxmlformats.org/officeDocument/2006/relationships/notesSlide" Target="../notesSlides/notesSlide10.x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54.png"/><Relationship Id="rId10" Type="http://schemas.openxmlformats.org/officeDocument/2006/relationships/image" Target="../media/image53.png"/><Relationship Id="rId1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3.png"/><Relationship Id="rId3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3" Type="http://schemas.openxmlformats.org/officeDocument/2006/relationships/image" Target="../media/image17.png"/><Relationship Id="rId2" Type="http://schemas.openxmlformats.org/officeDocument/2006/relationships/image" Target="../media/image31.png"/><Relationship Id="rId1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69.png"/><Relationship Id="rId8" Type="http://schemas.openxmlformats.org/officeDocument/2006/relationships/image" Target="../media/image68.png"/><Relationship Id="rId7" Type="http://schemas.openxmlformats.org/officeDocument/2006/relationships/image" Target="../media/image67.png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2" Type="http://schemas.openxmlformats.org/officeDocument/2006/relationships/notesSlide" Target="../notesSlides/notesSlide15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70.png"/><Relationship Id="rId1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75.png"/><Relationship Id="rId7" Type="http://schemas.openxmlformats.org/officeDocument/2006/relationships/image" Target="../media/image70.png"/><Relationship Id="rId6" Type="http://schemas.openxmlformats.org/officeDocument/2006/relationships/image" Target="../media/image28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2" Type="http://schemas.openxmlformats.org/officeDocument/2006/relationships/notesSlide" Target="../notesSlides/notesSlide16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37.png"/><Relationship Id="rId1" Type="http://schemas.openxmlformats.org/officeDocument/2006/relationships/image" Target="../media/image6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55706" y="1394234"/>
            <a:ext cx="46548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Picture 2" descr="https://gss0.bdstatic.com/-4o3dSag_xI4khGkpoWK1HF6hhy/baike/c0%3Dbaike272%2C5%2C5%2C272%2C90/sign=8a9a0b9d3787e950561afb3e71513826/2fdda3cc7cd98d103d73086f2c3fb80e7aec90cc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995" y="0"/>
            <a:ext cx="1145264" cy="1394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0" name="图片 9" descr="logo-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5680" y="-437810"/>
            <a:ext cx="3331845" cy="3074670"/>
          </a:xfrm>
          <a:prstGeom prst="rect">
            <a:avLst/>
          </a:prstGeom>
        </p:spPr>
      </p:pic>
      <p:pic>
        <p:nvPicPr>
          <p:cNvPr id="11" name="图片 10" descr="logo-06 - 副本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19894"/>
            <a:ext cx="2627948" cy="242458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570990" y="2169795"/>
            <a:ext cx="9803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Kinetic Theory of Decentralized Learning for Smart Active Matter</a:t>
            </a:r>
            <a:endParaRPr lang="en-US" altLang="zh-CN" sz="2400" b="1"/>
          </a:p>
        </p:txBody>
      </p:sp>
      <p:sp>
        <p:nvSpPr>
          <p:cNvPr id="12" name="文本框 11"/>
          <p:cNvSpPr txBox="1"/>
          <p:nvPr/>
        </p:nvSpPr>
        <p:spPr>
          <a:xfrm>
            <a:off x="3556000" y="326040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>
                <a:solidFill>
                  <a:srgbClr val="231F20"/>
                </a:solidFill>
                <a:latin typeface="Arial" panose="020B0604020202020204" pitchFamily="34" charset="0"/>
                <a:ea typeface="微软雅黑" panose="020B0503020204020204" charset="-122"/>
              </a:rPr>
              <a:t>Gerhard Jung , Misaki Ozawa , and Eric Bertin</a:t>
            </a:r>
            <a:endParaRPr lang="en-US" altLang="zh-CN" sz="1600">
              <a:solidFill>
                <a:srgbClr val="231F2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767570" y="5400675"/>
            <a:ext cx="1304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曹溪能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064375" y="4344352"/>
            <a:ext cx="5080000" cy="27559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200">
                <a:solidFill>
                  <a:srgbClr val="231F20"/>
                </a:solidFill>
                <a:ea typeface="AdvOT483a8203"/>
                <a:cs typeface="+mn-lt"/>
              </a:rPr>
              <a:t>​​Phys. Rev. Lett. 134, 248302 (2025</a:t>
            </a:r>
            <a:r>
              <a:rPr lang="zh-CN" altLang="en-US" sz="1200">
                <a:solidFill>
                  <a:srgbClr val="231F20"/>
                </a:solidFill>
                <a:ea typeface="宋体" panose="02010600030101010101" pitchFamily="2" charset="-122"/>
                <a:cs typeface="+mn-lt"/>
              </a:rPr>
              <a:t>）</a:t>
            </a:r>
            <a:endParaRPr lang="zh-CN" altLang="en-US" sz="1200">
              <a:solidFill>
                <a:srgbClr val="231F20"/>
              </a:solidFill>
              <a:ea typeface="宋体" panose="02010600030101010101" pitchFamily="2" charset="-122"/>
              <a:cs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21335" y="2407920"/>
            <a:ext cx="11235690" cy="1610995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21810" y="2861945"/>
            <a:ext cx="334708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 b="1">
                <a:solidFill>
                  <a:schemeClr val="bg1"/>
                </a:solidFill>
              </a:rPr>
              <a:t>内容回顾</a:t>
            </a:r>
            <a:endParaRPr lang="zh-CN" altLang="en-US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797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4610"/>
            <a:ext cx="9004935" cy="495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background:smart active particle</a:t>
            </a:r>
            <a:endParaRPr lang="en-US" altLang="zh-CN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45" y="660400"/>
            <a:ext cx="2451735" cy="595439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207000" y="6492875"/>
            <a:ext cx="8818245" cy="27559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en-US" altLang="zh-CN" sz="1200" b="0" i="0">
                <a:solidFill>
                  <a:srgbClr val="222222"/>
                </a:solidFill>
                <a:latin typeface="Arial" panose="020B0604020202020204"/>
                <a:ea typeface="Arial" panose="020B0604020202020204"/>
              </a:rPr>
              <a:t>Löwen H, Liebchen B. Towards intelligent active particles[J]. arXiv preprint arXiv:2501.08632, 2025.</a:t>
            </a:r>
            <a:endParaRPr lang="en-US" altLang="zh-CN" sz="1200" b="0" i="0">
              <a:solidFill>
                <a:srgbClr val="222222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301490" y="1330325"/>
            <a:ext cx="63099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/>
              <a:t>“smart active particle” in </a:t>
            </a:r>
            <a:r>
              <a:rPr lang="en-US" altLang="zh-CN"/>
              <a:t>this article is at “g” level:</a:t>
            </a:r>
            <a:endParaRPr lang="en-US" altLang="zh-CN"/>
          </a:p>
          <a:p>
            <a:pPr indent="0" fontAlgn="auto">
              <a:lnSpc>
                <a:spcPct val="150000"/>
              </a:lnSpc>
            </a:pPr>
            <a:r>
              <a:rPr lang="en-US" altLang="zh-CN"/>
              <a:t>sense its neighbors,memory,make and change policy 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797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4610"/>
            <a:ext cx="9004935" cy="495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background:what is kinetic theory?</a:t>
            </a:r>
            <a:endParaRPr lang="en-US" altLang="zh-CN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149475" y="739775"/>
            <a:ext cx="99618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solve the distribution function in phase space</a:t>
            </a:r>
            <a:endParaRPr lang="en-US" altLang="zh-CN" sz="1600"/>
          </a:p>
        </p:txBody>
      </p:sp>
      <p:sp>
        <p:nvSpPr>
          <p:cNvPr id="6" name="文本框 5"/>
          <p:cNvSpPr txBox="1"/>
          <p:nvPr/>
        </p:nvSpPr>
        <p:spPr>
          <a:xfrm>
            <a:off x="264160" y="743585"/>
            <a:ext cx="2077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kinetic theory:</a:t>
            </a:r>
            <a:endParaRPr lang="en-US" altLang="zh-CN" b="1"/>
          </a:p>
        </p:txBody>
      </p:sp>
      <p:sp>
        <p:nvSpPr>
          <p:cNvPr id="8" name="文本框 7"/>
          <p:cNvSpPr txBox="1"/>
          <p:nvPr/>
        </p:nvSpPr>
        <p:spPr>
          <a:xfrm>
            <a:off x="420370" y="1249045"/>
            <a:ext cx="35159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microscopic</a:t>
            </a:r>
            <a:endParaRPr lang="en-US" altLang="zh-CN" sz="1600"/>
          </a:p>
        </p:txBody>
      </p:sp>
      <p:sp>
        <p:nvSpPr>
          <p:cNvPr id="9" name="文本框 8"/>
          <p:cNvSpPr txBox="1"/>
          <p:nvPr/>
        </p:nvSpPr>
        <p:spPr>
          <a:xfrm>
            <a:off x="354965" y="3437890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sym typeface="+mn-ea"/>
              </a:rPr>
              <a:t>mesoscopic</a:t>
            </a:r>
            <a:endParaRPr lang="en-US" altLang="zh-CN" sz="1600"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54965" y="5221605"/>
            <a:ext cx="34448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macroscopic</a:t>
            </a:r>
            <a:endParaRPr lang="en-US" altLang="zh-CN" sz="1600"/>
          </a:p>
        </p:txBody>
      </p:sp>
      <p:sp>
        <p:nvSpPr>
          <p:cNvPr id="11" name="文本框 10"/>
          <p:cNvSpPr txBox="1"/>
          <p:nvPr/>
        </p:nvSpPr>
        <p:spPr>
          <a:xfrm>
            <a:off x="2073910" y="129190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/>
              <a:t>Hamilton equation</a:t>
            </a:r>
            <a:endParaRPr lang="en-US" altLang="zh-CN" sz="1600"/>
          </a:p>
        </p:txBody>
      </p:sp>
      <p:sp>
        <p:nvSpPr>
          <p:cNvPr id="12" name="文本框 11"/>
          <p:cNvSpPr txBox="1"/>
          <p:nvPr/>
        </p:nvSpPr>
        <p:spPr>
          <a:xfrm>
            <a:off x="7755255" y="1438275"/>
            <a:ext cx="26504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dynamic theory</a:t>
            </a:r>
            <a:endParaRPr lang="en-US" altLang="zh-CN" sz="1600"/>
          </a:p>
        </p:txBody>
      </p:sp>
      <p:sp>
        <p:nvSpPr>
          <p:cNvPr id="13" name="文本框 12"/>
          <p:cNvSpPr txBox="1"/>
          <p:nvPr/>
        </p:nvSpPr>
        <p:spPr>
          <a:xfrm>
            <a:off x="2073910" y="229711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/>
              <a:t>Liouville equation </a:t>
            </a:r>
            <a:endParaRPr lang="en-US" altLang="zh-CN" sz="1600"/>
          </a:p>
        </p:txBody>
      </p:sp>
      <p:sp>
        <p:nvSpPr>
          <p:cNvPr id="14" name="文本框 13"/>
          <p:cNvSpPr txBox="1"/>
          <p:nvPr/>
        </p:nvSpPr>
        <p:spPr>
          <a:xfrm>
            <a:off x="2073910" y="3437890"/>
            <a:ext cx="51250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boltzman equation</a:t>
            </a:r>
            <a:endParaRPr lang="en-US" altLang="zh-CN" sz="1600"/>
          </a:p>
        </p:txBody>
      </p:sp>
      <p:sp>
        <p:nvSpPr>
          <p:cNvPr id="15" name="文本框 14"/>
          <p:cNvSpPr txBox="1"/>
          <p:nvPr/>
        </p:nvSpPr>
        <p:spPr>
          <a:xfrm>
            <a:off x="2073910" y="5225415"/>
            <a:ext cx="40265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hydrodynamic equation</a:t>
            </a:r>
            <a:endParaRPr lang="en-US" altLang="zh-CN" sz="160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0965" y="744855"/>
            <a:ext cx="3223895" cy="381000"/>
          </a:xfrm>
          <a:prstGeom prst="rect">
            <a:avLst/>
          </a:prstGeom>
        </p:spPr>
      </p:pic>
      <p:grpSp>
        <p:nvGrpSpPr>
          <p:cNvPr id="34" name="组合 33"/>
          <p:cNvGrpSpPr/>
          <p:nvPr/>
        </p:nvGrpSpPr>
        <p:grpSpPr>
          <a:xfrm>
            <a:off x="4509135" y="1348105"/>
            <a:ext cx="2535555" cy="639445"/>
            <a:chOff x="6542" y="2133"/>
            <a:chExt cx="4212" cy="1087"/>
          </a:xfrm>
        </p:grpSpPr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43" y="2133"/>
              <a:ext cx="1535" cy="498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42" y="2616"/>
              <a:ext cx="4213" cy="604"/>
            </a:xfrm>
            <a:prstGeom prst="rect">
              <a:avLst/>
            </a:prstGeom>
          </p:spPr>
        </p:pic>
      </p:grpSp>
      <p:grpSp>
        <p:nvGrpSpPr>
          <p:cNvPr id="35" name="组合 34"/>
          <p:cNvGrpSpPr/>
          <p:nvPr/>
        </p:nvGrpSpPr>
        <p:grpSpPr>
          <a:xfrm>
            <a:off x="4521835" y="2328545"/>
            <a:ext cx="1509395" cy="638175"/>
            <a:chOff x="6542" y="3568"/>
            <a:chExt cx="2794" cy="1132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25" y="3568"/>
              <a:ext cx="1722" cy="487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42" y="4172"/>
              <a:ext cx="2795" cy="528"/>
            </a:xfrm>
            <a:prstGeom prst="rect">
              <a:avLst/>
            </a:prstGeom>
          </p:spPr>
        </p:pic>
      </p:grpSp>
      <p:grpSp>
        <p:nvGrpSpPr>
          <p:cNvPr id="36" name="组合 35"/>
          <p:cNvGrpSpPr/>
          <p:nvPr/>
        </p:nvGrpSpPr>
        <p:grpSpPr>
          <a:xfrm>
            <a:off x="4509135" y="3408680"/>
            <a:ext cx="6273189" cy="1135293"/>
            <a:chOff x="6625" y="5556"/>
            <a:chExt cx="9521" cy="1736"/>
          </a:xfrm>
        </p:grpSpPr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25" y="5556"/>
              <a:ext cx="9521" cy="724"/>
            </a:xfrm>
            <a:prstGeom prst="rect">
              <a:avLst/>
            </a:prstGeom>
          </p:spPr>
        </p:pic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625" y="6383"/>
              <a:ext cx="3533" cy="909"/>
            </a:xfrm>
            <a:prstGeom prst="rect">
              <a:avLst/>
            </a:prstGeom>
          </p:spPr>
        </p:pic>
      </p:grpSp>
      <p:sp>
        <p:nvSpPr>
          <p:cNvPr id="23" name="文本框 22"/>
          <p:cNvSpPr txBox="1"/>
          <p:nvPr/>
        </p:nvSpPr>
        <p:spPr>
          <a:xfrm>
            <a:off x="9838690" y="788670"/>
            <a:ext cx="19634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6N dimension</a:t>
            </a:r>
            <a:endParaRPr lang="en-US" altLang="zh-CN" sz="1600"/>
          </a:p>
        </p:txBody>
      </p:sp>
      <p:grpSp>
        <p:nvGrpSpPr>
          <p:cNvPr id="37" name="组合 36"/>
          <p:cNvGrpSpPr/>
          <p:nvPr/>
        </p:nvGrpSpPr>
        <p:grpSpPr>
          <a:xfrm>
            <a:off x="4509135" y="5108575"/>
            <a:ext cx="3467735" cy="1471295"/>
            <a:chOff x="7644" y="8030"/>
            <a:chExt cx="5461" cy="2317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644" y="9139"/>
              <a:ext cx="4599" cy="1209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735" y="8030"/>
              <a:ext cx="5371" cy="888"/>
            </a:xfrm>
            <a:prstGeom prst="rect">
              <a:avLst/>
            </a:prstGeom>
          </p:spPr>
        </p:pic>
      </p:grpSp>
      <p:sp>
        <p:nvSpPr>
          <p:cNvPr id="29" name="下箭头 28"/>
          <p:cNvSpPr/>
          <p:nvPr/>
        </p:nvSpPr>
        <p:spPr>
          <a:xfrm>
            <a:off x="815340" y="1684020"/>
            <a:ext cx="141605" cy="16160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下箭头 29"/>
          <p:cNvSpPr/>
          <p:nvPr/>
        </p:nvSpPr>
        <p:spPr>
          <a:xfrm>
            <a:off x="815340" y="3954780"/>
            <a:ext cx="142240" cy="12223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下箭头 30"/>
          <p:cNvSpPr/>
          <p:nvPr/>
        </p:nvSpPr>
        <p:spPr>
          <a:xfrm>
            <a:off x="2764155" y="2712085"/>
            <a:ext cx="156210" cy="72263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下箭头 32"/>
          <p:cNvSpPr/>
          <p:nvPr/>
        </p:nvSpPr>
        <p:spPr>
          <a:xfrm>
            <a:off x="2764155" y="1661160"/>
            <a:ext cx="156210" cy="60452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下箭头 6"/>
          <p:cNvSpPr/>
          <p:nvPr/>
        </p:nvSpPr>
        <p:spPr>
          <a:xfrm>
            <a:off x="2764155" y="3954780"/>
            <a:ext cx="142240" cy="12223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797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4610"/>
            <a:ext cx="9004935" cy="495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background :decentralized learning</a:t>
            </a:r>
            <a:endParaRPr lang="en-US" altLang="zh-CN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84505" y="993140"/>
            <a:ext cx="40468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what is learning?	</a:t>
            </a:r>
            <a:endParaRPr lang="en-US" altLang="zh-CN" b="1"/>
          </a:p>
        </p:txBody>
      </p:sp>
      <p:sp>
        <p:nvSpPr>
          <p:cNvPr id="6" name="文本框 5"/>
          <p:cNvSpPr txBox="1"/>
          <p:nvPr/>
        </p:nvSpPr>
        <p:spPr>
          <a:xfrm>
            <a:off x="1228090" y="1581785"/>
            <a:ext cx="7858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have a target and change its parameters to try to realize the target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484505" y="2494280"/>
            <a:ext cx="6062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what is decentralized learning?</a:t>
            </a:r>
            <a:endParaRPr lang="en-US" altLang="zh-CN" b="1"/>
          </a:p>
        </p:txBody>
      </p:sp>
      <p:sp>
        <p:nvSpPr>
          <p:cNvPr id="9" name="文本框 8"/>
          <p:cNvSpPr txBox="1"/>
          <p:nvPr/>
        </p:nvSpPr>
        <p:spPr>
          <a:xfrm>
            <a:off x="1136015" y="3126740"/>
            <a:ext cx="876998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/>
              <a:t>for each agent,update their parameters using only local data and neighbor interactions,no central controller</a:t>
            </a:r>
            <a:endParaRPr lang="en-US" altLang="zh-CN"/>
          </a:p>
          <a:p>
            <a:pPr indent="0" fontAlgn="auto">
              <a:lnSpc>
                <a:spcPct val="150000"/>
              </a:lnSpc>
            </a:pPr>
            <a:endParaRPr lang="en-US" altLang="zh-CN"/>
          </a:p>
        </p:txBody>
      </p:sp>
      <p:pic>
        <p:nvPicPr>
          <p:cNvPr id="12" name="图片 11" descr="20250822_2255_Ant Colony Foraging Diagrams_simple_compose_01k394c97yea69mj2vnv2v3gay (1)"/>
          <p:cNvPicPr>
            <a:picLocks noChangeAspect="1"/>
          </p:cNvPicPr>
          <p:nvPr/>
        </p:nvPicPr>
        <p:blipFill>
          <a:blip r:embed="rId1"/>
          <a:srcRect b="8558"/>
          <a:stretch>
            <a:fillRect/>
          </a:stretch>
        </p:blipFill>
        <p:spPr>
          <a:xfrm>
            <a:off x="9380220" y="721360"/>
            <a:ext cx="2362835" cy="216090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9906000" y="6355715"/>
            <a:ext cx="23456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generated by gpt</a:t>
            </a:r>
            <a:endParaRPr lang="en-US" altLang="zh-CN" sz="1200"/>
          </a:p>
        </p:txBody>
      </p:sp>
      <p:pic>
        <p:nvPicPr>
          <p:cNvPr id="15" name="图片 14" descr="20250822_2336_Queen Ant Network_remix_01k396psysea1t0kxhmz35rm8b"/>
          <p:cNvPicPr>
            <a:picLocks noChangeAspect="1"/>
          </p:cNvPicPr>
          <p:nvPr/>
        </p:nvPicPr>
        <p:blipFill>
          <a:blip r:embed="rId2"/>
          <a:srcRect b="13184"/>
          <a:stretch>
            <a:fillRect/>
          </a:stretch>
        </p:blipFill>
        <p:spPr>
          <a:xfrm>
            <a:off x="9276080" y="3300095"/>
            <a:ext cx="2571115" cy="223266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9772650" y="2851150"/>
            <a:ext cx="19704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decentralized learning</a:t>
            </a:r>
            <a:endParaRPr lang="en-US" altLang="zh-CN" sz="1200"/>
          </a:p>
        </p:txBody>
      </p:sp>
      <p:sp>
        <p:nvSpPr>
          <p:cNvPr id="17" name="文本框 16"/>
          <p:cNvSpPr txBox="1"/>
          <p:nvPr/>
        </p:nvSpPr>
        <p:spPr>
          <a:xfrm>
            <a:off x="9839960" y="5519420"/>
            <a:ext cx="18357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centralized learning</a:t>
            </a:r>
            <a:endParaRPr lang="en-US" altLang="zh-CN" sz="1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797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4610"/>
            <a:ext cx="9004935" cy="495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background :decentralized learning</a:t>
            </a:r>
            <a:endParaRPr lang="en-US" altLang="zh-CN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84505" y="993140"/>
            <a:ext cx="9505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Does this paper’s research belong to machine learning?</a:t>
            </a:r>
            <a:endParaRPr lang="en-US" altLang="zh-CN" b="1"/>
          </a:p>
        </p:txBody>
      </p:sp>
      <p:sp>
        <p:nvSpPr>
          <p:cNvPr id="6" name="文本框 5"/>
          <p:cNvSpPr txBox="1"/>
          <p:nvPr/>
        </p:nvSpPr>
        <p:spPr>
          <a:xfrm>
            <a:off x="1228090" y="1581785"/>
            <a:ext cx="9910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No,it’s the research paradigm of kinetic theory in physics,not the paradigm of machine learning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484505" y="2324735"/>
            <a:ext cx="9264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Why do we feel that this article is related to machine learning?</a:t>
            </a:r>
            <a:endParaRPr lang="zh-CN" altLang="en-US" b="1"/>
          </a:p>
        </p:txBody>
      </p:sp>
      <p:sp>
        <p:nvSpPr>
          <p:cNvPr id="9" name="文本框 8"/>
          <p:cNvSpPr txBox="1"/>
          <p:nvPr/>
        </p:nvSpPr>
        <p:spPr>
          <a:xfrm>
            <a:off x="1156970" y="2981960"/>
            <a:ext cx="969391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/>
              <a:t>One perspective: The article borrows some concepts from reinforcement learning, such as policy and reward function, and decentralized learning also exists in reinforcement learning.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031875" y="5091430"/>
            <a:ext cx="890587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/>
              <a:t>More comparisons between this article and “decentralized learning  Multi-Agent Reinforcement Learning” will be introduced after this article.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797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4610"/>
            <a:ext cx="9004935" cy="495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model:Agent-based model of decentralized learning</a:t>
            </a:r>
            <a:endParaRPr lang="en-US" altLang="zh-CN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3155" y="3136900"/>
            <a:ext cx="4492625" cy="250634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70510" y="619760"/>
            <a:ext cx="41681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/>
              <a:t>what is an agent?</a:t>
            </a:r>
            <a:endParaRPr lang="en-US" altLang="zh-CN" sz="1600" b="1"/>
          </a:p>
        </p:txBody>
      </p:sp>
      <p:grpSp>
        <p:nvGrpSpPr>
          <p:cNvPr id="21" name="组合 20"/>
          <p:cNvGrpSpPr/>
          <p:nvPr/>
        </p:nvGrpSpPr>
        <p:grpSpPr>
          <a:xfrm>
            <a:off x="542925" y="978535"/>
            <a:ext cx="8618220" cy="1645285"/>
            <a:chOff x="1137" y="1421"/>
            <a:chExt cx="13572" cy="2591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13" y="3232"/>
              <a:ext cx="3572" cy="781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1137" y="1421"/>
              <a:ext cx="13572" cy="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 fontAlgn="auto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600"/>
                <a:t>position x,overdamped velocity v,position diffusivity D</a:t>
              </a:r>
              <a:endParaRPr lang="en-US" altLang="zh-CN" sz="1600"/>
            </a:p>
            <a:p>
              <a:pPr marL="285750" indent="-285750" fontAlgn="auto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600"/>
                <a:t>state S:internal physical variables e.g.,orientation, self-propulsion velocity</a:t>
              </a:r>
              <a:endParaRPr lang="en-US" altLang="zh-CN" sz="1600"/>
            </a:p>
            <a:p>
              <a:pPr marL="285750" indent="-285750" fontAlgn="auto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600"/>
                <a:t>policy P:parameters that agent can change e.g.,angular diffusion coefficient</a:t>
              </a:r>
              <a:endParaRPr lang="en-US" altLang="zh-CN" sz="1600"/>
            </a:p>
            <a:p>
              <a:pPr marL="285750" indent="-285750" fontAlgn="auto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600"/>
                <a:t>processed information G(s),and memory M:</a:t>
              </a:r>
              <a:endParaRPr lang="en-US" altLang="zh-CN" sz="1600"/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270510" y="2696845"/>
            <a:ext cx="45415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/>
              <a:t>decentralized learning procedure:</a:t>
            </a:r>
            <a:endParaRPr lang="en-US" altLang="zh-CN" sz="1600" b="1"/>
          </a:p>
        </p:txBody>
      </p:sp>
      <p:grpSp>
        <p:nvGrpSpPr>
          <p:cNvPr id="23" name="组合 22"/>
          <p:cNvGrpSpPr/>
          <p:nvPr/>
        </p:nvGrpSpPr>
        <p:grpSpPr>
          <a:xfrm>
            <a:off x="542925" y="3260090"/>
            <a:ext cx="6142990" cy="336550"/>
            <a:chOff x="1137" y="5134"/>
            <a:chExt cx="9674" cy="530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40" y="5188"/>
              <a:ext cx="1191" cy="440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1137" y="5134"/>
              <a:ext cx="4845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600"/>
                <a:t>teaching and learning at rate </a:t>
              </a:r>
              <a:endParaRPr lang="en-US" altLang="zh-CN" sz="1600"/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11" y="5258"/>
              <a:ext cx="3400" cy="407"/>
            </a:xfrm>
            <a:prstGeom prst="rect">
              <a:avLst/>
            </a:prstGeom>
          </p:spPr>
        </p:pic>
      </p:grpSp>
      <p:grpSp>
        <p:nvGrpSpPr>
          <p:cNvPr id="25" name="组合 24"/>
          <p:cNvGrpSpPr/>
          <p:nvPr/>
        </p:nvGrpSpPr>
        <p:grpSpPr>
          <a:xfrm>
            <a:off x="542925" y="3573780"/>
            <a:ext cx="6810375" cy="500380"/>
            <a:chOff x="1187" y="5628"/>
            <a:chExt cx="10725" cy="788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90" y="5628"/>
              <a:ext cx="4922" cy="789"/>
            </a:xfrm>
            <a:prstGeom prst="rect">
              <a:avLst/>
            </a:prstGeom>
          </p:spPr>
        </p:pic>
        <p:sp>
          <p:nvSpPr>
            <p:cNvPr id="15" name="文本框 14"/>
            <p:cNvSpPr txBox="1"/>
            <p:nvPr/>
          </p:nvSpPr>
          <p:spPr>
            <a:xfrm>
              <a:off x="1187" y="5800"/>
              <a:ext cx="6705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600"/>
                <a:t>i become a teacher at the possibility </a:t>
              </a:r>
              <a:endParaRPr lang="en-US" altLang="zh-CN" sz="160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542925" y="4149090"/>
            <a:ext cx="6485890" cy="336550"/>
            <a:chOff x="1137" y="6600"/>
            <a:chExt cx="10214" cy="530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777" y="6619"/>
              <a:ext cx="1575" cy="446"/>
            </a:xfrm>
            <a:prstGeom prst="rect">
              <a:avLst/>
            </a:prstGeom>
          </p:spPr>
        </p:pic>
        <p:sp>
          <p:nvSpPr>
            <p:cNvPr id="16" name="文本框 15"/>
            <p:cNvSpPr txBox="1"/>
            <p:nvPr/>
          </p:nvSpPr>
          <p:spPr>
            <a:xfrm>
              <a:off x="1137" y="6600"/>
              <a:ext cx="7510" cy="531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600"/>
                <a:t>student copy teacher’s policy and memory</a:t>
              </a:r>
              <a:endParaRPr lang="en-US" altLang="zh-CN" sz="1600"/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892" y="6658"/>
              <a:ext cx="1485" cy="417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542925" y="4669155"/>
                <a:ext cx="5788025" cy="337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600"/>
                  <a:t>add mutation in policy space,with diffusion coefficient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𝑚𝑢𝑡</m:t>
                        </m:r>
                      </m:sub>
                    </m:sSub>
                  </m:oMath>
                </a14:m>
                <a:endParaRPr lang="en-US" altLang="zh-CN" sz="1600"/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25" y="4669155"/>
                <a:ext cx="5788025" cy="33718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椭圆 18"/>
          <p:cNvSpPr/>
          <p:nvPr/>
        </p:nvSpPr>
        <p:spPr>
          <a:xfrm>
            <a:off x="7463155" y="4020185"/>
            <a:ext cx="2039620" cy="193738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274955" y="5600700"/>
            <a:ext cx="7997190" cy="337185"/>
            <a:chOff x="1482" y="8635"/>
            <a:chExt cx="12594" cy="531"/>
          </a:xfrm>
        </p:grpSpPr>
        <p:sp>
          <p:nvSpPr>
            <p:cNvPr id="20" name="文本框 19"/>
            <p:cNvSpPr txBox="1"/>
            <p:nvPr/>
          </p:nvSpPr>
          <p:spPr>
            <a:xfrm>
              <a:off x="1482" y="8635"/>
              <a:ext cx="4292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/>
                <a:t>time scale separation</a:t>
              </a:r>
              <a:endParaRPr lang="en-US" altLang="zh-CN" sz="1600" b="1"/>
            </a:p>
          </p:txBody>
        </p:sp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063" y="8721"/>
              <a:ext cx="2077" cy="404"/>
            </a:xfrm>
            <a:prstGeom prst="rect">
              <a:avLst/>
            </a:prstGeom>
          </p:spPr>
        </p:pic>
        <p:sp>
          <p:nvSpPr>
            <p:cNvPr id="28" name="文本框 27"/>
            <p:cNvSpPr txBox="1"/>
            <p:nvPr/>
          </p:nvSpPr>
          <p:spPr>
            <a:xfrm>
              <a:off x="7140" y="8635"/>
              <a:ext cx="693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>
                  <a:latin typeface="Arial" panose="020B0604020202020204" pitchFamily="34" charset="0"/>
                  <a:ea typeface="微软雅黑" panose="020B0503020204020204" charset="-122"/>
                </a:rPr>
                <a:t>(time scale of S≪M </a:t>
              </a:r>
              <a:r>
                <a:rPr lang="en-US" altLang="zh-CN" sz="1600">
                  <a:latin typeface="Arial" panose="020B0604020202020204" pitchFamily="34" charset="0"/>
                  <a:ea typeface="微软雅黑" panose="020B0503020204020204" charset="-122"/>
                  <a:sym typeface="+mn-ea"/>
                </a:rPr>
                <a:t>≪P)</a:t>
              </a:r>
              <a:endParaRPr lang="en-US" altLang="zh-CN" sz="160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797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4610"/>
            <a:ext cx="9004935" cy="495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model</a:t>
            </a:r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one example</a:t>
            </a:r>
            <a:endParaRPr lang="en-US" altLang="zh-CN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005" y="1734185"/>
            <a:ext cx="4884420" cy="31953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1410" y="1874520"/>
            <a:ext cx="4492625" cy="250634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55930" y="90900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>
                <a:solidFill>
                  <a:srgbClr val="231F20"/>
                </a:solidFill>
                <a:ea typeface="AdvOTb748f40a.I"/>
                <a:cs typeface="+mn-lt"/>
              </a:rPr>
              <a:t>Phototactic, diffusive agents</a:t>
            </a:r>
            <a:endParaRPr lang="en-US" altLang="zh-CN" sz="1600">
              <a:solidFill>
                <a:srgbClr val="231F20"/>
              </a:solidFill>
              <a:ea typeface="AdvOTb748f40a.I"/>
              <a:cs typeface="+mn-lt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331595" y="5100320"/>
            <a:ext cx="6035675" cy="306705"/>
            <a:chOff x="1070" y="8780"/>
            <a:chExt cx="9505" cy="483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0" y="8877"/>
              <a:ext cx="2551" cy="386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文本框 11"/>
                <p:cNvSpPr txBox="1"/>
                <p:nvPr/>
              </p:nvSpPr>
              <p:spPr>
                <a:xfrm>
                  <a:off x="3755" y="8780"/>
                  <a:ext cx="6820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b>
                      </m:sSub>
                    </m:oMath>
                  </a14:m>
                  <a:r>
                    <a:rPr lang="en-US" altLang="zh-CN" sz="1400"/>
                    <a:t> is constant</a:t>
                  </a:r>
                  <a:endParaRPr lang="en-US" altLang="zh-CN" sz="1400"/>
                </a:p>
              </p:txBody>
            </p:sp>
          </mc:Choice>
          <mc:Fallback>
            <p:sp>
              <p:nvSpPr>
                <p:cNvPr id="12" name="文本框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" y="8780"/>
                  <a:ext cx="6820" cy="483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797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4610"/>
            <a:ext cx="9004935" cy="495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kinetic theory</a:t>
            </a:r>
            <a:endParaRPr lang="en-US" altLang="zh-CN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6095" y="1104900"/>
            <a:ext cx="3157220" cy="594995"/>
          </a:xfrm>
          <a:prstGeom prst="rect">
            <a:avLst/>
          </a:prstGeom>
        </p:spPr>
      </p:pic>
      <p:grpSp>
        <p:nvGrpSpPr>
          <p:cNvPr id="24" name="组合 23"/>
          <p:cNvGrpSpPr/>
          <p:nvPr/>
        </p:nvGrpSpPr>
        <p:grpSpPr>
          <a:xfrm>
            <a:off x="403225" y="731520"/>
            <a:ext cx="4923155" cy="337185"/>
            <a:chOff x="246" y="1316"/>
            <a:chExt cx="7753" cy="531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70" y="1397"/>
              <a:ext cx="2329" cy="442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246" y="1316"/>
              <a:ext cx="5580" cy="531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600">
                  <a:solidFill>
                    <a:srgbClr val="231F20"/>
                  </a:solidFill>
                  <a:ea typeface="微软雅黑" panose="020B0503020204020204" charset="-122"/>
                  <a:cs typeface="+mn-lt"/>
                </a:rPr>
                <a:t>single-agent phase-space density</a:t>
              </a:r>
              <a:endParaRPr lang="en-US" altLang="zh-CN" sz="1600">
                <a:solidFill>
                  <a:srgbClr val="231F20"/>
                </a:solidFill>
                <a:ea typeface="微软雅黑" panose="020B0503020204020204" charset="-122"/>
                <a:cs typeface="+mn-lt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1129665" y="1781175"/>
            <a:ext cx="5963920" cy="1240155"/>
            <a:chOff x="2195" y="3298"/>
            <a:chExt cx="9392" cy="1953"/>
          </a:xfrm>
        </p:grpSpPr>
        <p:grpSp>
          <p:nvGrpSpPr>
            <p:cNvPr id="27" name="组合 26"/>
            <p:cNvGrpSpPr/>
            <p:nvPr/>
          </p:nvGrpSpPr>
          <p:grpSpPr>
            <a:xfrm>
              <a:off x="2195" y="3298"/>
              <a:ext cx="9392" cy="530"/>
              <a:chOff x="2195" y="3298"/>
              <a:chExt cx="9392" cy="530"/>
            </a:xfrm>
          </p:grpSpPr>
          <p:pic>
            <p:nvPicPr>
              <p:cNvPr id="9" name="图片 8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95" y="3309"/>
                <a:ext cx="1099" cy="451"/>
              </a:xfrm>
              <a:prstGeom prst="rect">
                <a:avLst/>
              </a:prstGeom>
            </p:spPr>
          </p:pic>
          <p:sp>
            <p:nvSpPr>
              <p:cNvPr id="10" name="文本框 9"/>
              <p:cNvSpPr txBox="1"/>
              <p:nvPr/>
            </p:nvSpPr>
            <p:spPr>
              <a:xfrm>
                <a:off x="3587" y="3298"/>
                <a:ext cx="8000" cy="531"/>
              </a:xfrm>
              <a:prstGeom prst="rect">
                <a:avLst/>
              </a:prstGeom>
            </p:spPr>
            <p:txBody>
              <a:bodyPr>
                <a:spAutoFit/>
              </a:bodyPr>
              <a:p>
                <a:r>
                  <a:rPr lang="en-US" altLang="zh-CN" sz="1600">
                    <a:solidFill>
                      <a:srgbClr val="231F20"/>
                    </a:solidFill>
                    <a:ea typeface="微软雅黑" panose="020B0503020204020204" charset="-122"/>
                    <a:cs typeface="+mn-lt"/>
                  </a:rPr>
                  <a:t>physical dynamic of the state S and the position </a:t>
                </a:r>
                <a:r>
                  <a:rPr lang="en-US" altLang="zh-CN" sz="1600">
                    <a:solidFill>
                      <a:srgbClr val="231F20"/>
                    </a:solidFill>
                    <a:ea typeface="微软雅黑" panose="020B0503020204020204" charset="-122"/>
                    <a:cs typeface="+mn-lt"/>
                  </a:rPr>
                  <a:t>x</a:t>
                </a:r>
                <a:endParaRPr lang="en-US" altLang="zh-CN" sz="1600">
                  <a:solidFill>
                    <a:srgbClr val="231F20"/>
                  </a:solidFill>
                  <a:ea typeface="微软雅黑" panose="020B0503020204020204" charset="-122"/>
                  <a:cs typeface="+mn-lt"/>
                </a:endParaRPr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2195" y="3953"/>
              <a:ext cx="9392" cy="531"/>
              <a:chOff x="2184" y="4204"/>
              <a:chExt cx="9392" cy="531"/>
            </a:xfrm>
          </p:grpSpPr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84" y="4208"/>
                <a:ext cx="1110" cy="432"/>
              </a:xfrm>
              <a:prstGeom prst="rect">
                <a:avLst/>
              </a:prstGeom>
            </p:spPr>
          </p:pic>
          <p:sp>
            <p:nvSpPr>
              <p:cNvPr id="12" name="文本框 11"/>
              <p:cNvSpPr txBox="1"/>
              <p:nvPr/>
            </p:nvSpPr>
            <p:spPr>
              <a:xfrm>
                <a:off x="3576" y="4204"/>
                <a:ext cx="8000" cy="531"/>
              </a:xfrm>
              <a:prstGeom prst="rect">
                <a:avLst/>
              </a:prstGeom>
            </p:spPr>
            <p:txBody>
              <a:bodyPr>
                <a:spAutoFit/>
              </a:bodyPr>
              <a:p>
                <a:r>
                  <a:rPr lang="en-US" altLang="zh-CN" sz="1600">
                    <a:solidFill>
                      <a:srgbClr val="231F20"/>
                    </a:solidFill>
                    <a:ea typeface="微软雅黑" panose="020B0503020204020204" charset="-122"/>
                    <a:cs typeface="+mn-lt"/>
                  </a:rPr>
                  <a:t>memory dynamic of M</a:t>
                </a:r>
                <a:endParaRPr lang="en-US" altLang="zh-CN" sz="1600">
                  <a:solidFill>
                    <a:srgbClr val="231F20"/>
                  </a:solidFill>
                  <a:ea typeface="微软雅黑" panose="020B0503020204020204" charset="-122"/>
                  <a:cs typeface="+mn-lt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2195" y="4427"/>
              <a:ext cx="8127" cy="824"/>
              <a:chOff x="2195" y="4863"/>
              <a:chExt cx="8127" cy="824"/>
            </a:xfrm>
          </p:grpSpPr>
          <p:pic>
            <p:nvPicPr>
              <p:cNvPr id="8" name="图片 7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03" y="4863"/>
                <a:ext cx="3719" cy="824"/>
              </a:xfrm>
              <a:prstGeom prst="rect">
                <a:avLst/>
              </a:prstGeom>
            </p:spPr>
          </p:pic>
          <p:pic>
            <p:nvPicPr>
              <p:cNvPr id="13" name="图片 12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95" y="5125"/>
                <a:ext cx="1098" cy="442"/>
              </a:xfrm>
              <a:prstGeom prst="rect">
                <a:avLst/>
              </a:prstGeom>
            </p:spPr>
          </p:pic>
          <p:sp>
            <p:nvSpPr>
              <p:cNvPr id="14" name="文本框 13"/>
              <p:cNvSpPr txBox="1"/>
              <p:nvPr/>
            </p:nvSpPr>
            <p:spPr>
              <a:xfrm>
                <a:off x="3587" y="5080"/>
                <a:ext cx="3392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/>
                  <a:t>policy dynamic of P</a:t>
                </a:r>
                <a:endParaRPr lang="en-US" altLang="zh-CN" sz="1600"/>
              </a:p>
            </p:txBody>
          </p:sp>
        </p:grpSp>
      </p:grpSp>
      <p:sp>
        <p:nvSpPr>
          <p:cNvPr id="17" name="文本框 16"/>
          <p:cNvSpPr txBox="1"/>
          <p:nvPr/>
        </p:nvSpPr>
        <p:spPr>
          <a:xfrm>
            <a:off x="278765" y="3637915"/>
            <a:ext cx="76650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we want to get</a:t>
            </a:r>
            <a:r>
              <a:rPr lang="en-US" altLang="zh-CN" sz="1600" b="1"/>
              <a:t> the hydrodynamic of policy(its mean and variance) </a:t>
            </a:r>
            <a:r>
              <a:rPr lang="en-US" altLang="zh-CN" sz="1600"/>
              <a:t> </a:t>
            </a:r>
            <a:endParaRPr lang="en-US" altLang="zh-CN" sz="160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4805" y="3994785"/>
            <a:ext cx="3355975" cy="57658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278765" y="4131945"/>
            <a:ext cx="459041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Integrate over slow variables S and M</a:t>
            </a:r>
            <a:endParaRPr lang="en-US" altLang="zh-CN" sz="16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/>
              <p:cNvSpPr txBox="1"/>
              <p:nvPr/>
            </p:nvSpPr>
            <p:spPr>
              <a:xfrm>
                <a:off x="280670" y="4625975"/>
                <a:ext cx="6597650" cy="34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600"/>
                  <a:t>Obtain P’s hydrodynamic equations   </a:t>
                </a:r>
                <a14:m>
                  <m:oMath xmlns:m="http://schemas.openxmlformats.org/officeDocument/2006/math">
                    <m:r>
                      <a:rPr lang="en-US" altLang="zh-CN" sz="160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𝜇</m:t>
                    </m:r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</a:rPr>
                      <m:t>𝑡</m:t>
                    </m:r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 sz="1600">
                    <a:latin typeface="微软雅黑" panose="020B0503020204020204" charset="-122"/>
                    <a:ea typeface="微软雅黑" panose="020B0503020204020204" charset="-122"/>
                  </a:rPr>
                  <a:t>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𝜎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16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sz="16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,</m:t>
                    </m:r>
                    <m:r>
                      <a:rPr lang="en-US" altLang="zh-CN" sz="16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𝑡</m:t>
                    </m:r>
                    <m:r>
                      <a:rPr lang="en-US" altLang="zh-CN" sz="16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 altLang="zh-CN" sz="1600" i="1">
                  <a:latin typeface="微软雅黑" panose="020B0503020204020204" charset="-122"/>
                  <a:ea typeface="微软雅黑" panose="020B0503020204020204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670" y="4625975"/>
                <a:ext cx="6597650" cy="34607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组合 34"/>
          <p:cNvGrpSpPr/>
          <p:nvPr/>
        </p:nvGrpSpPr>
        <p:grpSpPr>
          <a:xfrm>
            <a:off x="278765" y="3222625"/>
            <a:ext cx="8280400" cy="337820"/>
            <a:chOff x="721" y="5033"/>
            <a:chExt cx="13040" cy="532"/>
          </a:xfrm>
        </p:grpSpPr>
        <p:sp>
          <p:nvSpPr>
            <p:cNvPr id="29" name="文本框 28"/>
            <p:cNvSpPr txBox="1"/>
            <p:nvPr/>
          </p:nvSpPr>
          <p:spPr>
            <a:xfrm>
              <a:off x="721" y="5033"/>
              <a:ext cx="4292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600" b="1"/>
                <a:t>time scale separation</a:t>
              </a:r>
              <a:endParaRPr lang="en-US" altLang="zh-CN" sz="1600" b="1"/>
            </a:p>
          </p:txBody>
        </p:sp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748" y="5120"/>
              <a:ext cx="2077" cy="404"/>
            </a:xfrm>
            <a:prstGeom prst="rect">
              <a:avLst/>
            </a:prstGeom>
          </p:spPr>
        </p:pic>
        <p:sp>
          <p:nvSpPr>
            <p:cNvPr id="31" name="文本框 30"/>
            <p:cNvSpPr txBox="1"/>
            <p:nvPr/>
          </p:nvSpPr>
          <p:spPr>
            <a:xfrm>
              <a:off x="6825" y="5034"/>
              <a:ext cx="693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>
                  <a:latin typeface="Arial" panose="020B0604020202020204" pitchFamily="34" charset="0"/>
                  <a:ea typeface="微软雅黑" panose="020B0503020204020204" charset="-122"/>
                </a:rPr>
                <a:t>(time scale of S≪M </a:t>
              </a:r>
              <a:r>
                <a:rPr lang="en-US" altLang="zh-CN" sz="1600">
                  <a:latin typeface="Arial" panose="020B0604020202020204" pitchFamily="34" charset="0"/>
                  <a:ea typeface="微软雅黑" panose="020B0503020204020204" charset="-122"/>
                  <a:sym typeface="+mn-ea"/>
                </a:rPr>
                <a:t>≪P)</a:t>
              </a:r>
              <a:endParaRPr lang="en-US" altLang="zh-CN" sz="160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2465705" y="5238115"/>
            <a:ext cx="6983095" cy="1214120"/>
            <a:chOff x="6341" y="8243"/>
            <a:chExt cx="10997" cy="1912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341" y="8243"/>
              <a:ext cx="5734" cy="1913"/>
            </a:xfrm>
            <a:prstGeom prst="rect">
              <a:avLst/>
            </a:prstGeom>
          </p:spPr>
        </p:pic>
        <p:grpSp>
          <p:nvGrpSpPr>
            <p:cNvPr id="33" name="组合 32"/>
            <p:cNvGrpSpPr/>
            <p:nvPr/>
          </p:nvGrpSpPr>
          <p:grpSpPr>
            <a:xfrm>
              <a:off x="12348" y="8994"/>
              <a:ext cx="4991" cy="530"/>
              <a:chOff x="12750" y="8725"/>
              <a:chExt cx="4991" cy="530"/>
            </a:xfrm>
          </p:grpSpPr>
          <p:pic>
            <p:nvPicPr>
              <p:cNvPr id="23" name="图片 22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893" y="8743"/>
                <a:ext cx="3849" cy="513"/>
              </a:xfrm>
              <a:prstGeom prst="rect">
                <a:avLst/>
              </a:prstGeom>
            </p:spPr>
          </p:pic>
          <p:sp>
            <p:nvSpPr>
              <p:cNvPr id="32" name="文本框 31"/>
              <p:cNvSpPr txBox="1"/>
              <p:nvPr/>
            </p:nvSpPr>
            <p:spPr>
              <a:xfrm>
                <a:off x="12750" y="8725"/>
                <a:ext cx="1273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/>
                  <a:t>where</a:t>
                </a:r>
                <a:endParaRPr lang="en-US" altLang="zh-CN" sz="1600"/>
              </a:p>
            </p:txBody>
          </p:sp>
        </p:grpSp>
      </p:grpSp>
      <p:sp>
        <p:nvSpPr>
          <p:cNvPr id="37" name="文本框 36"/>
          <p:cNvSpPr txBox="1"/>
          <p:nvPr/>
        </p:nvSpPr>
        <p:spPr>
          <a:xfrm>
            <a:off x="328295" y="1187450"/>
            <a:ext cx="20701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equation</a:t>
            </a:r>
            <a:endParaRPr lang="en-US" altLang="zh-CN"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797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4610"/>
            <a:ext cx="9004935" cy="495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kinetic theory:framework and results </a:t>
            </a:r>
            <a:endParaRPr lang="en-US" altLang="zh-CN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7695" y="1142365"/>
            <a:ext cx="2913380" cy="138303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917190" y="2648267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>
                <a:solidFill>
                  <a:srgbClr val="231F20"/>
                </a:solidFill>
                <a:ea typeface="微软雅黑" panose="020B0503020204020204" charset="-122"/>
                <a:cs typeface="+mn-lt"/>
              </a:rPr>
              <a:t>with m = 1</a:t>
            </a:r>
            <a:r>
              <a:rPr lang="en-US" altLang="zh-CN" sz="1600">
                <a:solidFill>
                  <a:srgbClr val="231F20"/>
                </a:solidFill>
                <a:ea typeface="微软雅黑" panose="020B0503020204020204" charset="-122"/>
                <a:cs typeface="+mn-lt"/>
              </a:rPr>
              <a:t>, 2 are model-specific polynomials</a:t>
            </a:r>
            <a:endParaRPr lang="en-US" altLang="zh-CN" sz="1600">
              <a:solidFill>
                <a:srgbClr val="231F20"/>
              </a:solidFill>
              <a:ea typeface="微软雅黑" panose="020B0503020204020204" charset="-122"/>
              <a:cs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155" y="2618105"/>
            <a:ext cx="1333500" cy="3860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155" y="3060065"/>
            <a:ext cx="4011295" cy="5581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260" y="3503930"/>
            <a:ext cx="4615815" cy="605155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890905" y="4510405"/>
            <a:ext cx="8156575" cy="395605"/>
            <a:chOff x="1403" y="7103"/>
            <a:chExt cx="12845" cy="623"/>
          </a:xfrm>
        </p:grpSpPr>
        <p:grpSp>
          <p:nvGrpSpPr>
            <p:cNvPr id="18" name="组合 17"/>
            <p:cNvGrpSpPr/>
            <p:nvPr/>
          </p:nvGrpSpPr>
          <p:grpSpPr>
            <a:xfrm>
              <a:off x="1403" y="7103"/>
              <a:ext cx="5461" cy="591"/>
              <a:chOff x="1526" y="7933"/>
              <a:chExt cx="5461" cy="591"/>
            </a:xfrm>
          </p:grpSpPr>
          <p:sp>
            <p:nvSpPr>
              <p:cNvPr id="10" name="文本框 9"/>
              <p:cNvSpPr txBox="1"/>
              <p:nvPr/>
            </p:nvSpPr>
            <p:spPr>
              <a:xfrm>
                <a:off x="1526" y="7988"/>
                <a:ext cx="5461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/>
                  <a:t>1. “physical” parameters lie in </a:t>
                </a:r>
                <a:endParaRPr lang="en-US" altLang="zh-CN" sz="1600"/>
              </a:p>
            </p:txBody>
          </p:sp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2"/>
              <a:srcRect l="66968" t="-1202" r="8246" b="-863"/>
              <a:stretch>
                <a:fillRect/>
              </a:stretch>
            </p:blipFill>
            <p:spPr>
              <a:xfrm>
                <a:off x="6013" y="7933"/>
                <a:ext cx="496" cy="591"/>
              </a:xfrm>
              <a:prstGeom prst="rect">
                <a:avLst/>
              </a:prstGeom>
            </p:spPr>
          </p:pic>
        </p:grpSp>
        <p:grpSp>
          <p:nvGrpSpPr>
            <p:cNvPr id="19" name="组合 18"/>
            <p:cNvGrpSpPr/>
            <p:nvPr/>
          </p:nvGrpSpPr>
          <p:grpSpPr>
            <a:xfrm>
              <a:off x="6460" y="7140"/>
              <a:ext cx="7788" cy="587"/>
              <a:chOff x="1577" y="8814"/>
              <a:chExt cx="7788" cy="587"/>
            </a:xfrm>
          </p:grpSpPr>
          <p:sp>
            <p:nvSpPr>
              <p:cNvPr id="12" name="文本框 11"/>
              <p:cNvSpPr txBox="1"/>
              <p:nvPr/>
            </p:nvSpPr>
            <p:spPr>
              <a:xfrm>
                <a:off x="1577" y="8862"/>
                <a:ext cx="7788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/>
                  <a:t>, “memory” parameters lie in </a:t>
                </a:r>
                <a:endParaRPr lang="en-US" altLang="zh-CN" sz="1600"/>
              </a:p>
            </p:txBody>
          </p:sp>
          <p:pic>
            <p:nvPicPr>
              <p:cNvPr id="13" name="图片 12"/>
              <p:cNvPicPr>
                <a:picLocks noChangeAspect="1"/>
              </p:cNvPicPr>
              <p:nvPr/>
            </p:nvPicPr>
            <p:blipFill>
              <a:blip r:embed="rId2"/>
              <a:srcRect r="76669"/>
              <a:stretch>
                <a:fillRect/>
              </a:stretch>
            </p:blipFill>
            <p:spPr>
              <a:xfrm>
                <a:off x="5738" y="8814"/>
                <a:ext cx="473" cy="587"/>
              </a:xfrm>
              <a:prstGeom prst="rect">
                <a:avLst/>
              </a:prstGeom>
            </p:spPr>
          </p:pic>
        </p:grpSp>
      </p:grpSp>
      <p:grpSp>
        <p:nvGrpSpPr>
          <p:cNvPr id="24" name="组合 23"/>
          <p:cNvGrpSpPr/>
          <p:nvPr/>
        </p:nvGrpSpPr>
        <p:grpSpPr>
          <a:xfrm>
            <a:off x="890905" y="5417820"/>
            <a:ext cx="8601710" cy="339090"/>
            <a:chOff x="1403" y="7995"/>
            <a:chExt cx="13546" cy="534"/>
          </a:xfrm>
        </p:grpSpPr>
        <p:sp>
          <p:nvSpPr>
            <p:cNvPr id="17" name="文本框 16"/>
            <p:cNvSpPr txBox="1"/>
            <p:nvPr/>
          </p:nvSpPr>
          <p:spPr>
            <a:xfrm>
              <a:off x="1403" y="7998"/>
              <a:ext cx="1354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3.               consistent with fisher’s fundamental theorem of natural selection</a:t>
              </a:r>
              <a:endParaRPr lang="en-US" altLang="zh-CN" sz="1600"/>
            </a:p>
          </p:txBody>
        </p: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04" y="7995"/>
              <a:ext cx="1165" cy="487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890905" y="5777865"/>
                <a:ext cx="10161270" cy="829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indent="0" fontAlgn="auto">
                  <a:lnSpc>
                    <a:spcPct val="150000"/>
                  </a:lnSpc>
                </a:pPr>
                <a:r>
                  <a:rPr lang="en-US" altLang="zh-CN" sz="1600">
                    <a:latin typeface="Arial" panose="020B0604020202020204" pitchFamily="34" charset="0"/>
                    <a:ea typeface="微软雅黑" panose="020B0503020204020204" charset="-122"/>
                  </a:rPr>
                  <a:t>4. on timescale t≫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𝜏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CN" sz="1600">
                    <a:latin typeface="Arial" panose="020B0604020202020204" pitchFamily="34" charset="0"/>
                    <a:ea typeface="微软雅黑" panose="020B0503020204020204" charset="-122"/>
                  </a:rPr>
                  <a:t>, we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𝐹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&gt;</m:t>
                    </m:r>
                    <m:r>
                      <a:rPr lang="en-US" altLang="zh-CN" sz="16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en-US" altLang="zh-CN" sz="1600">
                    <a:latin typeface="Arial" panose="020B0604020202020204" pitchFamily="34" charset="0"/>
                    <a:ea typeface="微软雅黑" panose="020B0503020204020204" charset="-122"/>
                  </a:rPr>
                  <a:t>. </a:t>
                </a:r>
                <a:r>
                  <a:rPr lang="en-US" altLang="zh-CN" sz="1600">
                    <a:latin typeface="Arial" panose="020B0604020202020204" pitchFamily="34" charset="0"/>
                    <a:ea typeface="微软雅黑" panose="020B0503020204020204" charset="-122"/>
                  </a:rPr>
                  <a:t>the variance will decay to 0 in the absence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𝑚𝑢𝑡</m:t>
                        </m:r>
                      </m:sub>
                    </m:sSub>
                  </m:oMath>
                </a14:m>
                <a:r>
                  <a:rPr lang="en-US" altLang="zh-CN" sz="1600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 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𝑚𝑢𝑡</m:t>
                        </m:r>
                      </m:sub>
                    </m:sSub>
                  </m:oMath>
                </a14:m>
                <a:r>
                  <a:rPr lang="en-US" altLang="zh-CN" sz="1600">
                    <a:latin typeface="Arial" panose="020B0604020202020204" pitchFamily="34" charset="0"/>
                    <a:ea typeface="微软雅黑" panose="020B0503020204020204" charset="-122"/>
                  </a:rPr>
                  <a:t> act as driven force, break detailed balance and maintain the diversity</a:t>
                </a:r>
                <a:endParaRPr lang="en-US" altLang="zh-CN" sz="160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905" y="5777865"/>
                <a:ext cx="10161270" cy="82994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198120" y="704215"/>
                <a:ext cx="6096000" cy="34607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600">
                    <a:sym typeface="+mn-ea"/>
                  </a:rPr>
                  <a:t>P’s hydrodynamic equations   </a:t>
                </a:r>
                <a14:m>
                  <m:oMath xmlns:m="http://schemas.openxmlformats.org/officeDocument/2006/math">
                    <m:r>
                      <a:rPr lang="en-US" altLang="zh-CN" sz="160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𝜇</m:t>
                    </m:r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</a:rPr>
                      <m:t>𝑡</m:t>
                    </m:r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 sz="1600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𝜎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16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sz="16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,</m:t>
                    </m:r>
                    <m:r>
                      <a:rPr lang="en-US" altLang="zh-CN" sz="16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𝑡</m:t>
                    </m:r>
                    <m:r>
                      <a:rPr lang="en-US" altLang="zh-CN" sz="16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 altLang="zh-CN" sz="1600" i="1"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" y="704215"/>
                <a:ext cx="6096000" cy="34607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/>
          <p:cNvSpPr txBox="1"/>
          <p:nvPr/>
        </p:nvSpPr>
        <p:spPr>
          <a:xfrm>
            <a:off x="4862830" y="727075"/>
            <a:ext cx="63226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(detailed derivation see SI)</a:t>
            </a:r>
            <a:endParaRPr lang="en-US" altLang="zh-CN" sz="1600"/>
          </a:p>
        </p:txBody>
      </p:sp>
      <p:sp>
        <p:nvSpPr>
          <p:cNvPr id="21" name="文本框 20"/>
          <p:cNvSpPr txBox="1"/>
          <p:nvPr/>
        </p:nvSpPr>
        <p:spPr>
          <a:xfrm>
            <a:off x="226695" y="4115435"/>
            <a:ext cx="44297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remarks and nontrivial conclusions:</a:t>
            </a:r>
            <a:endParaRPr lang="en-US" altLang="zh-CN" sz="1600"/>
          </a:p>
        </p:txBody>
      </p:sp>
      <p:sp>
        <p:nvSpPr>
          <p:cNvPr id="23" name="文本框 22"/>
          <p:cNvSpPr txBox="1"/>
          <p:nvPr/>
        </p:nvSpPr>
        <p:spPr>
          <a:xfrm>
            <a:off x="7044690" y="4570730"/>
            <a:ext cx="44799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, because of timescale separation</a:t>
            </a:r>
            <a:endParaRPr lang="en-US" altLang="zh-CN" sz="1600"/>
          </a:p>
        </p:txBody>
      </p:sp>
      <p:sp>
        <p:nvSpPr>
          <p:cNvPr id="25" name="文本框 24"/>
          <p:cNvSpPr txBox="1"/>
          <p:nvPr/>
        </p:nvSpPr>
        <p:spPr>
          <a:xfrm>
            <a:off x="890905" y="4992370"/>
            <a:ext cx="96627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2.               the higher the density, the faster the evolution.</a:t>
            </a:r>
            <a:endParaRPr lang="en-US" altLang="zh-CN" sz="1600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9040" y="4998085"/>
            <a:ext cx="689610" cy="302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797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4610"/>
            <a:ext cx="9004935" cy="495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example:Phototactic, diffusive agents </a:t>
            </a:r>
            <a:endParaRPr lang="en-US" altLang="zh-CN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0420" y="3852545"/>
            <a:ext cx="5021580" cy="2529840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7557135" y="772160"/>
            <a:ext cx="4486275" cy="2786380"/>
            <a:chOff x="424" y="4199"/>
            <a:chExt cx="8361" cy="4759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4" y="4199"/>
              <a:ext cx="7938" cy="4759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98" y="6471"/>
              <a:ext cx="2487" cy="345"/>
            </a:xfrm>
            <a:prstGeom prst="rect">
              <a:avLst/>
            </a:prstGeom>
          </p:spPr>
        </p:pic>
      </p:grpSp>
      <p:grpSp>
        <p:nvGrpSpPr>
          <p:cNvPr id="18" name="组合 17"/>
          <p:cNvGrpSpPr/>
          <p:nvPr/>
        </p:nvGrpSpPr>
        <p:grpSpPr>
          <a:xfrm>
            <a:off x="466725" y="829310"/>
            <a:ext cx="3675380" cy="346075"/>
            <a:chOff x="1860" y="9375"/>
            <a:chExt cx="5788" cy="545"/>
          </a:xfrm>
        </p:grpSpPr>
        <p:grpSp>
          <p:nvGrpSpPr>
            <p:cNvPr id="10" name="组合 9"/>
            <p:cNvGrpSpPr/>
            <p:nvPr/>
          </p:nvGrpSpPr>
          <p:grpSpPr>
            <a:xfrm>
              <a:off x="3363" y="9415"/>
              <a:ext cx="2633" cy="433"/>
              <a:chOff x="1058" y="2125"/>
              <a:chExt cx="16657" cy="2553"/>
            </a:xfrm>
          </p:grpSpPr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8" y="2342"/>
                <a:ext cx="5030" cy="2328"/>
              </a:xfrm>
              <a:prstGeom prst="rect">
                <a:avLst/>
              </a:prstGeom>
            </p:spPr>
          </p:pic>
          <p:pic>
            <p:nvPicPr>
              <p:cNvPr id="12" name="图片 11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87" y="2125"/>
                <a:ext cx="11128" cy="2553"/>
              </a:xfrm>
              <a:prstGeom prst="rect">
                <a:avLst/>
              </a:prstGeom>
            </p:spPr>
          </p:pic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51" y="9484"/>
              <a:ext cx="397" cy="369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5863" y="9389"/>
              <a:ext cx="1785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equal to</a:t>
              </a:r>
              <a:endParaRPr lang="en-US" altLang="zh-CN" sz="160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860" y="9375"/>
              <a:ext cx="1797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600"/>
                <a:t>target</a:t>
              </a:r>
              <a:endParaRPr lang="en-US" altLang="zh-CN" sz="1600"/>
            </a:p>
          </p:txBody>
        </p:sp>
      </p:grpSp>
      <p:pic>
        <p:nvPicPr>
          <p:cNvPr id="19" name="图片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6935" y="2993390"/>
            <a:ext cx="1456055" cy="29083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5190" y="3551555"/>
            <a:ext cx="1464310" cy="277495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466725" y="2952750"/>
            <a:ext cx="303911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characteristic learning rate</a:t>
            </a:r>
            <a:endParaRPr lang="en-US" altLang="zh-CN" sz="160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6935" y="4048125"/>
            <a:ext cx="1574165" cy="26162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05835" y="4725670"/>
            <a:ext cx="1225550" cy="344805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553085" y="5292725"/>
            <a:ext cx="74695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rgbClr val="C00000"/>
                </a:solidFill>
              </a:rPr>
              <a:t>quick learn is at the cost of large fluctuation around the target policy </a:t>
            </a:r>
            <a:endParaRPr lang="en-US" altLang="zh-CN" sz="1600">
              <a:solidFill>
                <a:srgbClr val="C00000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1043920" y="795655"/>
            <a:ext cx="11480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d=2</a:t>
            </a:r>
            <a:endParaRPr lang="en-US" altLang="zh-CN" sz="1600"/>
          </a:p>
        </p:txBody>
      </p:sp>
      <p:grpSp>
        <p:nvGrpSpPr>
          <p:cNvPr id="27" name="组合 26"/>
          <p:cNvGrpSpPr/>
          <p:nvPr/>
        </p:nvGrpSpPr>
        <p:grpSpPr>
          <a:xfrm>
            <a:off x="466725" y="1149350"/>
            <a:ext cx="5691505" cy="1478915"/>
            <a:chOff x="735" y="1810"/>
            <a:chExt cx="8963" cy="2329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967" y="1810"/>
              <a:ext cx="4731" cy="2329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/>
          </p:nvSpPr>
          <p:spPr>
            <a:xfrm>
              <a:off x="735" y="2094"/>
              <a:ext cx="406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600"/>
                <a:t>hydrodynamic equation</a:t>
              </a:r>
              <a:endParaRPr lang="en-US" altLang="zh-CN" sz="1600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767080" y="3486150"/>
            <a:ext cx="26498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steady policy invariance</a:t>
            </a:r>
            <a:endParaRPr lang="en-US" altLang="zh-CN" sz="1600"/>
          </a:p>
        </p:txBody>
      </p:sp>
      <p:sp>
        <p:nvSpPr>
          <p:cNvPr id="26" name="文本框 25"/>
          <p:cNvSpPr txBox="1"/>
          <p:nvPr/>
        </p:nvSpPr>
        <p:spPr>
          <a:xfrm>
            <a:off x="768985" y="3974465"/>
            <a:ext cx="13900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learning time</a:t>
            </a:r>
            <a:endParaRPr lang="en-US" altLang="zh-CN" sz="1600"/>
          </a:p>
        </p:txBody>
      </p:sp>
      <p:sp>
        <p:nvSpPr>
          <p:cNvPr id="28" name="右箭头 27"/>
          <p:cNvSpPr/>
          <p:nvPr/>
        </p:nvSpPr>
        <p:spPr>
          <a:xfrm>
            <a:off x="553085" y="4782185"/>
            <a:ext cx="510540" cy="1771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1198245" y="4726305"/>
            <a:ext cx="24314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/>
              <a:t>uncertainty relation</a:t>
            </a:r>
            <a:endParaRPr lang="en-US" altLang="zh-CN" sz="1600" b="1"/>
          </a:p>
        </p:txBody>
      </p:sp>
      <p:sp>
        <p:nvSpPr>
          <p:cNvPr id="30" name="文本框 29"/>
          <p:cNvSpPr txBox="1"/>
          <p:nvPr/>
        </p:nvSpPr>
        <p:spPr>
          <a:xfrm>
            <a:off x="553085" y="5727700"/>
            <a:ext cx="79673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rgbClr val="C00000"/>
                </a:solidFill>
              </a:rPr>
              <a:t>or you cannot learn quickly and well at the same learning rate</a:t>
            </a:r>
            <a:endParaRPr lang="en-US" altLang="zh-CN" sz="160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797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4610"/>
            <a:ext cx="9004935" cy="495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example:Phototactic, diffusive agents </a:t>
            </a:r>
            <a:endParaRPr lang="en-US" altLang="zh-CN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4395" y="1135380"/>
            <a:ext cx="4844415" cy="201612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t="6400"/>
          <a:stretch>
            <a:fillRect/>
          </a:stretch>
        </p:blipFill>
        <p:spPr>
          <a:xfrm>
            <a:off x="1688465" y="862330"/>
            <a:ext cx="2987675" cy="3124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443355" y="5200650"/>
            <a:ext cx="8730615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>
                <a:solidFill>
                  <a:srgbClr val="231F20"/>
                </a:solidFill>
                <a:ea typeface="微软雅黑" panose="020B0503020204020204" charset="-122"/>
                <a:cs typeface="+mn-lt"/>
              </a:rPr>
              <a:t>Agents with small mutation rates learn too slowly to adapt in time to the environment.</a:t>
            </a:r>
            <a:endParaRPr lang="en-US" altLang="zh-CN">
              <a:solidFill>
                <a:srgbClr val="231F20"/>
              </a:solidFill>
              <a:ea typeface="微软雅黑" panose="020B0503020204020204" charset="-122"/>
              <a:cs typeface="+mn-lt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475" y="1358900"/>
            <a:ext cx="3681095" cy="45339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46405" y="1443990"/>
            <a:ext cx="2211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steady velocity 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446405" y="862330"/>
            <a:ext cx="1297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target</a:t>
            </a:r>
            <a:endParaRPr lang="en-US" altLang="zh-CN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7010" y="1981200"/>
            <a:ext cx="2586355" cy="32448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7010" y="2374265"/>
            <a:ext cx="1788160" cy="2711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797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4610"/>
            <a:ext cx="9004935" cy="495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956435" y="1588770"/>
            <a:ext cx="86525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does it machine learning?no</a:t>
            </a:r>
            <a:endParaRPr lang="en-US" altLang="zh-CN"/>
          </a:p>
          <a:p>
            <a:r>
              <a:rPr lang="en-US" altLang="zh-CN"/>
              <a:t>what’s the relationship?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797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4610"/>
            <a:ext cx="9004935" cy="495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conclusion</a:t>
            </a:r>
            <a:endParaRPr lang="en-US" altLang="zh-CN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  <p:grpSp>
        <p:nvGrpSpPr>
          <p:cNvPr id="22" name="组合 21"/>
          <p:cNvGrpSpPr/>
          <p:nvPr/>
        </p:nvGrpSpPr>
        <p:grpSpPr>
          <a:xfrm>
            <a:off x="267970" y="1825625"/>
            <a:ext cx="11299825" cy="2578735"/>
            <a:chOff x="422" y="2360"/>
            <a:chExt cx="17795" cy="4061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22" y="2360"/>
              <a:ext cx="5320" cy="2969"/>
            </a:xfrm>
            <a:prstGeom prst="rect">
              <a:avLst/>
            </a:prstGeom>
          </p:spPr>
        </p:pic>
        <p:grpSp>
          <p:nvGrpSpPr>
            <p:cNvPr id="21" name="组合 20"/>
            <p:cNvGrpSpPr/>
            <p:nvPr/>
          </p:nvGrpSpPr>
          <p:grpSpPr>
            <a:xfrm>
              <a:off x="2623" y="2723"/>
              <a:ext cx="15594" cy="3698"/>
              <a:chOff x="2623" y="2723"/>
              <a:chExt cx="15594" cy="3698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2623" y="5812"/>
                <a:ext cx="4610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/>
                  <a:t>Microscopic</a:t>
                </a:r>
                <a:endParaRPr lang="en-US" altLang="zh-CN" sz="1600"/>
              </a:p>
            </p:txBody>
          </p:sp>
          <p:pic>
            <p:nvPicPr>
              <p:cNvPr id="9" name="图片 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922" y="3230"/>
                <a:ext cx="4346" cy="819"/>
              </a:xfrm>
              <a:prstGeom prst="rect">
                <a:avLst/>
              </a:prstGeom>
            </p:spPr>
          </p:pic>
          <p:pic>
            <p:nvPicPr>
              <p:cNvPr id="14" name="图片 13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347" y="2723"/>
                <a:ext cx="4870" cy="2312"/>
              </a:xfrm>
              <a:prstGeom prst="rect">
                <a:avLst/>
              </a:prstGeom>
            </p:spPr>
          </p:pic>
          <p:sp>
            <p:nvSpPr>
              <p:cNvPr id="10" name="右箭头 9"/>
              <p:cNvSpPr/>
              <p:nvPr/>
            </p:nvSpPr>
            <p:spPr>
              <a:xfrm>
                <a:off x="5826" y="3534"/>
                <a:ext cx="793" cy="212"/>
              </a:xfrm>
              <a:prstGeom prst="rightArrow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" name="右箭头 11"/>
              <p:cNvSpPr/>
              <p:nvPr/>
            </p:nvSpPr>
            <p:spPr>
              <a:xfrm>
                <a:off x="11853" y="3665"/>
                <a:ext cx="793" cy="212"/>
              </a:xfrm>
              <a:prstGeom prst="rightArrow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7811" y="5821"/>
                <a:ext cx="2568" cy="53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en-US" altLang="zh-CN" sz="1600">
                    <a:sym typeface="+mn-ea"/>
                  </a:rPr>
                  <a:t>mesoscopic</a:t>
                </a:r>
                <a:endParaRPr lang="en-US" altLang="zh-CN" sz="1600">
                  <a:sym typeface="+mn-ea"/>
                </a:endParaRPr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13647" y="5890"/>
                <a:ext cx="2322" cy="53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en-US" altLang="zh-CN" sz="1600"/>
                  <a:t>macroscopic</a:t>
                </a:r>
                <a:endParaRPr lang="en-US" altLang="zh-CN" sz="1600"/>
              </a:p>
            </p:txBody>
          </p:sp>
          <p:sp>
            <p:nvSpPr>
              <p:cNvPr id="16" name="右箭头 15"/>
              <p:cNvSpPr/>
              <p:nvPr/>
            </p:nvSpPr>
            <p:spPr>
              <a:xfrm>
                <a:off x="11853" y="6005"/>
                <a:ext cx="793" cy="212"/>
              </a:xfrm>
              <a:prstGeom prst="rightArrow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7" name="右箭头 16"/>
              <p:cNvSpPr/>
              <p:nvPr/>
            </p:nvSpPr>
            <p:spPr>
              <a:xfrm>
                <a:off x="5826" y="6005"/>
                <a:ext cx="793" cy="212"/>
              </a:xfrm>
              <a:prstGeom prst="rightArrow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1" name="组合 10"/>
          <p:cNvGrpSpPr/>
          <p:nvPr/>
        </p:nvGrpSpPr>
        <p:grpSpPr>
          <a:xfrm>
            <a:off x="510540" y="752475"/>
            <a:ext cx="9417050" cy="739775"/>
            <a:chOff x="2978" y="1406"/>
            <a:chExt cx="14830" cy="1165"/>
          </a:xfrm>
        </p:grpSpPr>
        <p:sp>
          <p:nvSpPr>
            <p:cNvPr id="7" name="文本框 6"/>
            <p:cNvSpPr txBox="1"/>
            <p:nvPr/>
          </p:nvSpPr>
          <p:spPr>
            <a:xfrm>
              <a:off x="2978" y="1406"/>
              <a:ext cx="13011" cy="531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600">
                  <a:solidFill>
                    <a:srgbClr val="231F20"/>
                  </a:solidFill>
                  <a:ea typeface="微软雅黑" panose="020B0503020204020204" charset="-122"/>
                  <a:cs typeface="+mn-lt"/>
                </a:rPr>
                <a:t>kinetic theory framework for decentralized learning in smart active matter</a:t>
              </a:r>
              <a:endParaRPr lang="en-US" altLang="zh-CN" sz="1600">
                <a:solidFill>
                  <a:srgbClr val="231F20"/>
                </a:solidFill>
                <a:ea typeface="微软雅黑" panose="020B0503020204020204" charset="-122"/>
                <a:cs typeface="+mn-lt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3430" y="2040"/>
              <a:ext cx="14378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based on the assumption of  </a:t>
              </a:r>
              <a:r>
                <a:rPr lang="en-US" altLang="zh-CN" sz="1600" b="1"/>
                <a:t>timescale separation</a:t>
              </a:r>
              <a:endParaRPr lang="en-US" altLang="zh-CN" sz="1600" b="1"/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510540" y="4791075"/>
            <a:ext cx="648779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>
                <a:solidFill>
                  <a:srgbClr val="231F20"/>
                </a:solidFill>
                <a:ea typeface="微软雅黑" panose="020B0503020204020204" charset="-122"/>
                <a:cs typeface="+mn-lt"/>
              </a:rPr>
              <a:t>uncertainty relation</a:t>
            </a:r>
            <a:r>
              <a:rPr lang="en-US" altLang="zh-CN" sz="1600">
                <a:solidFill>
                  <a:srgbClr val="231F20"/>
                </a:solidFill>
                <a:ea typeface="微软雅黑" panose="020B0503020204020204" charset="-122"/>
                <a:cs typeface="+mn-lt"/>
              </a:rPr>
              <a:t> between learning time and policy fluctuations.</a:t>
            </a:r>
            <a:endParaRPr lang="en-US" altLang="zh-CN" sz="1600">
              <a:solidFill>
                <a:srgbClr val="231F20"/>
              </a:solidFill>
              <a:ea typeface="微软雅黑" panose="020B0503020204020204" charset="-122"/>
              <a:cs typeface="+mn-lt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635" y="4796155"/>
            <a:ext cx="1194435" cy="33210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2782570" y="5280025"/>
            <a:ext cx="746442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solidFill>
                  <a:schemeClr val="tx1"/>
                </a:solidFill>
                <a:sym typeface="+mn-ea"/>
              </a:rPr>
              <a:t>“you cannot learn quickly and well at the same learning rate”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797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4610"/>
            <a:ext cx="9004935" cy="495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Appendix:kinetic theory</a:t>
            </a:r>
            <a:endParaRPr lang="en-US" altLang="zh-CN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0120" y="834390"/>
            <a:ext cx="3157220" cy="59499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16890" y="1599565"/>
            <a:ext cx="66205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derive explicit expressions from microdynamic rules </a:t>
            </a:r>
            <a:endParaRPr lang="en-US" altLang="zh-CN" sz="1600"/>
          </a:p>
        </p:txBody>
      </p:sp>
      <p:grpSp>
        <p:nvGrpSpPr>
          <p:cNvPr id="15" name="组合 14"/>
          <p:cNvGrpSpPr/>
          <p:nvPr/>
        </p:nvGrpSpPr>
        <p:grpSpPr>
          <a:xfrm>
            <a:off x="1007110" y="4290695"/>
            <a:ext cx="5841365" cy="2291080"/>
            <a:chOff x="1676" y="4149"/>
            <a:chExt cx="9199" cy="3608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76" y="4260"/>
              <a:ext cx="1134" cy="441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36" y="5075"/>
              <a:ext cx="4039" cy="883"/>
            </a:xfrm>
            <a:prstGeom prst="rect">
              <a:avLst/>
            </a:prstGeom>
          </p:spPr>
        </p:pic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4"/>
            <a:srcRect t="15738"/>
            <a:stretch>
              <a:fillRect/>
            </a:stretch>
          </p:blipFill>
          <p:spPr>
            <a:xfrm>
              <a:off x="6936" y="4149"/>
              <a:ext cx="2860" cy="634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5"/>
            <a:srcRect t="956"/>
            <a:stretch>
              <a:fillRect/>
            </a:stretch>
          </p:blipFill>
          <p:spPr>
            <a:xfrm>
              <a:off x="3722" y="6174"/>
              <a:ext cx="5118" cy="1583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3627" y="4260"/>
              <a:ext cx="473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Continuity Equation​</a:t>
              </a:r>
              <a:endParaRPr lang="en-US" altLang="zh-CN" sz="160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627" y="5276"/>
              <a:ext cx="423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dynamic rule</a:t>
              </a:r>
              <a:endParaRPr lang="en-US" altLang="zh-CN" sz="1600"/>
            </a:p>
          </p:txBody>
        </p:sp>
        <p:sp>
          <p:nvSpPr>
            <p:cNvPr id="13" name="右箭头 12"/>
            <p:cNvSpPr/>
            <p:nvPr/>
          </p:nvSpPr>
          <p:spPr>
            <a:xfrm>
              <a:off x="2157" y="6437"/>
              <a:ext cx="982" cy="234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 l="18282" t="-1174" r="58588" b="-7150"/>
          <a:stretch>
            <a:fillRect/>
          </a:stretch>
        </p:blipFill>
        <p:spPr>
          <a:xfrm>
            <a:off x="956945" y="1993900"/>
            <a:ext cx="758825" cy="670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797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4610"/>
            <a:ext cx="9004935" cy="495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Appendix:kinetic theory</a:t>
            </a:r>
            <a:endParaRPr lang="en-US" altLang="zh-CN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l="73041"/>
          <a:stretch>
            <a:fillRect/>
          </a:stretch>
        </p:blipFill>
        <p:spPr>
          <a:xfrm>
            <a:off x="311785" y="608965"/>
            <a:ext cx="957580" cy="7867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440" y="1393825"/>
            <a:ext cx="3771265" cy="14528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1180" y="4094480"/>
            <a:ext cx="1040130" cy="285115"/>
          </a:xfrm>
          <a:prstGeom prst="rect">
            <a:avLst/>
          </a:prstGeom>
        </p:spPr>
      </p:pic>
      <p:sp>
        <p:nvSpPr>
          <p:cNvPr id="15" name="右箭头 14"/>
          <p:cNvSpPr/>
          <p:nvPr/>
        </p:nvSpPr>
        <p:spPr>
          <a:xfrm rot="5400000">
            <a:off x="799465" y="4102100"/>
            <a:ext cx="1449070" cy="1898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11785" y="1393825"/>
            <a:ext cx="15093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transition rate</a:t>
            </a:r>
            <a:endParaRPr lang="en-US" altLang="zh-CN" sz="1600"/>
          </a:p>
        </p:txBody>
      </p:sp>
      <p:grpSp>
        <p:nvGrpSpPr>
          <p:cNvPr id="12" name="组合 11"/>
          <p:cNvGrpSpPr/>
          <p:nvPr/>
        </p:nvGrpSpPr>
        <p:grpSpPr>
          <a:xfrm>
            <a:off x="935990" y="2993390"/>
            <a:ext cx="4284345" cy="336550"/>
            <a:chOff x="1474" y="4714"/>
            <a:chExt cx="6747" cy="530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59" y="4792"/>
              <a:ext cx="4962" cy="376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/>
          </p:nvSpPr>
          <p:spPr>
            <a:xfrm>
              <a:off x="1474" y="4714"/>
              <a:ext cx="2657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with kernel</a:t>
              </a:r>
              <a:endParaRPr lang="en-US" altLang="zh-CN" sz="1600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049655" y="5064125"/>
            <a:ext cx="4551074" cy="969010"/>
            <a:chOff x="12418" y="3544"/>
            <a:chExt cx="6855" cy="143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418" y="3544"/>
              <a:ext cx="6855" cy="535"/>
            </a:xfrm>
            <a:prstGeom prst="rect">
              <a:avLst/>
            </a:prstGeom>
          </p:spPr>
        </p:pic>
        <p:grpSp>
          <p:nvGrpSpPr>
            <p:cNvPr id="19" name="组合 18"/>
            <p:cNvGrpSpPr/>
            <p:nvPr/>
          </p:nvGrpSpPr>
          <p:grpSpPr>
            <a:xfrm>
              <a:off x="12418" y="4268"/>
              <a:ext cx="4534" cy="714"/>
              <a:chOff x="12815" y="4268"/>
              <a:chExt cx="4534" cy="714"/>
            </a:xfrm>
          </p:grpSpPr>
          <p:pic>
            <p:nvPicPr>
              <p:cNvPr id="14" name="图片 13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802" y="4268"/>
                <a:ext cx="3547" cy="714"/>
              </a:xfrm>
              <a:prstGeom prst="rect">
                <a:avLst/>
              </a:prstGeom>
            </p:spPr>
          </p:pic>
          <p:sp>
            <p:nvSpPr>
              <p:cNvPr id="18" name="文本框 17"/>
              <p:cNvSpPr txBox="1"/>
              <p:nvPr/>
            </p:nvSpPr>
            <p:spPr>
              <a:xfrm>
                <a:off x="12815" y="4360"/>
                <a:ext cx="1496" cy="5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/>
                  <a:t>with</a:t>
                </a:r>
                <a:endParaRPr lang="en-US" altLang="zh-CN" sz="1600"/>
              </a:p>
            </p:txBody>
          </p:sp>
        </p:grpSp>
      </p:grpSp>
      <p:sp>
        <p:nvSpPr>
          <p:cNvPr id="21" name="文本框 20"/>
          <p:cNvSpPr txBox="1"/>
          <p:nvPr/>
        </p:nvSpPr>
        <p:spPr>
          <a:xfrm>
            <a:off x="1742440" y="3731895"/>
            <a:ext cx="53568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assumption:communication speed 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</a:rPr>
              <a:t>≪</a:t>
            </a:r>
            <a:r>
              <a:rPr lang="en-US" altLang="zh-CN" sz="1400">
                <a:ea typeface="微软雅黑" panose="020B0503020204020204" charset="-122"/>
                <a:cs typeface="+mn-lt"/>
              </a:rPr>
              <a:t>motion speed</a:t>
            </a:r>
            <a:endParaRPr lang="en-US" altLang="zh-CN" sz="1400">
              <a:ea typeface="微软雅黑" panose="020B0503020204020204" charset="-122"/>
              <a:cs typeface="+mn-lt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5996940" y="628015"/>
            <a:ext cx="0" cy="62026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7" name="组合 26"/>
          <p:cNvGrpSpPr/>
          <p:nvPr/>
        </p:nvGrpSpPr>
        <p:grpSpPr>
          <a:xfrm>
            <a:off x="6391275" y="827405"/>
            <a:ext cx="5133340" cy="2903855"/>
            <a:chOff x="10065" y="1303"/>
            <a:chExt cx="8084" cy="4573"/>
          </a:xfrm>
        </p:grpSpPr>
        <p:grpSp>
          <p:nvGrpSpPr>
            <p:cNvPr id="17" name="组合 16"/>
            <p:cNvGrpSpPr/>
            <p:nvPr/>
          </p:nvGrpSpPr>
          <p:grpSpPr>
            <a:xfrm>
              <a:off x="10065" y="1303"/>
              <a:ext cx="7154" cy="3728"/>
              <a:chOff x="3627" y="2104"/>
              <a:chExt cx="9024" cy="4934"/>
            </a:xfrm>
          </p:grpSpPr>
          <p:pic>
            <p:nvPicPr>
              <p:cNvPr id="9" name="图片 8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27" y="2104"/>
                <a:ext cx="9024" cy="1754"/>
              </a:xfrm>
              <a:prstGeom prst="rect">
                <a:avLst/>
              </a:prstGeom>
            </p:spPr>
          </p:pic>
          <p:pic>
            <p:nvPicPr>
              <p:cNvPr id="16" name="图片 15"/>
              <p:cNvPicPr>
                <a:picLocks noChangeAspect="1"/>
              </p:cNvPicPr>
              <p:nvPr/>
            </p:nvPicPr>
            <p:blipFill>
              <a:blip r:embed="rId8"/>
              <a:srcRect l="19332"/>
              <a:stretch>
                <a:fillRect/>
              </a:stretch>
            </p:blipFill>
            <p:spPr>
              <a:xfrm>
                <a:off x="5034" y="3858"/>
                <a:ext cx="6621" cy="3180"/>
              </a:xfrm>
              <a:prstGeom prst="rect">
                <a:avLst/>
              </a:prstGeom>
            </p:spPr>
          </p:pic>
        </p:grpSp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9"/>
            <a:srcRect l="32304" t="41105" r="4020" b="35895"/>
            <a:stretch>
              <a:fillRect/>
            </a:stretch>
          </p:blipFill>
          <p:spPr>
            <a:xfrm>
              <a:off x="11738" y="5168"/>
              <a:ext cx="4099" cy="599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10"/>
            <a:srcRect l="26944" t="6604" r="67279" b="-1769"/>
            <a:stretch>
              <a:fillRect/>
            </a:stretch>
          </p:blipFill>
          <p:spPr>
            <a:xfrm>
              <a:off x="11297" y="5070"/>
              <a:ext cx="324" cy="807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9"/>
            <a:srcRect l="27628" t="70326" r="33877" b="953"/>
            <a:stretch>
              <a:fillRect/>
            </a:stretch>
          </p:blipFill>
          <p:spPr>
            <a:xfrm>
              <a:off x="15671" y="5086"/>
              <a:ext cx="2478" cy="748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797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4610"/>
            <a:ext cx="9004935" cy="495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Appendix:kinetic theory</a:t>
            </a:r>
            <a:endParaRPr lang="en-US" altLang="zh-CN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775" y="1990725"/>
            <a:ext cx="3693795" cy="1494155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7257415" y="856615"/>
            <a:ext cx="4202430" cy="2240915"/>
            <a:chOff x="9632" y="2203"/>
            <a:chExt cx="6618" cy="3529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32" y="4790"/>
              <a:ext cx="4305" cy="942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32" y="2203"/>
              <a:ext cx="6618" cy="2399"/>
            </a:xfrm>
            <a:prstGeom prst="rect">
              <a:avLst/>
            </a:prstGeom>
          </p:spPr>
        </p:pic>
      </p:grpSp>
      <p:sp>
        <p:nvSpPr>
          <p:cNvPr id="8" name="右箭头 7"/>
          <p:cNvSpPr/>
          <p:nvPr/>
        </p:nvSpPr>
        <p:spPr>
          <a:xfrm rot="5400000">
            <a:off x="1721485" y="1609090"/>
            <a:ext cx="551815" cy="19431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8200" y="4672330"/>
            <a:ext cx="3041650" cy="1311275"/>
          </a:xfrm>
          <a:prstGeom prst="rect">
            <a:avLst/>
          </a:prstGeom>
        </p:spPr>
      </p:pic>
      <p:sp>
        <p:nvSpPr>
          <p:cNvPr id="10" name="下箭头 9"/>
          <p:cNvSpPr/>
          <p:nvPr/>
        </p:nvSpPr>
        <p:spPr>
          <a:xfrm flipH="1">
            <a:off x="7884795" y="3416300"/>
            <a:ext cx="190500" cy="99314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960120" y="3566795"/>
            <a:ext cx="2322830" cy="336550"/>
            <a:chOff x="1735" y="4606"/>
            <a:chExt cx="3658" cy="53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85" y="4606"/>
              <a:ext cx="2808" cy="422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1735" y="4606"/>
              <a:ext cx="1005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with</a:t>
              </a:r>
              <a:endParaRPr lang="en-US" altLang="zh-CN" sz="1600"/>
            </a:p>
          </p:txBody>
        </p:sp>
      </p:grpSp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775" y="692785"/>
            <a:ext cx="3157220" cy="594995"/>
          </a:xfrm>
          <a:prstGeom prst="rect">
            <a:avLst/>
          </a:prstGeom>
        </p:spPr>
      </p:pic>
      <p:cxnSp>
        <p:nvCxnSpPr>
          <p:cNvPr id="21" name="直接连接符 20"/>
          <p:cNvCxnSpPr/>
          <p:nvPr/>
        </p:nvCxnSpPr>
        <p:spPr>
          <a:xfrm>
            <a:off x="6750685" y="653415"/>
            <a:ext cx="0" cy="61385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9" name="组合 28"/>
          <p:cNvGrpSpPr/>
          <p:nvPr/>
        </p:nvGrpSpPr>
        <p:grpSpPr>
          <a:xfrm>
            <a:off x="358775" y="3895725"/>
            <a:ext cx="6055995" cy="2962275"/>
            <a:chOff x="8963" y="1168"/>
            <a:chExt cx="9537" cy="4665"/>
          </a:xfrm>
        </p:grpSpPr>
        <p:sp>
          <p:nvSpPr>
            <p:cNvPr id="18" name="文本框 17"/>
            <p:cNvSpPr txBox="1"/>
            <p:nvPr/>
          </p:nvSpPr>
          <p:spPr>
            <a:xfrm>
              <a:off x="8963" y="1168"/>
              <a:ext cx="195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define</a:t>
              </a:r>
              <a:r>
                <a:rPr lang="zh-CN" altLang="en-US" sz="1600"/>
                <a:t>：</a:t>
              </a:r>
              <a:endParaRPr lang="zh-CN" altLang="en-US" sz="1600"/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9068" y="1682"/>
              <a:ext cx="9272" cy="848"/>
              <a:chOff x="9190" y="2028"/>
              <a:chExt cx="9272" cy="848"/>
            </a:xfrm>
          </p:grpSpPr>
          <p:pic>
            <p:nvPicPr>
              <p:cNvPr id="15" name="图片 14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854" y="2028"/>
                <a:ext cx="5608" cy="848"/>
              </a:xfrm>
              <a:prstGeom prst="rect">
                <a:avLst/>
              </a:prstGeom>
            </p:spPr>
          </p:pic>
          <p:sp>
            <p:nvSpPr>
              <p:cNvPr id="19" name="文本框 18"/>
              <p:cNvSpPr txBox="1"/>
              <p:nvPr/>
            </p:nvSpPr>
            <p:spPr>
              <a:xfrm>
                <a:off x="9190" y="2206"/>
                <a:ext cx="3929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/>
                  <a:t>policy’s pdf:</a:t>
                </a:r>
                <a:endParaRPr lang="en-US" altLang="zh-CN" sz="1600"/>
              </a:p>
            </p:txBody>
          </p:sp>
        </p:grpSp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895" y="2601"/>
              <a:ext cx="5605" cy="462"/>
            </a:xfrm>
            <a:prstGeom prst="rect">
              <a:avLst/>
            </a:prstGeom>
          </p:spPr>
        </p:pic>
        <p:sp>
          <p:nvSpPr>
            <p:cNvPr id="23" name="文本框 22"/>
            <p:cNvSpPr txBox="1"/>
            <p:nvPr/>
          </p:nvSpPr>
          <p:spPr>
            <a:xfrm>
              <a:off x="8997" y="2605"/>
              <a:ext cx="3639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mean memory:</a:t>
              </a:r>
              <a:endParaRPr lang="en-US" altLang="zh-CN" sz="1600"/>
            </a:p>
          </p:txBody>
        </p:sp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497" y="3920"/>
              <a:ext cx="5734" cy="1913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895" y="3346"/>
              <a:ext cx="3421" cy="456"/>
            </a:xfrm>
            <a:prstGeom prst="rect">
              <a:avLst/>
            </a:prstGeom>
          </p:spPr>
        </p:pic>
        <p:sp>
          <p:nvSpPr>
            <p:cNvPr id="26" name="文本框 25"/>
            <p:cNvSpPr txBox="1"/>
            <p:nvPr/>
          </p:nvSpPr>
          <p:spPr>
            <a:xfrm>
              <a:off x="9070" y="3317"/>
              <a:ext cx="3494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density</a:t>
              </a:r>
              <a:endParaRPr lang="en-US" altLang="zh-CN" sz="1600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9127" y="4156"/>
              <a:ext cx="307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mean policy</a:t>
              </a:r>
              <a:endParaRPr lang="en-US" altLang="zh-CN" sz="160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8997" y="4995"/>
              <a:ext cx="338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policy’s invariance </a:t>
              </a:r>
              <a:endParaRPr lang="en-US" altLang="zh-CN" sz="1600"/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8295005" y="3558540"/>
            <a:ext cx="35083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.... and depend on model detail</a:t>
            </a:r>
            <a:endParaRPr lang="en-US" altLang="zh-CN"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797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4610"/>
            <a:ext cx="9004935" cy="495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背景介绍</a:t>
            </a:r>
            <a:endParaRPr lang="zh-CN" altLang="en-US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4252</Words>
  <Application>WPS 演示</Application>
  <PresentationFormat>宽屏</PresentationFormat>
  <Paragraphs>268</Paragraphs>
  <Slides>18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2" baseType="lpstr">
      <vt:lpstr>Arial</vt:lpstr>
      <vt:lpstr>宋体</vt:lpstr>
      <vt:lpstr>Wingdings</vt:lpstr>
      <vt:lpstr>Wingdings</vt:lpstr>
      <vt:lpstr>微软雅黑</vt:lpstr>
      <vt:lpstr>AdvOT483a8203</vt:lpstr>
      <vt:lpstr>Segoe Print</vt:lpstr>
      <vt:lpstr>Arial</vt:lpstr>
      <vt:lpstr>Cambria Math</vt:lpstr>
      <vt:lpstr>AdvOTb748f40a.I</vt:lpstr>
      <vt:lpstr>MS Mincho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曹溪能</cp:lastModifiedBy>
  <cp:revision>161</cp:revision>
  <dcterms:created xsi:type="dcterms:W3CDTF">2019-06-19T02:08:00Z</dcterms:created>
  <dcterms:modified xsi:type="dcterms:W3CDTF">2025-08-23T05:01:20Z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2052-12.1.0.21911</vt:lpwstr>
  </property>
  <property fmtid="{D5CDD505-2E9C-101B-9397-08002B2CF9AE}" pid="3" name="ICV">
    <vt:lpwstr>00C1168020144A5E85CF665E77BC5B6C_11</vt:lpwstr>
  </property>
</Properties>
</file>
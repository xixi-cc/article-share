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300" r:id="rId3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</p:sldIdLst>
  <p:sldSz cx="12192000" cy="6858000"/>
  <p:notesSz cx="6858000" cy="9144000"/>
  <p:embeddedFontLst>
    <p:embeddedFont>
      <p:font typeface="微软雅黑" panose="020B0503020204020204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8" userDrawn="1">
          <p15:clr>
            <a:srgbClr val="A4A3A4"/>
          </p15:clr>
        </p15:guide>
        <p15:guide id="2" pos="394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18"/>
        <p:guide pos="39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65.xml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tags" Target="../tags/tag64.xml"/><Relationship Id="rId7" Type="http://schemas.openxmlformats.org/officeDocument/2006/relationships/image" Target="../media/image29.png"/><Relationship Id="rId6" Type="http://schemas.openxmlformats.org/officeDocument/2006/relationships/tags" Target="../tags/tag6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3" Type="http://schemas.openxmlformats.org/officeDocument/2006/relationships/notesSlide" Target="../notesSlides/notesSlide7.x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40.png"/><Relationship Id="rId20" Type="http://schemas.openxmlformats.org/officeDocument/2006/relationships/image" Target="../media/image39.png"/><Relationship Id="rId2" Type="http://schemas.openxmlformats.org/officeDocument/2006/relationships/image" Target="../media/image20.png"/><Relationship Id="rId19" Type="http://schemas.openxmlformats.org/officeDocument/2006/relationships/image" Target="../media/image38.png"/><Relationship Id="rId18" Type="http://schemas.openxmlformats.org/officeDocument/2006/relationships/image" Target="../media/image13.png"/><Relationship Id="rId17" Type="http://schemas.openxmlformats.org/officeDocument/2006/relationships/image" Target="../media/image10.png"/><Relationship Id="rId16" Type="http://schemas.openxmlformats.org/officeDocument/2006/relationships/image" Target="../media/image37.png"/><Relationship Id="rId15" Type="http://schemas.openxmlformats.org/officeDocument/2006/relationships/image" Target="../media/image36.png"/><Relationship Id="rId14" Type="http://schemas.openxmlformats.org/officeDocument/2006/relationships/image" Target="../media/image35.png"/><Relationship Id="rId13" Type="http://schemas.openxmlformats.org/officeDocument/2006/relationships/image" Target="../media/image34.png"/><Relationship Id="rId12" Type="http://schemas.openxmlformats.org/officeDocument/2006/relationships/image" Target="../media/image33.png"/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57.png"/><Relationship Id="rId16" Type="http://schemas.openxmlformats.org/officeDocument/2006/relationships/image" Target="../media/image56.png"/><Relationship Id="rId15" Type="http://schemas.openxmlformats.org/officeDocument/2006/relationships/image" Target="../media/image55.png"/><Relationship Id="rId14" Type="http://schemas.openxmlformats.org/officeDocument/2006/relationships/image" Target="../media/image54.png"/><Relationship Id="rId13" Type="http://schemas.openxmlformats.org/officeDocument/2006/relationships/image" Target="../media/image53.png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png"/><Relationship Id="rId8" Type="http://schemas.openxmlformats.org/officeDocument/2006/relationships/image" Target="../media/image71.png"/><Relationship Id="rId7" Type="http://schemas.openxmlformats.org/officeDocument/2006/relationships/image" Target="../media/image70.png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3.png"/><Relationship Id="rId1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6.png"/><Relationship Id="rId3" Type="http://schemas.openxmlformats.org/officeDocument/2006/relationships/image" Target="../media/image43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3.png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png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8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5706" y="1394234"/>
            <a:ext cx="46548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2" descr="https://gss0.bdstatic.com/-4o3dSag_xI4khGkpoWK1HF6hhy/baike/c0%3Dbaike272%2C5%2C5%2C272%2C90/sign=8a9a0b9d3787e950561afb3e71513826/2fdda3cc7cd98d103d73086f2c3fb80e7aec90cc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95" y="0"/>
            <a:ext cx="1145264" cy="139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logo-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680" y="-437810"/>
            <a:ext cx="3331845" cy="3074670"/>
          </a:xfrm>
          <a:prstGeom prst="rect">
            <a:avLst/>
          </a:prstGeom>
        </p:spPr>
      </p:pic>
      <p:pic>
        <p:nvPicPr>
          <p:cNvPr id="11" name="图片 10" descr="logo-06 - 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19894"/>
            <a:ext cx="2627948" cy="242458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45" y="2074545"/>
            <a:ext cx="11058525" cy="20027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382760" y="5094605"/>
            <a:ext cx="1666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曹溪能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29895" y="976630"/>
            <a:ext cx="10764520" cy="632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b="1" dirty="0">
                <a:latin typeface="Arial" panose="020B0604020202020204" pitchFamily="34" charset="0"/>
                <a:ea typeface="微软雅黑" panose="020B0503020204020204" charset="-122"/>
              </a:rPr>
              <a:t>背景介绍</a:t>
            </a:r>
            <a:endParaRPr lang="zh-CN" altLang="en-US" sz="30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000" b="1" dirty="0">
                <a:latin typeface="Arial" panose="020B0604020202020204" pitchFamily="34" charset="0"/>
                <a:ea typeface="微软雅黑" panose="020B0503020204020204" charset="-122"/>
              </a:rPr>
              <a:t>random orgnization model</a:t>
            </a:r>
            <a:endParaRPr lang="zh-CN" altLang="en-US" sz="30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000" b="1" dirty="0">
                <a:latin typeface="Arial" panose="020B0604020202020204" pitchFamily="34" charset="0"/>
                <a:ea typeface="微软雅黑" panose="020B0503020204020204" charset="-122"/>
              </a:rPr>
              <a:t>向列型</a:t>
            </a:r>
            <a:r>
              <a:rPr lang="en-US" altLang="zh-CN" sz="3000" b="1" dirty="0">
                <a:latin typeface="Arial" panose="020B0604020202020204" pitchFamily="34" charset="0"/>
                <a:ea typeface="微软雅黑" panose="020B0503020204020204" charset="-122"/>
              </a:rPr>
              <a:t>vicsek model</a:t>
            </a:r>
            <a:endParaRPr lang="zh-CN" altLang="en-US" sz="30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b="1" dirty="0">
                <a:latin typeface="Arial" panose="020B0604020202020204" pitchFamily="34" charset="0"/>
                <a:ea typeface="微软雅黑" panose="020B0503020204020204" charset="-122"/>
              </a:rPr>
              <a:t>模型介绍</a:t>
            </a:r>
            <a:endParaRPr lang="zh-CN" altLang="en-US" sz="30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b="1" dirty="0">
                <a:latin typeface="Arial" panose="020B0604020202020204" pitchFamily="34" charset="0"/>
                <a:ea typeface="微软雅黑" panose="020B0503020204020204" charset="-122"/>
              </a:rPr>
              <a:t>模拟结果</a:t>
            </a:r>
            <a:endParaRPr lang="zh-CN" altLang="en-US" sz="30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b="1" dirty="0">
                <a:latin typeface="Arial" panose="020B0604020202020204" pitchFamily="34" charset="0"/>
                <a:ea typeface="微软雅黑" panose="020B0503020204020204" charset="-122"/>
              </a:rPr>
              <a:t>流体力学理论</a:t>
            </a:r>
            <a:endParaRPr lang="zh-CN" altLang="en-US" sz="30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b="1" dirty="0">
                <a:latin typeface="Arial" panose="020B0604020202020204" pitchFamily="34" charset="0"/>
                <a:ea typeface="微软雅黑" panose="020B0503020204020204" charset="-122"/>
              </a:rPr>
              <a:t>另一种现象</a:t>
            </a:r>
            <a:endParaRPr lang="zh-CN" altLang="en-US" sz="30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b="1" dirty="0"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zh-CN" altLang="en-US" sz="30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+mj-lt"/>
              <a:buNone/>
            </a:pPr>
            <a:endParaRPr lang="en-US" altLang="zh-CN" sz="30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941" y="54878"/>
            <a:ext cx="363288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目录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90049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背景介绍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: random orgnization model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4995" y="990600"/>
            <a:ext cx="2675890" cy="1187450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491490" y="901700"/>
            <a:ext cx="4859020" cy="368300"/>
            <a:chOff x="731" y="1387"/>
            <a:chExt cx="7652" cy="580"/>
          </a:xfrm>
        </p:grpSpPr>
        <p:sp>
          <p:nvSpPr>
            <p:cNvPr id="8" name="文本框 7"/>
            <p:cNvSpPr txBox="1"/>
            <p:nvPr/>
          </p:nvSpPr>
          <p:spPr>
            <a:xfrm>
              <a:off x="731" y="1387"/>
              <a:ext cx="382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/>
                <a:t>运动规则：重叠</a:t>
              </a:r>
              <a:endParaRPr lang="zh-CN" altLang="en-US"/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4005" y="1643"/>
              <a:ext cx="725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4942" y="1387"/>
              <a:ext cx="34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随机弹开</a:t>
              </a:r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64185" y="1578610"/>
            <a:ext cx="310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有活性态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吸收态转变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1490" y="2296160"/>
            <a:ext cx="6453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粒子守恒情况下，相变属于</a:t>
            </a:r>
            <a:r>
              <a:rPr lang="en-US" altLang="zh-CN"/>
              <a:t>CDP</a:t>
            </a:r>
            <a:r>
              <a:rPr lang="zh-CN" altLang="en-US"/>
              <a:t>（守恒定向渗流普适类）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4185" y="2910205"/>
            <a:ext cx="5301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场方程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10" y="4367530"/>
            <a:ext cx="2914650" cy="3975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35" y="3310890"/>
            <a:ext cx="7209155" cy="85979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7642860" y="2818130"/>
            <a:ext cx="4195445" cy="3674745"/>
            <a:chOff x="12035" y="3654"/>
            <a:chExt cx="6607" cy="5787"/>
          </a:xfrm>
        </p:grpSpPr>
        <p:grpSp>
          <p:nvGrpSpPr>
            <p:cNvPr id="20" name="组合 19"/>
            <p:cNvGrpSpPr/>
            <p:nvPr/>
          </p:nvGrpSpPr>
          <p:grpSpPr>
            <a:xfrm>
              <a:off x="12035" y="3654"/>
              <a:ext cx="6607" cy="5787"/>
              <a:chOff x="12149" y="4005"/>
              <a:chExt cx="6607" cy="5787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51" y="4005"/>
                <a:ext cx="5948" cy="4435"/>
              </a:xfrm>
              <a:prstGeom prst="rect">
                <a:avLst/>
              </a:prstGeom>
            </p:spPr>
          </p:pic>
          <p:sp>
            <p:nvSpPr>
              <p:cNvPr id="7" name="文本框 6"/>
              <p:cNvSpPr txBox="1"/>
              <p:nvPr/>
            </p:nvSpPr>
            <p:spPr>
              <a:xfrm>
                <a:off x="12149" y="9034"/>
                <a:ext cx="6607" cy="758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marL="0" indent="0" algn="l"/>
                <a:r>
                  <a:rPr lang="en-US" altLang="zh-CN" sz="1200" b="0" i="0">
                    <a:solidFill>
                      <a:srgbClr val="222222"/>
                    </a:solidFill>
                    <a:ea typeface="微软雅黑" panose="020B0503020204020204" charset="-122"/>
                    <a:cs typeface="+mn-lt"/>
                  </a:rPr>
                  <a:t>Hexner D, Levine D. Hyperuniformity of critical absorbing states[J]. Physical review letters, 2015, 114(11): 110602.</a:t>
                </a:r>
                <a:endParaRPr lang="en-US" altLang="zh-CN" sz="1200" b="0" i="0">
                  <a:solidFill>
                    <a:srgbClr val="222222"/>
                  </a:solidFill>
                  <a:ea typeface="微软雅黑" panose="020B0503020204020204" charset="-122"/>
                  <a:cs typeface="+mn-lt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723" y="6345"/>
              <a:ext cx="2049" cy="965"/>
            </a:xfrm>
            <a:prstGeom prst="rect">
              <a:avLst/>
            </a:prstGeom>
          </p:spPr>
        </p:pic>
      </p:grpSp>
      <p:sp>
        <p:nvSpPr>
          <p:cNvPr id="16" name="文本框 15"/>
          <p:cNvSpPr txBox="1"/>
          <p:nvPr/>
        </p:nvSpPr>
        <p:spPr>
          <a:xfrm>
            <a:off x="491490" y="5032375"/>
            <a:ext cx="297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超均匀性</a:t>
            </a: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1080" y="901700"/>
            <a:ext cx="2026285" cy="133985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855585" y="2313305"/>
            <a:ext cx="941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图</a:t>
            </a:r>
            <a:r>
              <a:rPr lang="en-US" altLang="zh-CN" sz="1400"/>
              <a:t>1</a:t>
            </a:r>
            <a:endParaRPr lang="en-US" altLang="zh-CN" sz="1400"/>
          </a:p>
        </p:txBody>
      </p:sp>
      <p:sp>
        <p:nvSpPr>
          <p:cNvPr id="23" name="文本框 22"/>
          <p:cNvSpPr txBox="1"/>
          <p:nvPr/>
        </p:nvSpPr>
        <p:spPr>
          <a:xfrm>
            <a:off x="10796905" y="2349500"/>
            <a:ext cx="941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图</a:t>
            </a:r>
            <a:r>
              <a:rPr lang="en-US" altLang="zh-CN" sz="1400"/>
              <a:t>2</a:t>
            </a:r>
            <a:endParaRPr lang="en-US" altLang="zh-CN" sz="1400"/>
          </a:p>
        </p:txBody>
      </p:sp>
      <p:sp>
        <p:nvSpPr>
          <p:cNvPr id="24" name="文本框 23"/>
          <p:cNvSpPr txBox="1"/>
          <p:nvPr/>
        </p:nvSpPr>
        <p:spPr>
          <a:xfrm>
            <a:off x="9448800" y="5547360"/>
            <a:ext cx="941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图</a:t>
            </a:r>
            <a:r>
              <a:rPr lang="en-US" altLang="zh-CN" sz="1400"/>
              <a:t>3</a:t>
            </a:r>
            <a:endParaRPr lang="en-US" altLang="zh-C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85064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背景介绍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: </a:t>
            </a:r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向列型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vicsek model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993900" y="1094105"/>
            <a:ext cx="2283460" cy="1157386"/>
            <a:chOff x="1417" y="1538"/>
            <a:chExt cx="3882" cy="189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17" y="1538"/>
              <a:ext cx="3882" cy="1115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7" y="2796"/>
              <a:ext cx="2576" cy="639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/>
        </p:nvGrpSpPr>
        <p:grpSpPr>
          <a:xfrm>
            <a:off x="5828030" y="923290"/>
            <a:ext cx="1962785" cy="1691640"/>
            <a:chOff x="2022" y="3470"/>
            <a:chExt cx="3058" cy="2528"/>
          </a:xfrm>
        </p:grpSpPr>
        <p:grpSp>
          <p:nvGrpSpPr>
            <p:cNvPr id="8" name="组合 7"/>
            <p:cNvGrpSpPr/>
            <p:nvPr/>
          </p:nvGrpSpPr>
          <p:grpSpPr>
            <a:xfrm>
              <a:off x="3371" y="4752"/>
              <a:ext cx="438" cy="468"/>
              <a:chOff x="3371" y="4752"/>
              <a:chExt cx="438" cy="468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" name="直接连接符 9"/>
              <p:cNvCxnSpPr>
                <a:stCxn id="9" idx="0"/>
                <a:endCxn id="9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 rot="1980000">
              <a:off x="2444" y="3938"/>
              <a:ext cx="438" cy="468"/>
              <a:chOff x="3371" y="4752"/>
              <a:chExt cx="438" cy="468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" name="直接连接符 12"/>
              <p:cNvCxnSpPr>
                <a:stCxn id="12" idx="0"/>
                <a:endCxn id="12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/>
            <p:cNvGrpSpPr/>
            <p:nvPr/>
          </p:nvGrpSpPr>
          <p:grpSpPr>
            <a:xfrm rot="19980000">
              <a:off x="3856" y="4309"/>
              <a:ext cx="438" cy="468"/>
              <a:chOff x="3371" y="4752"/>
              <a:chExt cx="438" cy="468"/>
            </a:xfrm>
          </p:grpSpPr>
          <p:sp>
            <p:nvSpPr>
              <p:cNvPr id="15" name="椭圆 14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" name="直接连接符 15"/>
              <p:cNvCxnSpPr>
                <a:stCxn id="15" idx="0"/>
                <a:endCxn id="15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 rot="2580000">
              <a:off x="4642" y="3470"/>
              <a:ext cx="438" cy="468"/>
              <a:chOff x="3371" y="4752"/>
              <a:chExt cx="438" cy="46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9" name="直接连接符 18"/>
              <p:cNvCxnSpPr>
                <a:stCxn id="18" idx="0"/>
                <a:endCxn id="18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/>
            <p:cNvGrpSpPr/>
            <p:nvPr/>
          </p:nvGrpSpPr>
          <p:grpSpPr>
            <a:xfrm rot="20160000">
              <a:off x="2022" y="5482"/>
              <a:ext cx="438" cy="468"/>
              <a:chOff x="3371" y="4752"/>
              <a:chExt cx="438" cy="468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2" name="直接连接符 21"/>
              <p:cNvCxnSpPr>
                <a:stCxn id="21" idx="0"/>
                <a:endCxn id="21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/>
            <p:cNvGrpSpPr/>
            <p:nvPr/>
          </p:nvGrpSpPr>
          <p:grpSpPr>
            <a:xfrm rot="5940000">
              <a:off x="3602" y="5386"/>
              <a:ext cx="438" cy="468"/>
              <a:chOff x="3371" y="4752"/>
              <a:chExt cx="438" cy="468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5" name="直接连接符 24"/>
              <p:cNvCxnSpPr>
                <a:stCxn id="24" idx="0"/>
                <a:endCxn id="24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9" name="椭圆 28"/>
            <p:cNvSpPr/>
            <p:nvPr/>
          </p:nvSpPr>
          <p:spPr>
            <a:xfrm>
              <a:off x="2602" y="4045"/>
              <a:ext cx="2042" cy="1953"/>
            </a:xfrm>
            <a:prstGeom prst="ellipse">
              <a:avLst/>
            </a:prstGeom>
            <a:noFill/>
            <a:ln>
              <a:solidFill>
                <a:schemeClr val="accent3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0" name="直接箭头连接符 29"/>
            <p:cNvCxnSpPr>
              <a:endCxn id="29" idx="3"/>
            </p:cNvCxnSpPr>
            <p:nvPr/>
          </p:nvCxnSpPr>
          <p:spPr>
            <a:xfrm flipH="1">
              <a:off x="2901" y="4977"/>
              <a:ext cx="686" cy="735"/>
            </a:xfrm>
            <a:prstGeom prst="straightConnector1">
              <a:avLst/>
            </a:prstGeom>
            <a:ln w="6350">
              <a:solidFill>
                <a:schemeClr val="accent3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2709" y="5110"/>
              <a:ext cx="1761" cy="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solidFill>
                    <a:schemeClr val="accent3"/>
                  </a:solidFill>
                </a:rPr>
                <a:t>R_al</a:t>
              </a:r>
              <a:endParaRPr lang="en-US" altLang="zh-CN" sz="1200" b="1">
                <a:solidFill>
                  <a:schemeClr val="accent3"/>
                </a:solidFill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90525" y="1172210"/>
            <a:ext cx="1503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运动规则</a:t>
            </a:r>
            <a:endParaRPr lang="zh-CN" altLang="en-US" b="1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280" y="953770"/>
            <a:ext cx="2628900" cy="1887220"/>
          </a:xfrm>
          <a:prstGeom prst="rect">
            <a:avLst/>
          </a:prstGeom>
        </p:spPr>
      </p:pic>
      <p:grpSp>
        <p:nvGrpSpPr>
          <p:cNvPr id="45" name="组合 44"/>
          <p:cNvGrpSpPr/>
          <p:nvPr/>
        </p:nvGrpSpPr>
        <p:grpSpPr>
          <a:xfrm>
            <a:off x="5720080" y="3098800"/>
            <a:ext cx="4315460" cy="1998980"/>
            <a:chOff x="12125" y="5092"/>
            <a:chExt cx="7327" cy="3698"/>
          </a:xfrm>
        </p:grpSpPr>
        <p:sp>
          <p:nvSpPr>
            <p:cNvPr id="28" name="文本框 27"/>
            <p:cNvSpPr txBox="1"/>
            <p:nvPr/>
          </p:nvSpPr>
          <p:spPr>
            <a:xfrm>
              <a:off x="15823" y="5653"/>
              <a:ext cx="3629" cy="1194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 algn="l"/>
              <a:r>
                <a:rPr lang="en-US" altLang="zh-CN" sz="1200">
                  <a:solidFill>
                    <a:srgbClr val="000000"/>
                  </a:solidFill>
                  <a:ea typeface="微软雅黑" panose="020B0503020204020204" charset="-122"/>
                  <a:cs typeface="+mn-lt"/>
                  <a:sym typeface="+mn-ea"/>
                </a:rPr>
                <a:t>D. Hexner and D. Levine, Phys. Rev. Lett. </a:t>
              </a:r>
              <a:r>
                <a:rPr lang="en-US" altLang="zh-CN" sz="1200" b="1">
                  <a:solidFill>
                    <a:srgbClr val="000000"/>
                  </a:solidFill>
                  <a:ea typeface="微软雅黑" panose="020B0503020204020204" charset="-122"/>
                  <a:cs typeface="+mn-lt"/>
                  <a:sym typeface="+mn-ea"/>
                </a:rPr>
                <a:t>114</a:t>
              </a:r>
              <a:r>
                <a:rPr lang="en-US" altLang="zh-CN" sz="1200">
                  <a:solidFill>
                    <a:srgbClr val="000000"/>
                  </a:solidFill>
                  <a:ea typeface="微软雅黑" panose="020B0503020204020204" charset="-122"/>
                  <a:cs typeface="+mn-lt"/>
                  <a:sym typeface="+mn-ea"/>
                </a:rPr>
                <a:t>, 110602 (2015).</a:t>
              </a:r>
              <a:endParaRPr lang="en-US" altLang="zh-CN" sz="1200" b="0" i="0">
                <a:solidFill>
                  <a:srgbClr val="222222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25" y="5092"/>
              <a:ext cx="3698" cy="3698"/>
            </a:xfrm>
            <a:prstGeom prst="rect">
              <a:avLst/>
            </a:prstGeom>
          </p:spPr>
        </p:pic>
      </p:grpSp>
      <p:grpSp>
        <p:nvGrpSpPr>
          <p:cNvPr id="46" name="组合 45"/>
          <p:cNvGrpSpPr/>
          <p:nvPr/>
        </p:nvGrpSpPr>
        <p:grpSpPr>
          <a:xfrm>
            <a:off x="390525" y="2339975"/>
            <a:ext cx="4625340" cy="2338070"/>
            <a:chOff x="744" y="4114"/>
            <a:chExt cx="7284" cy="3682"/>
          </a:xfrm>
        </p:grpSpPr>
        <p:sp>
          <p:nvSpPr>
            <p:cNvPr id="27" name="文本框 26"/>
            <p:cNvSpPr txBox="1"/>
            <p:nvPr/>
          </p:nvSpPr>
          <p:spPr>
            <a:xfrm>
              <a:off x="744" y="6549"/>
              <a:ext cx="728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/>
                <a:t>向列有序相存在</a:t>
              </a:r>
              <a:r>
                <a:rPr lang="zh-CN" altLang="en-US">
                  <a:solidFill>
                    <a:srgbClr val="FF0000"/>
                  </a:solidFill>
                </a:rPr>
                <a:t>巨涨落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73" y="4783"/>
              <a:ext cx="5573" cy="1683"/>
            </a:xfrm>
            <a:prstGeom prst="rect">
              <a:avLst/>
            </a:prstGeom>
          </p:spPr>
        </p:pic>
        <p:sp>
          <p:nvSpPr>
            <p:cNvPr id="37" name="文本框 36"/>
            <p:cNvSpPr txBox="1"/>
            <p:nvPr/>
          </p:nvSpPr>
          <p:spPr>
            <a:xfrm>
              <a:off x="1563" y="7216"/>
              <a:ext cx="30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线性</a:t>
              </a:r>
              <a:r>
                <a:rPr lang="zh-CN" altLang="en-US"/>
                <a:t>理论：</a:t>
              </a:r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744" y="4114"/>
              <a:ext cx="252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b="1"/>
                <a:t>场</a:t>
              </a:r>
              <a:r>
                <a:rPr lang="zh-CN" altLang="en-US" b="1"/>
                <a:t>方程</a:t>
              </a:r>
              <a:endParaRPr lang="zh-CN" altLang="en-US" b="1"/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47" y="7274"/>
              <a:ext cx="2022" cy="503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30" y="4221"/>
              <a:ext cx="3934" cy="479"/>
            </a:xfrm>
            <a:prstGeom prst="rect">
              <a:avLst/>
            </a:prstGeom>
          </p:spPr>
        </p:pic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3825" y="5279390"/>
            <a:ext cx="8054975" cy="1457960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392430" y="4839335"/>
            <a:ext cx="306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和</a:t>
            </a:r>
            <a:r>
              <a:rPr lang="en-US" altLang="zh-CN"/>
              <a:t>vicsek</a:t>
            </a:r>
            <a:r>
              <a:rPr lang="zh-CN" altLang="en-US"/>
              <a:t>模型的</a:t>
            </a:r>
            <a:r>
              <a:rPr lang="zh-CN" altLang="en-US"/>
              <a:t>区别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5941" y="54878"/>
            <a:ext cx="363288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7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7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324610" y="2930525"/>
            <a:ext cx="10444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吸收态相变和向列有序耦合，密度涨落会是什么样的模式？</a:t>
            </a:r>
            <a:endParaRPr lang="zh-CN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1839595" y="3452495"/>
            <a:ext cx="1694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1"/>
                </a:solidFill>
              </a:rPr>
              <a:t>超均匀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78580" y="3452495"/>
            <a:ext cx="1114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6"/>
                </a:solidFill>
              </a:rPr>
              <a:t>巨涨落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118084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模型介绍</a:t>
            </a:r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--Nematic random organization model 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6274435" y="884555"/>
            <a:ext cx="2595880" cy="2211945"/>
            <a:chOff x="2022" y="3470"/>
            <a:chExt cx="3058" cy="2528"/>
          </a:xfrm>
        </p:grpSpPr>
        <p:grpSp>
          <p:nvGrpSpPr>
            <p:cNvPr id="7" name="组合 6"/>
            <p:cNvGrpSpPr/>
            <p:nvPr/>
          </p:nvGrpSpPr>
          <p:grpSpPr>
            <a:xfrm>
              <a:off x="3371" y="4752"/>
              <a:ext cx="438" cy="468"/>
              <a:chOff x="3371" y="4752"/>
              <a:chExt cx="438" cy="468"/>
            </a:xfrm>
          </p:grpSpPr>
          <p:sp>
            <p:nvSpPr>
              <p:cNvPr id="2" name="椭圆 1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" name="直接连接符 5"/>
              <p:cNvCxnSpPr>
                <a:stCxn id="2" idx="0"/>
                <a:endCxn id="2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 rot="1980000">
              <a:off x="2444" y="3938"/>
              <a:ext cx="438" cy="468"/>
              <a:chOff x="3371" y="4752"/>
              <a:chExt cx="438" cy="468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" name="直接连接符 12"/>
              <p:cNvCxnSpPr>
                <a:stCxn id="12" idx="0"/>
                <a:endCxn id="12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/>
            <p:cNvGrpSpPr/>
            <p:nvPr/>
          </p:nvGrpSpPr>
          <p:grpSpPr>
            <a:xfrm rot="19980000">
              <a:off x="3856" y="4309"/>
              <a:ext cx="438" cy="468"/>
              <a:chOff x="3371" y="4752"/>
              <a:chExt cx="438" cy="468"/>
            </a:xfrm>
          </p:grpSpPr>
          <p:sp>
            <p:nvSpPr>
              <p:cNvPr id="15" name="椭圆 14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" name="直接连接符 15"/>
              <p:cNvCxnSpPr>
                <a:stCxn id="15" idx="0"/>
                <a:endCxn id="15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 rot="2580000">
              <a:off x="4642" y="3470"/>
              <a:ext cx="438" cy="468"/>
              <a:chOff x="3371" y="4752"/>
              <a:chExt cx="438" cy="46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9" name="直接连接符 18"/>
              <p:cNvCxnSpPr>
                <a:stCxn id="18" idx="0"/>
                <a:endCxn id="18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/>
            <p:cNvGrpSpPr/>
            <p:nvPr/>
          </p:nvGrpSpPr>
          <p:grpSpPr>
            <a:xfrm rot="20160000">
              <a:off x="2022" y="5482"/>
              <a:ext cx="438" cy="468"/>
              <a:chOff x="3371" y="4752"/>
              <a:chExt cx="438" cy="468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2" name="直接连接符 21"/>
              <p:cNvCxnSpPr>
                <a:stCxn id="21" idx="0"/>
                <a:endCxn id="21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/>
            <p:cNvGrpSpPr/>
            <p:nvPr/>
          </p:nvGrpSpPr>
          <p:grpSpPr>
            <a:xfrm rot="5940000">
              <a:off x="3602" y="5386"/>
              <a:ext cx="438" cy="468"/>
              <a:chOff x="3371" y="4752"/>
              <a:chExt cx="438" cy="468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5" name="直接连接符 24"/>
              <p:cNvCxnSpPr>
                <a:stCxn id="24" idx="0"/>
                <a:endCxn id="24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9" name="椭圆 28"/>
            <p:cNvSpPr/>
            <p:nvPr/>
          </p:nvSpPr>
          <p:spPr>
            <a:xfrm>
              <a:off x="2602" y="4045"/>
              <a:ext cx="2042" cy="1953"/>
            </a:xfrm>
            <a:prstGeom prst="ellipse">
              <a:avLst/>
            </a:prstGeom>
            <a:noFill/>
            <a:ln>
              <a:solidFill>
                <a:schemeClr val="accent3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0" name="直接箭头连接符 29"/>
            <p:cNvCxnSpPr>
              <a:endCxn id="29" idx="3"/>
            </p:cNvCxnSpPr>
            <p:nvPr/>
          </p:nvCxnSpPr>
          <p:spPr>
            <a:xfrm flipH="1">
              <a:off x="2901" y="4977"/>
              <a:ext cx="686" cy="735"/>
            </a:xfrm>
            <a:prstGeom prst="straightConnector1">
              <a:avLst/>
            </a:prstGeom>
            <a:ln w="6350">
              <a:solidFill>
                <a:schemeClr val="accent3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2709" y="5110"/>
              <a:ext cx="1761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solidFill>
                    <a:schemeClr val="accent3"/>
                  </a:solidFill>
                </a:rPr>
                <a:t>R_al</a:t>
              </a:r>
              <a:endParaRPr lang="en-US" altLang="zh-CN" sz="1200" b="1">
                <a:solidFill>
                  <a:schemeClr val="accent3"/>
                </a:solidFill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229725" y="1628775"/>
            <a:ext cx="1134745" cy="462280"/>
            <a:chOff x="7985" y="3938"/>
            <a:chExt cx="1160" cy="468"/>
          </a:xfrm>
        </p:grpSpPr>
        <p:grpSp>
          <p:nvGrpSpPr>
            <p:cNvPr id="8" name="组合 7"/>
            <p:cNvGrpSpPr/>
            <p:nvPr/>
          </p:nvGrpSpPr>
          <p:grpSpPr>
            <a:xfrm>
              <a:off x="8393" y="3938"/>
              <a:ext cx="438" cy="468"/>
              <a:chOff x="3371" y="4752"/>
              <a:chExt cx="438" cy="468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6" name="直接连接符 25"/>
              <p:cNvCxnSpPr>
                <a:stCxn id="9" idx="0"/>
                <a:endCxn id="9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组合 26"/>
            <p:cNvGrpSpPr/>
            <p:nvPr/>
          </p:nvGrpSpPr>
          <p:grpSpPr>
            <a:xfrm rot="1740000">
              <a:off x="8707" y="3938"/>
              <a:ext cx="438" cy="468"/>
              <a:chOff x="3371" y="4752"/>
              <a:chExt cx="438" cy="468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3371" y="4752"/>
                <a:ext cx="438" cy="468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2" name="直接连接符 31"/>
              <p:cNvCxnSpPr>
                <a:stCxn id="28" idx="0"/>
                <a:endCxn id="28" idx="4"/>
              </p:cNvCxnSpPr>
              <p:nvPr/>
            </p:nvCxnSpPr>
            <p:spPr>
              <a:xfrm>
                <a:off x="3590" y="4752"/>
                <a:ext cx="0" cy="4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箭头连接符 32"/>
            <p:cNvCxnSpPr/>
            <p:nvPr/>
          </p:nvCxnSpPr>
          <p:spPr>
            <a:xfrm>
              <a:off x="8289" y="3960"/>
              <a:ext cx="0" cy="432"/>
            </a:xfrm>
            <a:prstGeom prst="straightConnector1">
              <a:avLst/>
            </a:prstGeom>
            <a:ln w="3175">
              <a:solidFill>
                <a:schemeClr val="accent6"/>
              </a:solidFill>
              <a:prstDash val="sysDot"/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7985" y="4024"/>
              <a:ext cx="485" cy="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olidFill>
                    <a:schemeClr val="accent6"/>
                  </a:solidFill>
                </a:rPr>
                <a:t>D</a:t>
              </a:r>
              <a:endParaRPr lang="en-US" altLang="zh-CN" sz="1400" b="1">
                <a:solidFill>
                  <a:schemeClr val="accent6"/>
                </a:solidFill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139825" y="1328420"/>
            <a:ext cx="3655060" cy="977900"/>
            <a:chOff x="645" y="1384"/>
            <a:chExt cx="8045" cy="2198"/>
          </a:xfrm>
        </p:grpSpPr>
        <p:pic>
          <p:nvPicPr>
            <p:cNvPr id="39" name="图片 38" descr="屏幕截图 2025-02-16 14435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5" y="1384"/>
              <a:ext cx="7780" cy="1258"/>
            </a:xfrm>
            <a:prstGeom prst="rect">
              <a:avLst/>
            </a:prstGeom>
          </p:spPr>
        </p:pic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5" y="2642"/>
              <a:ext cx="3977" cy="940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5023" y="2824"/>
              <a:ext cx="3667" cy="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（</a:t>
              </a:r>
              <a:r>
                <a:rPr lang="en-US" altLang="zh-CN" sz="1600"/>
                <a:t>overlapping</a:t>
              </a:r>
              <a:r>
                <a:rPr lang="zh-CN" altLang="en-US" sz="1600"/>
                <a:t>）</a:t>
              </a:r>
              <a:endParaRPr lang="zh-CN" altLang="en-US" sz="1600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180465" y="2559050"/>
            <a:ext cx="1765300" cy="318770"/>
            <a:chOff x="1447" y="7734"/>
            <a:chExt cx="3395" cy="550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7" y="7734"/>
              <a:ext cx="1015" cy="487"/>
            </a:xfrm>
            <a:prstGeom prst="rect">
              <a:avLst/>
            </a:prstGeom>
          </p:spPr>
        </p:pic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2" y="7734"/>
              <a:ext cx="2381" cy="551"/>
            </a:xfrm>
            <a:prstGeom prst="rect">
              <a:avLst/>
            </a:prstGeom>
          </p:spPr>
        </p:pic>
      </p:grpSp>
      <p:pic>
        <p:nvPicPr>
          <p:cNvPr id="46" name="图片 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3890" y="2582545"/>
            <a:ext cx="982980" cy="281305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396240" y="3507105"/>
            <a:ext cx="6916420" cy="972820"/>
            <a:chOff x="338" y="4997"/>
            <a:chExt cx="10892" cy="1532"/>
          </a:xfrm>
        </p:grpSpPr>
        <p:sp>
          <p:nvSpPr>
            <p:cNvPr id="45" name="文本框 44"/>
            <p:cNvSpPr txBox="1"/>
            <p:nvPr/>
          </p:nvSpPr>
          <p:spPr>
            <a:xfrm>
              <a:off x="338" y="5017"/>
              <a:ext cx="244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/>
                <a:t>极限</a:t>
              </a:r>
              <a:r>
                <a:rPr lang="zh-CN" altLang="en-US" sz="2000" b="1"/>
                <a:t>情况：</a:t>
              </a:r>
              <a:endParaRPr lang="zh-CN" altLang="en-US" sz="2000" b="1"/>
            </a:p>
          </p:txBody>
        </p:sp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4" y="5103"/>
              <a:ext cx="887" cy="408"/>
            </a:xfrm>
            <a:prstGeom prst="rect">
              <a:avLst/>
            </a:prstGeom>
          </p:spPr>
        </p:pic>
        <p:sp>
          <p:nvSpPr>
            <p:cNvPr id="49" name="文本框 48"/>
            <p:cNvSpPr txBox="1"/>
            <p:nvPr/>
          </p:nvSpPr>
          <p:spPr>
            <a:xfrm>
              <a:off x="4162" y="4997"/>
              <a:ext cx="70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回到</a:t>
              </a:r>
              <a:r>
                <a:rPr lang="en-US" altLang="zh-CN"/>
                <a:t>random organization model</a:t>
              </a:r>
              <a:endParaRPr lang="en-US" altLang="zh-CN"/>
            </a:p>
          </p:txBody>
        </p: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0" y="5949"/>
              <a:ext cx="1342" cy="383"/>
            </a:xfrm>
            <a:prstGeom prst="rect">
              <a:avLst/>
            </a:prstGeom>
          </p:spPr>
        </p:pic>
        <p:sp>
          <p:nvSpPr>
            <p:cNvPr id="51" name="文本框 50"/>
            <p:cNvSpPr txBox="1"/>
            <p:nvPr/>
          </p:nvSpPr>
          <p:spPr>
            <a:xfrm>
              <a:off x="4162" y="5949"/>
              <a:ext cx="59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回到</a:t>
              </a:r>
              <a:r>
                <a:rPr lang="en-US" altLang="zh-CN"/>
                <a:t>nematic vicsek model</a:t>
              </a:r>
              <a:endParaRPr lang="en-US" altLang="zh-CN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90525" y="818515"/>
            <a:ext cx="1875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/>
              <a:t>运动规则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580644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Arial" panose="020B0604020202020204" pitchFamily="34" charset="0"/>
                <a:ea typeface="微软雅黑" panose="020B0503020204020204" charset="-122"/>
              </a:rPr>
              <a:t>控制参量和序参量</a:t>
            </a:r>
            <a:endParaRPr lang="zh-CN" altLang="en-US" sz="2700" b="1" dirty="0">
              <a:solidFill>
                <a:schemeClr val="bg1"/>
              </a:solidFill>
              <a:highlight>
                <a:srgbClr val="000000">
                  <a:alpha val="0"/>
                </a:srgbClr>
              </a:highligh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94055" y="735330"/>
            <a:ext cx="3926840" cy="1031442"/>
            <a:chOff x="645" y="1384"/>
            <a:chExt cx="8045" cy="2237"/>
          </a:xfrm>
        </p:grpSpPr>
        <p:pic>
          <p:nvPicPr>
            <p:cNvPr id="2" name="图片 1" descr="屏幕截图 2025-02-16 14435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5" y="1384"/>
              <a:ext cx="7780" cy="1258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" y="2642"/>
              <a:ext cx="3977" cy="94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5023" y="2822"/>
              <a:ext cx="3667" cy="7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（</a:t>
              </a:r>
              <a:r>
                <a:rPr lang="en-US" altLang="zh-CN"/>
                <a:t>overlapping</a:t>
              </a:r>
              <a:r>
                <a:rPr lang="zh-CN" altLang="en-US"/>
                <a:t>）</a:t>
              </a:r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56210" y="3347085"/>
            <a:ext cx="637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感兴趣的是活性有序和</a:t>
            </a:r>
            <a:r>
              <a:rPr lang="zh-CN" altLang="en-US"/>
              <a:t>吸收态相变耦合后的密度涨落模式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56" r="-615"/>
          <a:stretch>
            <a:fillRect/>
          </a:stretch>
        </p:blipFill>
        <p:spPr>
          <a:xfrm>
            <a:off x="6395085" y="2759075"/>
            <a:ext cx="5023485" cy="2209800"/>
          </a:xfrm>
          <a:prstGeom prst="rect">
            <a:avLst/>
          </a:prstGeom>
        </p:spPr>
      </p:pic>
      <p:grpSp>
        <p:nvGrpSpPr>
          <p:cNvPr id="45" name="组合 44"/>
          <p:cNvGrpSpPr/>
          <p:nvPr/>
        </p:nvGrpSpPr>
        <p:grpSpPr>
          <a:xfrm>
            <a:off x="156210" y="4480560"/>
            <a:ext cx="5156200" cy="802640"/>
            <a:chOff x="478" y="8075"/>
            <a:chExt cx="8120" cy="1264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4" y="8181"/>
              <a:ext cx="2065" cy="409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478" y="8075"/>
              <a:ext cx="49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/>
                <a:t>吸收态相变临界</a:t>
              </a:r>
              <a:r>
                <a:rPr lang="zh-CN" altLang="en-US"/>
                <a:t>密度</a:t>
              </a:r>
              <a:endParaRPr lang="zh-CN" altLang="en-US"/>
            </a:p>
          </p:txBody>
        </p: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2" y="8747"/>
              <a:ext cx="1463" cy="532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3247" y="8759"/>
              <a:ext cx="53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latin typeface="Arial" panose="020B0604020202020204" pitchFamily="34" charset="0"/>
                  <a:cs typeface="Arial" panose="020B0604020202020204" pitchFamily="34" charset="0"/>
                </a:rPr>
                <a:t>β</a:t>
              </a:r>
              <a:r>
                <a:rPr lang="zh-CN" altLang="en-US"/>
                <a:t>符合</a:t>
              </a:r>
              <a:r>
                <a:rPr lang="en-US" altLang="zh-CN"/>
                <a:t>CDP</a:t>
              </a:r>
              <a:r>
                <a:rPr lang="zh-CN" altLang="en-US"/>
                <a:t>普适类</a:t>
              </a:r>
              <a:endParaRPr lang="zh-CN" altLang="en-US"/>
            </a:p>
          </p:txBody>
        </p:sp>
      </p:grpSp>
      <p:pic>
        <p:nvPicPr>
          <p:cNvPr id="28" name="内容占位符 27"/>
          <p:cNvPicPr>
            <a:picLocks noChangeAspect="1"/>
          </p:cNvPicPr>
          <p:nvPr>
            <p:ph idx="1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797165" y="5812155"/>
            <a:ext cx="3827145" cy="25971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922260" y="5383530"/>
            <a:ext cx="3517900" cy="294640"/>
          </a:xfrm>
          <a:prstGeom prst="rect">
            <a:avLst/>
          </a:prstGeom>
        </p:spPr>
      </p:pic>
      <p:grpSp>
        <p:nvGrpSpPr>
          <p:cNvPr id="41" name="组合 40"/>
          <p:cNvGrpSpPr/>
          <p:nvPr/>
        </p:nvGrpSpPr>
        <p:grpSpPr>
          <a:xfrm>
            <a:off x="487680" y="1981200"/>
            <a:ext cx="5598795" cy="1047750"/>
            <a:chOff x="387" y="3269"/>
            <a:chExt cx="10744" cy="1794"/>
          </a:xfrm>
        </p:grpSpPr>
        <p:sp>
          <p:nvSpPr>
            <p:cNvPr id="14" name="文本框 13"/>
            <p:cNvSpPr txBox="1"/>
            <p:nvPr/>
          </p:nvSpPr>
          <p:spPr>
            <a:xfrm>
              <a:off x="415" y="3728"/>
              <a:ext cx="1398" cy="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ROM</a:t>
              </a:r>
              <a:r>
                <a:rPr lang="zh-CN" altLang="en-US" sz="1600"/>
                <a:t>：</a:t>
              </a:r>
              <a:endParaRPr lang="zh-CN" altLang="en-US" sz="160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87" y="4485"/>
              <a:ext cx="1425" cy="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NVM</a:t>
              </a:r>
              <a:r>
                <a:rPr lang="zh-CN" altLang="en-US" sz="1600"/>
                <a:t>：</a:t>
              </a:r>
              <a:endParaRPr lang="zh-CN" altLang="en-US" sz="1600"/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2424" y="3269"/>
              <a:ext cx="8707" cy="1794"/>
              <a:chOff x="2424" y="3269"/>
              <a:chExt cx="8707" cy="1794"/>
            </a:xfrm>
          </p:grpSpPr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15" y="3838"/>
                <a:ext cx="1657" cy="572"/>
              </a:xfrm>
              <a:prstGeom prst="rect">
                <a:avLst/>
              </a:prstGeom>
            </p:spPr>
          </p:pic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16" y="4486"/>
                <a:ext cx="1507" cy="577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25" y="4596"/>
                <a:ext cx="3206" cy="407"/>
              </a:xfrm>
              <a:prstGeom prst="rect">
                <a:avLst/>
              </a:prstGeom>
            </p:spPr>
          </p:pic>
          <p:pic>
            <p:nvPicPr>
              <p:cNvPr id="24" name="图片 23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60" y="4548"/>
                <a:ext cx="2225" cy="472"/>
              </a:xfrm>
              <a:prstGeom prst="rect">
                <a:avLst/>
              </a:prstGeom>
            </p:spPr>
          </p:pic>
          <p:sp>
            <p:nvSpPr>
              <p:cNvPr id="31" name="文本框 30"/>
              <p:cNvSpPr txBox="1"/>
              <p:nvPr/>
            </p:nvSpPr>
            <p:spPr>
              <a:xfrm>
                <a:off x="2560" y="3287"/>
                <a:ext cx="2354" cy="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/>
                  <a:t>控制参量</a:t>
                </a:r>
                <a:endParaRPr lang="zh-CN" altLang="en-US" sz="1600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5661" y="3269"/>
                <a:ext cx="2468" cy="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/>
                  <a:t>序参量</a:t>
                </a:r>
                <a:endParaRPr lang="zh-CN" altLang="en-US" sz="1600"/>
              </a:p>
            </p:txBody>
          </p:sp>
          <p:pic>
            <p:nvPicPr>
              <p:cNvPr id="33" name="图片 32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24" y="3943"/>
                <a:ext cx="312" cy="365"/>
              </a:xfrm>
              <a:prstGeom prst="rect">
                <a:avLst/>
              </a:prstGeom>
            </p:spPr>
          </p:pic>
          <p:pic>
            <p:nvPicPr>
              <p:cNvPr id="34" name="图片 33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24" y="4657"/>
                <a:ext cx="295" cy="363"/>
              </a:xfrm>
              <a:prstGeom prst="rect">
                <a:avLst/>
              </a:prstGeom>
            </p:spPr>
          </p:pic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98" y="3867"/>
                <a:ext cx="226" cy="327"/>
              </a:xfrm>
              <a:prstGeom prst="rect">
                <a:avLst/>
              </a:prstGeom>
            </p:spPr>
          </p:pic>
        </p:grpSp>
      </p:grpSp>
      <p:grpSp>
        <p:nvGrpSpPr>
          <p:cNvPr id="42" name="组合 41"/>
          <p:cNvGrpSpPr/>
          <p:nvPr/>
        </p:nvGrpSpPr>
        <p:grpSpPr>
          <a:xfrm>
            <a:off x="6140450" y="704215"/>
            <a:ext cx="2523490" cy="1677035"/>
            <a:chOff x="9790" y="1384"/>
            <a:chExt cx="4334" cy="3078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90" y="1384"/>
              <a:ext cx="4334" cy="3078"/>
            </a:xfrm>
            <a:prstGeom prst="rect">
              <a:avLst/>
            </a:prstGeom>
          </p:spPr>
        </p:pic>
        <p:sp>
          <p:nvSpPr>
            <p:cNvPr id="36" name="五角星 35"/>
            <p:cNvSpPr/>
            <p:nvPr/>
          </p:nvSpPr>
          <p:spPr>
            <a:xfrm>
              <a:off x="12850" y="3111"/>
              <a:ext cx="288" cy="288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9046210" y="683260"/>
            <a:ext cx="2393950" cy="1692910"/>
            <a:chOff x="14524" y="1384"/>
            <a:chExt cx="4006" cy="3076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4524" y="1384"/>
              <a:ext cx="4006" cy="3077"/>
            </a:xfrm>
            <a:prstGeom prst="rect">
              <a:avLst/>
            </a:prstGeom>
          </p:spPr>
        </p:pic>
        <p:sp>
          <p:nvSpPr>
            <p:cNvPr id="37" name="五角星 36"/>
            <p:cNvSpPr/>
            <p:nvPr/>
          </p:nvSpPr>
          <p:spPr>
            <a:xfrm>
              <a:off x="16374" y="3472"/>
              <a:ext cx="288" cy="288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31165" y="3856990"/>
            <a:ext cx="4699397" cy="368300"/>
            <a:chOff x="574" y="7002"/>
            <a:chExt cx="7401" cy="580"/>
          </a:xfrm>
        </p:grpSpPr>
        <p:grpSp>
          <p:nvGrpSpPr>
            <p:cNvPr id="19" name="组合 18"/>
            <p:cNvGrpSpPr/>
            <p:nvPr/>
          </p:nvGrpSpPr>
          <p:grpSpPr>
            <a:xfrm>
              <a:off x="2280" y="7172"/>
              <a:ext cx="5695" cy="410"/>
              <a:chOff x="977" y="6469"/>
              <a:chExt cx="6822" cy="514"/>
            </a:xfrm>
          </p:grpSpPr>
          <p:pic>
            <p:nvPicPr>
              <p:cNvPr id="17" name="图片 16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77" y="6469"/>
                <a:ext cx="5079" cy="514"/>
              </a:xfrm>
              <a:prstGeom prst="rect">
                <a:avLst/>
              </a:prstGeom>
            </p:spPr>
          </p:pic>
          <p:pic>
            <p:nvPicPr>
              <p:cNvPr id="18" name="图片 17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44" y="6542"/>
                <a:ext cx="1555" cy="380"/>
              </a:xfrm>
              <a:prstGeom prst="rect">
                <a:avLst/>
              </a:prstGeom>
            </p:spPr>
          </p:pic>
        </p:grpSp>
        <p:sp>
          <p:nvSpPr>
            <p:cNvPr id="39" name="文本框 38"/>
            <p:cNvSpPr txBox="1"/>
            <p:nvPr/>
          </p:nvSpPr>
          <p:spPr>
            <a:xfrm>
              <a:off x="574" y="7002"/>
              <a:ext cx="237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选取参数</a:t>
              </a:r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8642985" y="2310130"/>
            <a:ext cx="8058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图</a:t>
            </a:r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26" name="文本框 25"/>
          <p:cNvSpPr txBox="1"/>
          <p:nvPr/>
        </p:nvSpPr>
        <p:spPr>
          <a:xfrm>
            <a:off x="8489315" y="4940935"/>
            <a:ext cx="10420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图</a:t>
            </a:r>
            <a:r>
              <a:rPr lang="en-US" altLang="zh-CN" sz="1600"/>
              <a:t>2</a:t>
            </a:r>
            <a:endParaRPr lang="en-US" altLang="zh-CN" sz="1600"/>
          </a:p>
        </p:txBody>
      </p:sp>
      <p:sp>
        <p:nvSpPr>
          <p:cNvPr id="44" name="文本框 43"/>
          <p:cNvSpPr txBox="1"/>
          <p:nvPr/>
        </p:nvSpPr>
        <p:spPr>
          <a:xfrm>
            <a:off x="6373495" y="5514975"/>
            <a:ext cx="19843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CDP</a:t>
            </a:r>
            <a:r>
              <a:rPr lang="zh-CN" altLang="en-US" sz="1600"/>
              <a:t>普适类</a:t>
            </a:r>
            <a:endParaRPr lang="zh-CN" altLang="en-US" sz="160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8445" y="2051050"/>
            <a:ext cx="76200" cy="96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5941" y="54878"/>
            <a:ext cx="363288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密度涨落模式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305" y="749300"/>
            <a:ext cx="1659255" cy="352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010" y="1073150"/>
            <a:ext cx="4325620" cy="21596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810" y="3928745"/>
            <a:ext cx="4742815" cy="25247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730" y="3968115"/>
            <a:ext cx="2866390" cy="3359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300" y="3520440"/>
            <a:ext cx="683895" cy="2768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230630" y="3957320"/>
            <a:ext cx="471170" cy="281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对</a:t>
            </a:r>
            <a:endParaRPr lang="en-US" altLang="zh-CN" sz="1600" i="1">
              <a:latin typeface="Cambria Math" panose="02040503050406030204" charset="0"/>
              <a:cs typeface="Cambria Math" panose="02040503050406030204" charset="0"/>
            </a:endParaRPr>
          </a:p>
          <a:p>
            <a:endParaRPr lang="en-US" altLang="zh-CN" sz="16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3850" y="3991610"/>
            <a:ext cx="465455" cy="2705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13385" y="2863215"/>
            <a:ext cx="17030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crossover length</a:t>
            </a:r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2225" y="4836160"/>
            <a:ext cx="1518920" cy="2984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2225" y="4353560"/>
            <a:ext cx="1376045" cy="3403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13385" y="1210945"/>
            <a:ext cx="11861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中</a:t>
            </a:r>
            <a:r>
              <a:rPr lang="zh-CN" altLang="en-US" sz="1600"/>
              <a:t>间尺度</a:t>
            </a:r>
            <a:r>
              <a:rPr lang="en-US" altLang="zh-CN" sz="1600"/>
              <a:t> </a:t>
            </a:r>
            <a:endParaRPr lang="en-US" altLang="zh-CN" sz="160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8445" y="1257935"/>
            <a:ext cx="1693545" cy="23749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576320" y="1192530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accent1"/>
                </a:solidFill>
              </a:rPr>
              <a:t>(2D ROM)</a:t>
            </a:r>
            <a:endParaRPr lang="en-US" altLang="zh-CN" sz="1600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37615" y="1576705"/>
            <a:ext cx="5979160" cy="2755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200">
                <a:solidFill>
                  <a:srgbClr val="000000"/>
                </a:solidFill>
                <a:ea typeface="微软雅黑" panose="020B0503020204020204" charset="-122"/>
                <a:cs typeface="+mn-lt"/>
              </a:rPr>
              <a:t>D. Hexner and D. Levine, Phys. Rev. Lett. </a:t>
            </a:r>
            <a:r>
              <a:rPr lang="en-US" altLang="zh-CN" sz="1200" b="1">
                <a:solidFill>
                  <a:srgbClr val="000000"/>
                </a:solidFill>
                <a:ea typeface="微软雅黑" panose="020B0503020204020204" charset="-122"/>
                <a:cs typeface="+mn-lt"/>
              </a:rPr>
              <a:t>114</a:t>
            </a:r>
            <a:r>
              <a:rPr lang="en-US" altLang="zh-CN" sz="1200">
                <a:solidFill>
                  <a:srgbClr val="000000"/>
                </a:solidFill>
                <a:ea typeface="微软雅黑" panose="020B0503020204020204" charset="-122"/>
                <a:cs typeface="+mn-lt"/>
              </a:rPr>
              <a:t>, 110602 (2015).</a:t>
            </a:r>
            <a:endParaRPr lang="en-US" altLang="zh-CN" sz="1200">
              <a:solidFill>
                <a:srgbClr val="000000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86410" y="1933575"/>
            <a:ext cx="14490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大尺度</a:t>
            </a:r>
            <a:endParaRPr lang="zh-CN" altLang="en-US" sz="1600"/>
          </a:p>
        </p:txBody>
      </p:sp>
      <p:sp>
        <p:nvSpPr>
          <p:cNvPr id="23" name="文本框 22"/>
          <p:cNvSpPr txBox="1"/>
          <p:nvPr/>
        </p:nvSpPr>
        <p:spPr>
          <a:xfrm>
            <a:off x="1233170" y="2364740"/>
            <a:ext cx="561213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200">
                <a:solidFill>
                  <a:srgbClr val="000000"/>
                </a:solidFill>
                <a:ea typeface="微软雅黑" panose="020B0503020204020204" charset="-122"/>
                <a:cs typeface="+mn-lt"/>
              </a:rPr>
              <a:t>S. Ngo, A. Peshkov, I. S. Aranson, E. Bertin, F. Ginelli, and H. Chat´e, Phys. Rev. Lett. </a:t>
            </a:r>
            <a:r>
              <a:rPr lang="en-US" altLang="zh-CN" sz="1200" b="1">
                <a:solidFill>
                  <a:srgbClr val="000000"/>
                </a:solidFill>
                <a:ea typeface="微软雅黑" panose="020B0503020204020204" charset="-122"/>
                <a:cs typeface="+mn-lt"/>
              </a:rPr>
              <a:t>113</a:t>
            </a:r>
            <a:r>
              <a:rPr lang="en-US" altLang="zh-CN" sz="1200">
                <a:solidFill>
                  <a:srgbClr val="000000"/>
                </a:solidFill>
                <a:ea typeface="微软雅黑" panose="020B0503020204020204" charset="-122"/>
                <a:cs typeface="+mn-lt"/>
              </a:rPr>
              <a:t>, 038302 (2014). </a:t>
            </a:r>
            <a:endParaRPr lang="en-US" altLang="zh-CN" sz="1200">
              <a:solidFill>
                <a:srgbClr val="000000"/>
              </a:solidFill>
              <a:ea typeface="微软雅黑" panose="020B0503020204020204" charset="-122"/>
              <a:cs typeface="+mn-lt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8300" y="2009140"/>
            <a:ext cx="1804670" cy="26733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3702685" y="19580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chemeClr val="accent6"/>
                </a:solidFill>
                <a:ea typeface="微软雅黑" panose="020B0503020204020204" charset="-122"/>
                <a:cs typeface="+mn-lt"/>
              </a:rPr>
              <a:t>(2D</a:t>
            </a:r>
            <a:r>
              <a:rPr lang="en-US" altLang="zh-CN" sz="1600" i="1">
                <a:solidFill>
                  <a:schemeClr val="accent6"/>
                </a:solidFill>
                <a:ea typeface="微软雅黑" panose="020B0503020204020204" charset="-122"/>
                <a:cs typeface="+mn-lt"/>
              </a:rPr>
              <a:t> </a:t>
            </a:r>
            <a:r>
              <a:rPr lang="en-US" altLang="zh-CN" sz="1600">
                <a:solidFill>
                  <a:schemeClr val="accent6"/>
                </a:solidFill>
                <a:ea typeface="微软雅黑" panose="020B0503020204020204" charset="-122"/>
                <a:cs typeface="+mn-lt"/>
              </a:rPr>
              <a:t>nematic Vicsek model)</a:t>
            </a:r>
            <a:endParaRPr lang="en-US" altLang="zh-CN" sz="1600">
              <a:solidFill>
                <a:schemeClr val="accent6"/>
              </a:solidFill>
              <a:ea typeface="微软雅黑" panose="020B0503020204020204" charset="-122"/>
              <a:cs typeface="+mn-lt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9480" y="2905760"/>
            <a:ext cx="1121410" cy="28956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6320" y="2927985"/>
            <a:ext cx="1014095" cy="254000"/>
          </a:xfrm>
          <a:prstGeom prst="rect">
            <a:avLst/>
          </a:prstGeom>
        </p:spPr>
      </p:pic>
      <p:cxnSp>
        <p:nvCxnSpPr>
          <p:cNvPr id="29" name="直接连接符 28"/>
          <p:cNvCxnSpPr/>
          <p:nvPr/>
        </p:nvCxnSpPr>
        <p:spPr>
          <a:xfrm flipV="1">
            <a:off x="212090" y="3355340"/>
            <a:ext cx="11548110" cy="5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285115" y="741680"/>
            <a:ext cx="2022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粒子数涨落</a:t>
            </a:r>
            <a:endParaRPr lang="zh-CN" altLang="en-US" b="1"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85115" y="3474720"/>
            <a:ext cx="1390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结构</a:t>
            </a:r>
            <a:r>
              <a:rPr lang="zh-CN" altLang="en-US" b="1"/>
              <a:t>因子</a:t>
            </a:r>
            <a:endParaRPr lang="zh-CN" altLang="en-US" b="1"/>
          </a:p>
        </p:txBody>
      </p:sp>
      <p:sp>
        <p:nvSpPr>
          <p:cNvPr id="33" name="文本框 32"/>
          <p:cNvSpPr txBox="1"/>
          <p:nvPr/>
        </p:nvSpPr>
        <p:spPr>
          <a:xfrm>
            <a:off x="2059305" y="3966845"/>
            <a:ext cx="24765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角度</a:t>
            </a:r>
            <a:r>
              <a:rPr lang="zh-CN" altLang="en-US" sz="1600"/>
              <a:t>平均</a:t>
            </a:r>
            <a:endParaRPr lang="zh-CN" altLang="en-US" sz="1600"/>
          </a:p>
        </p:txBody>
      </p:sp>
      <p:grpSp>
        <p:nvGrpSpPr>
          <p:cNvPr id="37" name="组合 36"/>
          <p:cNvGrpSpPr/>
          <p:nvPr/>
        </p:nvGrpSpPr>
        <p:grpSpPr>
          <a:xfrm>
            <a:off x="815340" y="5376545"/>
            <a:ext cx="1181100" cy="316865"/>
            <a:chOff x="1155" y="7352"/>
            <a:chExt cx="1925" cy="528"/>
          </a:xfrm>
        </p:grpSpPr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55" y="7352"/>
              <a:ext cx="1163" cy="528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18" y="7426"/>
              <a:ext cx="762" cy="397"/>
            </a:xfrm>
            <a:prstGeom prst="rect">
              <a:avLst/>
            </a:prstGeom>
          </p:spPr>
        </p:pic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6450" y="5822315"/>
            <a:ext cx="1383030" cy="32766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2276475" y="5337810"/>
            <a:ext cx="2063750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chemeClr val="accent1"/>
                </a:solidFill>
              </a:rPr>
              <a:t>超均匀</a:t>
            </a:r>
            <a:endParaRPr lang="zh-CN" altLang="en-US" sz="1600">
              <a:solidFill>
                <a:schemeClr val="accent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572385" y="5817870"/>
            <a:ext cx="16459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6"/>
                </a:solidFill>
              </a:rPr>
              <a:t>巨涨落</a:t>
            </a:r>
            <a:endParaRPr lang="zh-CN" altLang="en-US" sz="1600">
              <a:solidFill>
                <a:schemeClr val="accent6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14815" y="739775"/>
            <a:ext cx="244538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48800" y="3442335"/>
            <a:ext cx="1633855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4610"/>
            <a:ext cx="60064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流体力学理论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310" y="3432810"/>
            <a:ext cx="3380740" cy="29464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1527175" y="1320165"/>
            <a:ext cx="8201660" cy="1546225"/>
            <a:chOff x="1796" y="2926"/>
            <a:chExt cx="12916" cy="2435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2" y="2926"/>
              <a:ext cx="10520" cy="2435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796" y="3022"/>
              <a:ext cx="27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/>
                <a:t>活性标量场</a:t>
              </a:r>
              <a:endParaRPr lang="zh-CN" altLang="en-US" b="1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796" y="3850"/>
              <a:ext cx="2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/>
                <a:t>密度标量场</a:t>
              </a:r>
              <a:endParaRPr lang="zh-CN" altLang="en-US" b="1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796" y="4765"/>
              <a:ext cx="211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/>
                <a:t>向列张量场</a:t>
              </a:r>
              <a:endParaRPr lang="zh-CN" altLang="en-US" b="1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547360" y="3417570"/>
            <a:ext cx="3510280" cy="337185"/>
            <a:chOff x="7730" y="6502"/>
            <a:chExt cx="5528" cy="531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0" y="6592"/>
              <a:ext cx="267" cy="441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7978" y="6502"/>
              <a:ext cx="528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高斯噪声</a:t>
              </a:r>
              <a:r>
                <a:rPr lang="zh-CN" altLang="en-US" sz="1600"/>
                <a:t>场</a:t>
              </a:r>
              <a:endParaRPr lang="zh-CN" altLang="en-US" sz="160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40385" y="4570730"/>
            <a:ext cx="7865745" cy="936625"/>
            <a:chOff x="965" y="6488"/>
            <a:chExt cx="12387" cy="1475"/>
          </a:xfrm>
        </p:grpSpPr>
        <p:sp>
          <p:nvSpPr>
            <p:cNvPr id="22" name="文本框 21"/>
            <p:cNvSpPr txBox="1"/>
            <p:nvPr/>
          </p:nvSpPr>
          <p:spPr>
            <a:xfrm>
              <a:off x="7485" y="6528"/>
              <a:ext cx="586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；有噪声，临界密度会</a:t>
              </a:r>
              <a:r>
                <a:rPr lang="zh-CN" altLang="en-US" sz="1600"/>
                <a:t>低于</a:t>
              </a:r>
              <a:endParaRPr lang="zh-CN" altLang="en-US" sz="1600"/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965" y="6488"/>
              <a:ext cx="11464" cy="1475"/>
              <a:chOff x="965" y="6488"/>
              <a:chExt cx="11464" cy="1475"/>
            </a:xfrm>
          </p:grpSpPr>
          <p:pic>
            <p:nvPicPr>
              <p:cNvPr id="18" name="图片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62" y="6488"/>
                <a:ext cx="1619" cy="571"/>
              </a:xfrm>
              <a:prstGeom prst="rect">
                <a:avLst/>
              </a:prstGeom>
            </p:spPr>
          </p:pic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6" y="7433"/>
                <a:ext cx="2608" cy="530"/>
              </a:xfrm>
              <a:prstGeom prst="rect">
                <a:avLst/>
              </a:prstGeom>
            </p:spPr>
          </p:pic>
          <p:sp>
            <p:nvSpPr>
              <p:cNvPr id="20" name="文本框 19"/>
              <p:cNvSpPr txBox="1"/>
              <p:nvPr/>
            </p:nvSpPr>
            <p:spPr>
              <a:xfrm>
                <a:off x="965" y="6528"/>
                <a:ext cx="5628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/>
                  <a:t>无噪声，吸收态相变临界</a:t>
                </a:r>
                <a:r>
                  <a:rPr lang="zh-CN" altLang="en-US" sz="1600"/>
                  <a:t>密度</a:t>
                </a:r>
                <a:endParaRPr lang="zh-CN" altLang="en-US" sz="1600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5167" y="7412"/>
                <a:ext cx="651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600"/>
                  <a:t>，有序向列</a:t>
                </a:r>
                <a:r>
                  <a:rPr lang="zh-CN" altLang="en-US" sz="1600"/>
                  <a:t>相</a:t>
                </a:r>
                <a:endParaRPr lang="zh-CN" altLang="en-US" sz="1600"/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83" y="6576"/>
                <a:ext cx="746" cy="483"/>
              </a:xfrm>
              <a:prstGeom prst="rect">
                <a:avLst/>
              </a:prstGeom>
            </p:spPr>
          </p:pic>
        </p:grpSp>
      </p:grpSp>
      <p:cxnSp>
        <p:nvCxnSpPr>
          <p:cNvPr id="24" name="直接连接符 23"/>
          <p:cNvCxnSpPr/>
          <p:nvPr/>
        </p:nvCxnSpPr>
        <p:spPr>
          <a:xfrm>
            <a:off x="5038090" y="1824355"/>
            <a:ext cx="188404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481955" y="1013460"/>
            <a:ext cx="15671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反应项</a:t>
            </a:r>
            <a:endParaRPr lang="zh-CN" altLang="en-US" sz="1600">
              <a:solidFill>
                <a:schemeClr val="accent2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 flipV="1">
            <a:off x="4140835" y="2331720"/>
            <a:ext cx="2654300" cy="12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7049135" y="1914525"/>
            <a:ext cx="896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守恒场</a:t>
            </a:r>
            <a:endParaRPr lang="zh-CN" altLang="en-US">
              <a:solidFill>
                <a:schemeClr val="accent2"/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4186555" y="2875280"/>
            <a:ext cx="194754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4747895" y="2992755"/>
            <a:ext cx="2464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</a:rPr>
              <a:t>对齐，</a:t>
            </a:r>
            <a:r>
              <a:rPr lang="en-US" altLang="zh-CN">
                <a:solidFill>
                  <a:schemeClr val="accent2"/>
                </a:solidFill>
              </a:rPr>
              <a:t>Landau-like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40385" y="5170805"/>
            <a:ext cx="9150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如果</a:t>
            </a:r>
            <a:endParaRPr lang="zh-CN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5941" y="54878"/>
            <a:ext cx="363288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流体力学理论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301625" y="762635"/>
            <a:ext cx="5962650" cy="1755775"/>
            <a:chOff x="2815" y="1306"/>
            <a:chExt cx="9390" cy="276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429" y="1701"/>
              <a:ext cx="6777" cy="2370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2815" y="1306"/>
              <a:ext cx="434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/>
                <a:t>假设有解</a:t>
              </a:r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37820" y="2487295"/>
            <a:ext cx="5149850" cy="1574165"/>
            <a:chOff x="2729" y="4234"/>
            <a:chExt cx="8110" cy="2479"/>
          </a:xfrm>
        </p:grpSpPr>
        <p:sp>
          <p:nvSpPr>
            <p:cNvPr id="7" name="文本框 6"/>
            <p:cNvSpPr txBox="1"/>
            <p:nvPr/>
          </p:nvSpPr>
          <p:spPr>
            <a:xfrm>
              <a:off x="2729" y="4234"/>
              <a:ext cx="52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/>
                <a:t>一阶微扰，线性</a:t>
              </a:r>
              <a:r>
                <a:rPr lang="zh-CN" altLang="en-US"/>
                <a:t>分析</a:t>
              </a:r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29" y="4837"/>
              <a:ext cx="5410" cy="1876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426720" y="4493895"/>
            <a:ext cx="4388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进行时空傅里叶变换，</a:t>
            </a:r>
            <a:endParaRPr lang="zh-CN" altLang="en-US"/>
          </a:p>
          <a:p>
            <a:pPr indent="457200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577850" y="5104765"/>
            <a:ext cx="4909185" cy="370840"/>
            <a:chOff x="7414" y="6950"/>
            <a:chExt cx="7731" cy="58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14" y="6950"/>
              <a:ext cx="1539" cy="58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01" y="6950"/>
              <a:ext cx="6145" cy="575"/>
            </a:xfrm>
            <a:prstGeom prst="rect">
              <a:avLst/>
            </a:prstGeom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0" y="1249680"/>
            <a:ext cx="2120900" cy="4032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395" y="1765300"/>
            <a:ext cx="5517515" cy="37211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5705" y="2235835"/>
            <a:ext cx="3046730" cy="81851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2775" y="4270375"/>
            <a:ext cx="2359660" cy="3194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459855" y="692785"/>
            <a:ext cx="6096000" cy="444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求解三元一次方程组，</a:t>
            </a:r>
            <a:endParaRPr lang="zh-CN" altLang="en-US"/>
          </a:p>
          <a:p>
            <a:pPr indent="457200"/>
            <a:endParaRPr lang="zh-CN" altLang="en-US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459855" y="374713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等时傅里叶变换</a:t>
            </a:r>
            <a:endParaRPr lang="zh-CN" altLang="en-US"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0350" y="4697095"/>
            <a:ext cx="5496560" cy="466725"/>
          </a:xfrm>
          <a:prstGeom prst="rect">
            <a:avLst/>
          </a:prstGeom>
        </p:spPr>
      </p:pic>
      <p:cxnSp>
        <p:nvCxnSpPr>
          <p:cNvPr id="22" name="直接连接符 21"/>
          <p:cNvCxnSpPr/>
          <p:nvPr/>
        </p:nvCxnSpPr>
        <p:spPr>
          <a:xfrm>
            <a:off x="6268085" y="724535"/>
            <a:ext cx="8890" cy="5983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0430" y="4222750"/>
            <a:ext cx="796290" cy="3670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5941" y="54878"/>
            <a:ext cx="363288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流体力学理论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90" y="1118235"/>
            <a:ext cx="8528050" cy="148717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315" y="2905760"/>
            <a:ext cx="8416925" cy="73406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412750" y="806450"/>
            <a:ext cx="1493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结果</a:t>
            </a:r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rcRect l="49491"/>
          <a:stretch>
            <a:fillRect/>
          </a:stretch>
        </p:blipFill>
        <p:spPr>
          <a:xfrm>
            <a:off x="7186930" y="3782695"/>
            <a:ext cx="2668270" cy="262064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5" y="3865880"/>
            <a:ext cx="2905125" cy="109283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4123690" y="3976370"/>
            <a:ext cx="2004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6"/>
                </a:solidFill>
              </a:rPr>
              <a:t>巨涨落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260850" y="4486910"/>
            <a:ext cx="1866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超均匀</a:t>
            </a:r>
            <a:endParaRPr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5941" y="54878"/>
            <a:ext cx="363288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minimal theory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300" y="812800"/>
            <a:ext cx="3223895" cy="4546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080635" y="855980"/>
            <a:ext cx="3375660" cy="422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长时</a:t>
            </a:r>
            <a:r>
              <a:rPr lang="zh-CN" altLang="en-US"/>
              <a:t>极限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830705" y="1470025"/>
            <a:ext cx="8497570" cy="1470025"/>
            <a:chOff x="4208" y="2578"/>
            <a:chExt cx="13686" cy="226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8" y="2662"/>
              <a:ext cx="13687" cy="2178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8689" y="2662"/>
              <a:ext cx="1597" cy="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0673" y="2662"/>
              <a:ext cx="1188" cy="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5878" y="2578"/>
              <a:ext cx="1908" cy="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6909" y="3298"/>
              <a:ext cx="1597" cy="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7154" y="4018"/>
              <a:ext cx="1920" cy="600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9442" y="3934"/>
              <a:ext cx="1230" cy="907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8640" y="3358"/>
              <a:ext cx="3683" cy="529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705" y="3186430"/>
            <a:ext cx="5353050" cy="770890"/>
          </a:xfrm>
          <a:prstGeom prst="rect">
            <a:avLst/>
          </a:prstGeom>
        </p:spPr>
      </p:pic>
      <p:sp>
        <p:nvSpPr>
          <p:cNvPr id="17" name="下箭头 16"/>
          <p:cNvSpPr/>
          <p:nvPr/>
        </p:nvSpPr>
        <p:spPr>
          <a:xfrm rot="16200000">
            <a:off x="756285" y="3219450"/>
            <a:ext cx="342900" cy="7620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4161790" y="4006850"/>
            <a:ext cx="975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5480050" y="3945890"/>
            <a:ext cx="1661160" cy="1524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442970" y="4056380"/>
            <a:ext cx="4618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superconservative noise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31610" y="4056380"/>
            <a:ext cx="3181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6"/>
                </a:solidFill>
              </a:rPr>
              <a:t>nonconserved noise</a:t>
            </a:r>
            <a:endParaRPr lang="zh-CN" altLang="en-US" b="1">
              <a:solidFill>
                <a:schemeClr val="accent6"/>
              </a:solidFill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545" y="4333240"/>
            <a:ext cx="593090" cy="58928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210" y="4414520"/>
            <a:ext cx="565785" cy="4318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49935" y="5217795"/>
            <a:ext cx="74053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/>
              <a:t>来自</a:t>
            </a:r>
            <a:r>
              <a:rPr lang="zh-CN" altLang="en-US">
                <a:solidFill>
                  <a:schemeClr val="accent1"/>
                </a:solidFill>
              </a:rPr>
              <a:t>活性场的守恒噪声</a:t>
            </a:r>
            <a:r>
              <a:rPr lang="zh-CN" altLang="en-US"/>
              <a:t>和来自</a:t>
            </a:r>
            <a:r>
              <a:rPr lang="zh-CN" altLang="en-US">
                <a:solidFill>
                  <a:schemeClr val="accent6"/>
                </a:solidFill>
              </a:rPr>
              <a:t>向列横场的非守恒噪声</a:t>
            </a:r>
            <a:r>
              <a:rPr lang="zh-CN" altLang="en-US">
                <a:solidFill>
                  <a:schemeClr val="tx1"/>
                </a:solidFill>
              </a:rPr>
              <a:t>的竞争</a:t>
            </a:r>
            <a:endParaRPr lang="zh-CN" altLang="en-US">
              <a:solidFill>
                <a:schemeClr val="accent6"/>
              </a:solidFill>
            </a:endParaRPr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两噪声可比</a:t>
            </a:r>
            <a:r>
              <a:rPr lang="zh-CN" altLang="en-US"/>
              <a:t>时</a:t>
            </a:r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1605" y="5685155"/>
            <a:ext cx="897255" cy="48196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8255" y="5662295"/>
            <a:ext cx="2764155" cy="11112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051560" y="900430"/>
            <a:ext cx="779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令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586855" y="5771515"/>
            <a:ext cx="2790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守恒噪声，超均匀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795135" y="6236335"/>
            <a:ext cx="2446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6"/>
                </a:solidFill>
              </a:rPr>
              <a:t>非守恒噪声，巨涨落</a:t>
            </a:r>
            <a:endParaRPr lang="zh-CN" altLang="en-US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5941" y="54878"/>
            <a:ext cx="3632887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另一个现象</a:t>
            </a:r>
            <a:endParaRPr lang="zh-CN" altLang="en-US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43535" y="726440"/>
            <a:ext cx="6385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局部巨涨落，</a:t>
            </a:r>
            <a:r>
              <a:rPr lang="zh-CN" altLang="en-US"/>
              <a:t>全局超均匀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20090" y="1358900"/>
            <a:ext cx="10219690" cy="27559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en-US" altLang="zh-CN" sz="1200" b="0" i="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charset="-122"/>
              </a:rPr>
              <a:t>Zhang B, Snezhko A. Hyperuniform active chiral fluids with tunable internal structure[J]. Physical Review Letters, 2022, 128(21): 218002.</a:t>
            </a:r>
            <a:endParaRPr lang="en-US" altLang="zh-CN" sz="1200" b="0" i="0">
              <a:solidFill>
                <a:srgbClr val="222222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8090" y="1818640"/>
            <a:ext cx="2993390" cy="19119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055" y="4763135"/>
            <a:ext cx="3014980" cy="19729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4763135"/>
            <a:ext cx="7033895" cy="1498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936990" y="1979930"/>
            <a:ext cx="2400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梨形</a:t>
            </a:r>
            <a:r>
              <a:rPr lang="en-US" altLang="zh-CN"/>
              <a:t>quincke roller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70230" y="4142105"/>
            <a:ext cx="1072324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200" b="0" i="0">
                <a:solidFill>
                  <a:srgbClr val="222222"/>
                </a:solidFill>
                <a:latin typeface="Arial" panose="020B0604020202020204" pitchFamily="34" charset="0"/>
                <a:ea typeface="微软雅黑" panose="020B0503020204020204" charset="-122"/>
              </a:rPr>
              <a:t>Lei Q L, Ciamarra M P, Ni R. Nonequilibrium strongly hyperuniform fluids of circle active particles with large local density fluctuations[J]. Science advances, 2019, 5(1): eaau7423.</a:t>
            </a:r>
            <a:endParaRPr lang="en-US" altLang="zh-CN" sz="1200" b="0" i="0">
              <a:solidFill>
                <a:srgbClr val="222222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839470" y="1703070"/>
            <a:ext cx="3324225" cy="2141855"/>
            <a:chOff x="1322" y="2682"/>
            <a:chExt cx="6063" cy="4056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2" y="2682"/>
              <a:ext cx="1963" cy="1998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22" y="4724"/>
              <a:ext cx="1918" cy="1945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85" y="2701"/>
              <a:ext cx="1972" cy="1980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00" y="4724"/>
              <a:ext cx="1996" cy="1984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57" y="2701"/>
              <a:ext cx="2028" cy="1995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42" y="4724"/>
              <a:ext cx="1987" cy="2015"/>
            </a:xfrm>
            <a:prstGeom prst="rect">
              <a:avLst/>
            </a:prstGeom>
          </p:spPr>
        </p:pic>
      </p:grpSp>
      <p:sp>
        <p:nvSpPr>
          <p:cNvPr id="21" name="文本框 20"/>
          <p:cNvSpPr txBox="1"/>
          <p:nvPr/>
        </p:nvSpPr>
        <p:spPr>
          <a:xfrm>
            <a:off x="10228580" y="4602480"/>
            <a:ext cx="2038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手性活性</a:t>
            </a:r>
            <a:r>
              <a:rPr lang="zh-CN" altLang="en-US"/>
              <a:t>粒子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09916" y="54878"/>
            <a:ext cx="363288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总结</a:t>
            </a:r>
            <a:endParaRPr lang="en-US" altLang="zh-CN" sz="2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27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2165" y="1045210"/>
            <a:ext cx="10020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耦合活性，向列有序，吸收态相变的最小</a:t>
            </a:r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12165" y="1637665"/>
            <a:ext cx="9415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不同异常密度涨落在不同尺度下共存。局部超均匀，</a:t>
            </a:r>
            <a:r>
              <a:rPr lang="zh-CN" altLang="en-US"/>
              <a:t>全局巨涨落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12165" y="2230120"/>
            <a:ext cx="480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来源于守恒噪声和非守恒噪声的</a:t>
            </a:r>
            <a:r>
              <a:rPr lang="zh-CN" altLang="en-US"/>
              <a:t>竞争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12165" y="2793365"/>
            <a:ext cx="5607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另一种现象：局部巨涨落，全局</a:t>
            </a:r>
            <a:r>
              <a:rPr lang="zh-CN" altLang="en-US"/>
              <a:t>超均匀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PLACING_PICTURE_USER_VIEWPORT" val="{&quot;height&quot;:320,&quot;width&quot;:4704}"/>
</p:tagLst>
</file>

<file path=ppt/tags/tag64.xml><?xml version="1.0" encoding="utf-8"?>
<p:tagLst xmlns:p="http://schemas.openxmlformats.org/presentationml/2006/main">
  <p:tag name="KSO_WM_UNIT_PLACING_PICTURE_USER_VIEWPORT" val="{&quot;height&quot;:338,&quot;width&quot;:4027}"/>
</p:tagLst>
</file>

<file path=ppt/tags/tag65.xml><?xml version="1.0" encoding="utf-8"?>
<p:tagLst xmlns:p="http://schemas.openxmlformats.org/presentationml/2006/main">
  <p:tag name="commondata" val="eyJoZGlkIjoiNDFiNWEyNDFiNzViYWY5MmIwMjg0NmM3ODU1MmU3N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1593</Words>
  <Application>WPS 演示</Application>
  <PresentationFormat>宽屏</PresentationFormat>
  <Paragraphs>257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微软雅黑</vt:lpstr>
      <vt:lpstr>Arial</vt:lpstr>
      <vt:lpstr>Cambria Math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WPS_1601999913</cp:lastModifiedBy>
  <cp:revision>169</cp:revision>
  <dcterms:created xsi:type="dcterms:W3CDTF">2019-06-19T02:08:00Z</dcterms:created>
  <dcterms:modified xsi:type="dcterms:W3CDTF">2025-02-18T12:23:18Z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2052-12.1.0.17827</vt:lpwstr>
  </property>
  <property fmtid="{D5CDD505-2E9C-101B-9397-08002B2CF9AE}" pid="3" name="ICV">
    <vt:lpwstr>3969C91C725549149999EE7BA8A58434_11</vt:lpwstr>
  </property>
</Properties>
</file>
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7" r:id="rId3"/>
    <p:sldId id="268" r:id="rId5"/>
    <p:sldId id="259" r:id="rId6"/>
    <p:sldId id="263" r:id="rId7"/>
    <p:sldId id="260" r:id="rId8"/>
    <p:sldId id="269" r:id="rId9"/>
    <p:sldId id="264" r:id="rId10"/>
    <p:sldId id="267" r:id="rId11"/>
    <p:sldId id="265" r:id="rId12"/>
    <p:sldId id="261" r:id="rId13"/>
    <p:sldId id="262" r:id="rId14"/>
    <p:sldId id="270" r:id="rId15"/>
    <p:sldId id="266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0.png"/><Relationship Id="rId1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3.png"/><Relationship Id="rId3" Type="http://schemas.openxmlformats.org/officeDocument/2006/relationships/image" Target="../media/image3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55706" y="1394234"/>
            <a:ext cx="465489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ctr"/>
            <a:endParaRPr lang="en-US" altLang="zh-CN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8" name="Picture 2" descr="https://gss0.bdstatic.com/-4o3dSag_xI4khGkpoWK1HF6hhy/baike/c0%3Dbaike272%2C5%2C5%2C272%2C90/sign=8a9a0b9d3787e950561afb3e71513826/2fdda3cc7cd98d103d73086f2c3fb80e7aec90cc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95" y="0"/>
            <a:ext cx="1145264" cy="139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 descr="logo-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680" y="-437810"/>
            <a:ext cx="3331845" cy="3074670"/>
          </a:xfrm>
          <a:prstGeom prst="rect">
            <a:avLst/>
          </a:prstGeom>
        </p:spPr>
      </p:pic>
      <p:pic>
        <p:nvPicPr>
          <p:cNvPr id="11" name="图片 10" descr="logo-06 - 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19894"/>
            <a:ext cx="2627948" cy="242458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391150" y="3487420"/>
            <a:ext cx="63957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Daviet R et al.  Physical Review Letters, 2025, 135(4): 047101.</a:t>
            </a:r>
            <a:endParaRPr lang="en-US" altLang="zh-CN" sz="1600"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en-US" altLang="zh-CN" sz="16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62225" y="2106930"/>
            <a:ext cx="79032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Arial" panose="020B0604020202020204" pitchFamily="34" charset="0"/>
                <a:ea typeface="微软雅黑" panose="020B0503020204020204" charset="-122"/>
              </a:rPr>
              <a:t>Kardar-Parisi-Zhang Scaling in Time-Crystalline Matter</a:t>
            </a:r>
            <a:endParaRPr lang="en-US" altLang="zh-CN" sz="2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87390" y="4151630"/>
            <a:ext cx="2619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</a:rPr>
              <a:t>曹溪能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5941" y="50298"/>
            <a:ext cx="3632887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abstract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32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87425" y="1518285"/>
            <a:ext cx="1076769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Forming a continuous-time crystal leads to </a:t>
            </a:r>
            <a:r>
              <a:rPr lang="en-US" altLang="zh-CN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spontaneous symmetry breaking of time-translation invariance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, generating a </a:t>
            </a:r>
            <a:r>
              <a:rPr lang="en-US" altLang="zh-CN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massless Goldstone mode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.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>
                <a:latin typeface="Arial" panose="020B0604020202020204" pitchFamily="34" charset="0"/>
                <a:ea typeface="微软雅黑" panose="020B0503020204020204" charset="-122"/>
              </a:rPr>
              <a:t>Question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: What is the Goldstone mode? what properties it has?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>
                <a:latin typeface="Arial" panose="020B0604020202020204" pitchFamily="34" charset="0"/>
                <a:ea typeface="微软雅黑" panose="020B0503020204020204" charset="-122"/>
              </a:rPr>
              <a:t>Answer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: The Goldstone mode is an angular variable which belongs to </a:t>
            </a:r>
            <a:r>
              <a:rPr lang="en-US" altLang="zh-CN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KPZ universal class</a:t>
            </a:r>
            <a:r>
              <a:rPr lang="en-US" altLang="zh-CN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.</a:t>
            </a:r>
            <a:endParaRPr lang="en-US" altLang="zh-CN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76574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continuous time crystal(CTC)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32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rcRect l="9540" r="9391" b="52789"/>
          <a:stretch>
            <a:fillRect/>
          </a:stretch>
        </p:blipFill>
        <p:spPr>
          <a:xfrm>
            <a:off x="7324090" y="676910"/>
            <a:ext cx="4478655" cy="17087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435" y="4549140"/>
            <a:ext cx="3354705" cy="19246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5580" y="3250565"/>
            <a:ext cx="8771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latin typeface="Arial" panose="020B0604020202020204" pitchFamily="34" charset="0"/>
                <a:ea typeface="微软雅黑" panose="020B0503020204020204" charset="-122"/>
              </a:rPr>
              <a:t>no-go theorem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:CTC cannot exist in equilibrium,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can only in non-equillibrium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0330" y="931545"/>
            <a:ext cx="4282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latin typeface="Arial" panose="020B0604020202020204" pitchFamily="34" charset="0"/>
                <a:ea typeface="微软雅黑" panose="020B0503020204020204" charset="-122"/>
              </a:rPr>
              <a:t>definition:</a:t>
            </a:r>
            <a:endParaRPr lang="en-US" altLang="zh-CN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664970" y="800735"/>
            <a:ext cx="9089390" cy="922020"/>
            <a:chOff x="4335" y="4145"/>
            <a:chExt cx="14314" cy="1452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54" y="4253"/>
              <a:ext cx="1333" cy="701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4335" y="4145"/>
              <a:ext cx="14314" cy="145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fontAlgn="auto">
                <a:lnSpc>
                  <a:spcPct val="150000"/>
                </a:lnSpc>
              </a:pPr>
              <a:r>
                <a:rPr lang="en-US" altLang="zh-CN">
                  <a:latin typeface="Arial" panose="020B0604020202020204" pitchFamily="34" charset="0"/>
                  <a:ea typeface="微软雅黑" panose="020B0503020204020204" charset="-122"/>
                </a:rPr>
                <a:t>coarse-grained order parameter               </a:t>
              </a:r>
              <a:endParaRPr lang="en-US" altLang="zh-CN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</a:pPr>
              <a:r>
                <a:rPr lang="en-US" altLang="zh-CN">
                  <a:latin typeface="Arial" panose="020B0604020202020204" pitchFamily="34" charset="0"/>
                  <a:ea typeface="微软雅黑" panose="020B0503020204020204" charset="-122"/>
                </a:rPr>
                <a:t>is time-periodic with minimal period T</a:t>
              </a:r>
              <a:endParaRPr lang="en-US" altLang="zh-CN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rcRect r="-16640"/>
          <a:stretch>
            <a:fillRect/>
          </a:stretch>
        </p:blipFill>
        <p:spPr>
          <a:xfrm>
            <a:off x="4847590" y="3625850"/>
            <a:ext cx="3496310" cy="659130"/>
          </a:xfrm>
          <a:prstGeom prst="rect">
            <a:avLst/>
          </a:prstGeom>
        </p:spPr>
      </p:pic>
      <p:grpSp>
        <p:nvGrpSpPr>
          <p:cNvPr id="24" name="组合 23"/>
          <p:cNvGrpSpPr/>
          <p:nvPr/>
        </p:nvGrpSpPr>
        <p:grpSpPr>
          <a:xfrm>
            <a:off x="464185" y="4261485"/>
            <a:ext cx="7743190" cy="568960"/>
            <a:chOff x="731" y="6711"/>
            <a:chExt cx="12194" cy="896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68" y="6711"/>
              <a:ext cx="1219" cy="896"/>
            </a:xfrm>
            <a:prstGeom prst="rect">
              <a:avLst/>
            </a:prstGeom>
          </p:spPr>
        </p:pic>
        <p:grpSp>
          <p:nvGrpSpPr>
            <p:cNvPr id="23" name="组合 22"/>
            <p:cNvGrpSpPr/>
            <p:nvPr/>
          </p:nvGrpSpPr>
          <p:grpSpPr>
            <a:xfrm>
              <a:off x="731" y="6889"/>
              <a:ext cx="12194" cy="580"/>
              <a:chOff x="840" y="7735"/>
              <a:chExt cx="12194" cy="580"/>
            </a:xfrm>
          </p:grpSpPr>
          <p:sp>
            <p:nvSpPr>
              <p:cNvPr id="16" name="文本框 15"/>
              <p:cNvSpPr txBox="1"/>
              <p:nvPr/>
            </p:nvSpPr>
            <p:spPr>
              <a:xfrm>
                <a:off x="840" y="7735"/>
                <a:ext cx="7624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equilibrium state</a:t>
                </a:r>
                <a:r>
                  <a:rPr lang="zh-CN" altLang="en-US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（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              </a:t>
                </a:r>
                <a:r>
                  <a:rPr lang="zh-CN" altLang="en-US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）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sym typeface="+mn-ea"/>
                  </a:rPr>
                  <a:t> </a:t>
                </a:r>
                <a:endParaRPr lang="en-US" altLang="zh-CN">
                  <a:latin typeface="Arial" panose="020B0604020202020204" pitchFamily="34" charset="0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5548" y="7735"/>
                <a:ext cx="748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latin typeface="Arial" panose="020B0604020202020204" pitchFamily="34" charset="0"/>
                    <a:ea typeface="微软雅黑" panose="020B0503020204020204" charset="-122"/>
                  </a:rPr>
                  <a:t>：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</a:rPr>
                  <a:t>fixed point in phase space</a:t>
                </a:r>
                <a:r>
                  <a:rPr lang="zh-CN" altLang="en-US">
                    <a:latin typeface="Arial" panose="020B0604020202020204" pitchFamily="34" charset="0"/>
                    <a:ea typeface="微软雅黑" panose="020B0503020204020204" charset="-122"/>
                  </a:rPr>
                  <a:t>，</a:t>
                </a: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</a:rPr>
                  <a:t>not limit cycle</a:t>
                </a:r>
                <a:endParaRPr lang="en-US" altLang="zh-CN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19" name="文本框 18"/>
          <p:cNvSpPr txBox="1"/>
          <p:nvPr/>
        </p:nvSpPr>
        <p:spPr>
          <a:xfrm>
            <a:off x="3352165" y="2595880"/>
            <a:ext cx="2022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CTC = limit cycle</a:t>
            </a:r>
            <a:r>
              <a:rPr lang="en-US" altLang="zh-CN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endParaRPr lang="en-US" altLang="zh-CN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4185" y="1795145"/>
            <a:ext cx="6600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perspective in 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order parameter phase space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limit cycle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rcRect t="8502" r="3966"/>
          <a:stretch>
            <a:fillRect/>
          </a:stretch>
        </p:blipFill>
        <p:spPr>
          <a:xfrm>
            <a:off x="9091930" y="2385695"/>
            <a:ext cx="2180590" cy="208597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18465" y="38373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perspective in 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order parameter phase space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82956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goldstone mode(chronon)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32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38612" r="-2399"/>
          <a:stretch>
            <a:fillRect/>
          </a:stretch>
        </p:blipFill>
        <p:spPr>
          <a:xfrm>
            <a:off x="1874520" y="2655570"/>
            <a:ext cx="7207250" cy="24993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86080" y="824865"/>
            <a:ext cx="115335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group theory perspective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rPr>
              <a:t>: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742950" lvl="1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time-translation invariance 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spontaneous symmetry break from continuous to discrete 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515" y="1456690"/>
            <a:ext cx="709295" cy="2495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88365" y="1882140"/>
            <a:ext cx="5157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goldstone mode’s symmetry: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235" y="1893570"/>
            <a:ext cx="3079750" cy="35687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287395" y="5669280"/>
            <a:ext cx="82143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goldstone mode is an angular variable</a:t>
            </a:r>
            <a:endParaRPr lang="en-US" altLang="zh-CN" sz="20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714565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goldstone mode(chronon)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32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6805" y="1238885"/>
            <a:ext cx="3335655" cy="19138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6210" y="807720"/>
            <a:ext cx="4003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ea typeface="微软雅黑" panose="020B0503020204020204" charset="-122"/>
              </a:rPr>
              <a:t>phase space perspective:</a:t>
            </a:r>
            <a:endParaRPr lang="en-US" altLang="zh-CN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265" y="3559175"/>
            <a:ext cx="3868420" cy="4965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782695" y="4724400"/>
            <a:ext cx="2799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goldstone mode “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chronon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”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 r="-16640"/>
          <a:stretch>
            <a:fillRect/>
          </a:stretch>
        </p:blipFill>
        <p:spPr>
          <a:xfrm>
            <a:off x="3034665" y="625475"/>
            <a:ext cx="3496310" cy="659130"/>
          </a:xfrm>
          <a:prstGeom prst="rect">
            <a:avLst/>
          </a:prstGeom>
        </p:spPr>
      </p:pic>
      <p:grpSp>
        <p:nvGrpSpPr>
          <p:cNvPr id="24" name="组合 23"/>
          <p:cNvGrpSpPr/>
          <p:nvPr/>
        </p:nvGrpSpPr>
        <p:grpSpPr>
          <a:xfrm>
            <a:off x="338455" y="1238885"/>
            <a:ext cx="7851099" cy="922020"/>
            <a:chOff x="690" y="1774"/>
            <a:chExt cx="12364" cy="1452"/>
          </a:xfrm>
        </p:grpSpPr>
        <p:sp>
          <p:nvSpPr>
            <p:cNvPr id="14" name="文本框 13"/>
            <p:cNvSpPr txBox="1"/>
            <p:nvPr/>
          </p:nvSpPr>
          <p:spPr>
            <a:xfrm>
              <a:off x="690" y="1774"/>
              <a:ext cx="12138" cy="145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fontAlgn="auto">
                <a:lnSpc>
                  <a:spcPct val="150000"/>
                </a:lnSpc>
              </a:pPr>
              <a:r>
                <a:rPr lang="en-US" altLang="zh-CN">
                  <a:latin typeface="Arial" panose="020B0604020202020204" pitchFamily="34" charset="0"/>
                  <a:ea typeface="微软雅黑" panose="020B0503020204020204" charset="-122"/>
                </a:rPr>
                <a:t>          traces out a </a:t>
              </a:r>
              <a:r>
                <a:rPr lang="en-US" altLang="zh-CN">
                  <a:solidFill>
                    <a:srgbClr val="231F20"/>
                  </a:solidFill>
                  <a:latin typeface="Arial" panose="020B0604020202020204" pitchFamily="34" charset="0"/>
                  <a:ea typeface="AdvOT483a8203"/>
                  <a:cs typeface="Arial" panose="020B0604020202020204" pitchFamily="34" charset="0"/>
                  <a:sym typeface="+mn-ea"/>
                </a:rPr>
                <a:t>one-dimensional </a:t>
              </a:r>
              <a:r>
                <a:rPr lang="en-US" altLang="zh-CN">
                  <a:latin typeface="Arial" panose="020B0604020202020204" pitchFamily="34" charset="0"/>
                  <a:ea typeface="微软雅黑" panose="020B0503020204020204" charset="-122"/>
                </a:rPr>
                <a:t>closed orbit with period T, which can be parametrized by an angular variable  </a:t>
              </a:r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4" y="2020"/>
              <a:ext cx="893" cy="436"/>
            </a:xfrm>
            <a:prstGeom prst="rect">
              <a:avLst/>
            </a:prstGeom>
          </p:spPr>
        </p:pic>
        <p:grpSp>
          <p:nvGrpSpPr>
            <p:cNvPr id="23" name="组合 22"/>
            <p:cNvGrpSpPr/>
            <p:nvPr/>
          </p:nvGrpSpPr>
          <p:grpSpPr>
            <a:xfrm>
              <a:off x="7220" y="2672"/>
              <a:ext cx="5834" cy="461"/>
              <a:chOff x="-104" y="6524"/>
              <a:chExt cx="18201" cy="1310"/>
            </a:xfrm>
          </p:grpSpPr>
          <p:pic>
            <p:nvPicPr>
              <p:cNvPr id="21" name="图片 20"/>
              <p:cNvPicPr>
                <a:picLocks noChangeAspect="1"/>
              </p:cNvPicPr>
              <p:nvPr/>
            </p:nvPicPr>
            <p:blipFill>
              <a:blip r:embed="rId5"/>
              <a:srcRect t="10186"/>
              <a:stretch>
                <a:fillRect/>
              </a:stretch>
            </p:blipFill>
            <p:spPr>
              <a:xfrm>
                <a:off x="-104" y="6524"/>
                <a:ext cx="14170" cy="1304"/>
              </a:xfrm>
              <a:prstGeom prst="rect">
                <a:avLst/>
              </a:prstGeom>
            </p:spPr>
          </p:pic>
          <p:pic>
            <p:nvPicPr>
              <p:cNvPr id="22" name="图片 2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066" y="6524"/>
                <a:ext cx="4031" cy="1310"/>
              </a:xfrm>
              <a:prstGeom prst="rect">
                <a:avLst/>
              </a:prstGeom>
            </p:spPr>
          </p:pic>
        </p:grpSp>
      </p:grpSp>
      <p:grpSp>
        <p:nvGrpSpPr>
          <p:cNvPr id="27" name="组合 26"/>
          <p:cNvGrpSpPr/>
          <p:nvPr/>
        </p:nvGrpSpPr>
        <p:grpSpPr>
          <a:xfrm>
            <a:off x="410845" y="2407920"/>
            <a:ext cx="8682990" cy="368300"/>
            <a:chOff x="1357" y="4068"/>
            <a:chExt cx="13674" cy="580"/>
          </a:xfrm>
        </p:grpSpPr>
        <p:sp>
          <p:nvSpPr>
            <p:cNvPr id="25" name="文本框 24"/>
            <p:cNvSpPr txBox="1"/>
            <p:nvPr/>
          </p:nvSpPr>
          <p:spPr>
            <a:xfrm>
              <a:off x="1357" y="4068"/>
              <a:ext cx="1367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latin typeface="Arial" panose="020B0604020202020204" pitchFamily="34" charset="0"/>
                  <a:cs typeface="Arial" panose="020B0604020202020204" pitchFamily="34" charset="0"/>
                </a:rPr>
                <a:t>fluctuation along      is </a:t>
              </a:r>
              <a:r>
                <a:rPr lang="en-US" altLang="zh-CN" b="1">
                  <a:latin typeface="Arial" panose="020B0604020202020204" pitchFamily="34" charset="0"/>
                  <a:cs typeface="Arial" panose="020B0604020202020204" pitchFamily="34" charset="0"/>
                </a:rPr>
                <a:t>gapless</a:t>
              </a:r>
              <a:r>
                <a:rPr lang="en-US" altLang="zh-CN">
                  <a:latin typeface="Arial" panose="020B0604020202020204" pitchFamily="34" charset="0"/>
                  <a:cs typeface="Arial" panose="020B0604020202020204" pitchFamily="34" charset="0"/>
                </a:rPr>
                <a:t> (goldstone mode),perpendicular is gapped </a:t>
              </a:r>
              <a:endParaRPr lang="en-US" altLang="zh-C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48" y="4206"/>
              <a:ext cx="401" cy="404"/>
            </a:xfrm>
            <a:prstGeom prst="rect">
              <a:avLst/>
            </a:prstGeom>
          </p:spPr>
        </p:pic>
      </p:grpSp>
      <p:grpSp>
        <p:nvGrpSpPr>
          <p:cNvPr id="29" name="组合 28"/>
          <p:cNvGrpSpPr/>
          <p:nvPr/>
        </p:nvGrpSpPr>
        <p:grpSpPr>
          <a:xfrm>
            <a:off x="543560" y="3042602"/>
            <a:ext cx="7501890" cy="368600"/>
            <a:chOff x="856" y="4791"/>
            <a:chExt cx="11814" cy="581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6" y="4823"/>
              <a:ext cx="2129" cy="518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2985" y="4791"/>
              <a:ext cx="9685" cy="58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>
                  <a:solidFill>
                    <a:srgbClr val="231F20"/>
                  </a:solidFill>
                  <a:latin typeface="Arial" panose="020B0604020202020204" pitchFamily="34" charset="0"/>
                  <a:ea typeface="AdvOT483a8203"/>
                  <a:cs typeface="Arial" panose="020B0604020202020204" pitchFamily="34" charset="0"/>
                </a:rPr>
                <a:t>which fluctuates on timescales much larger than </a:t>
              </a:r>
              <a:r>
                <a:rPr lang="en-US" altLang="zh-CN">
                  <a:solidFill>
                    <a:srgbClr val="231F20"/>
                  </a:solidFill>
                  <a:latin typeface="Arial" panose="020B0604020202020204" pitchFamily="34" charset="0"/>
                  <a:ea typeface="AdvTTd0b5fdba.I"/>
                  <a:cs typeface="Arial" panose="020B0604020202020204" pitchFamily="34" charset="0"/>
                </a:rPr>
                <a:t>T</a:t>
              </a:r>
              <a:endParaRPr lang="en-US" altLang="zh-CN">
                <a:solidFill>
                  <a:srgbClr val="231F20"/>
                </a:solidFill>
                <a:latin typeface="Arial" panose="020B0604020202020204" pitchFamily="34" charset="0"/>
                <a:ea typeface="AdvTTd0b5fdba.I"/>
                <a:cs typeface="Arial" panose="020B0604020202020204" pitchFamily="34" charset="0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430530" y="3687445"/>
            <a:ext cx="401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dynamic expression: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4693920" y="4050030"/>
            <a:ext cx="43815" cy="5187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95338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effective field theory for chronon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32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18465" y="752475"/>
            <a:ext cx="5923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Arial" panose="020B0604020202020204" pitchFamily="34" charset="0"/>
                <a:ea typeface="微软雅黑" panose="020B0503020204020204" charset="-122"/>
              </a:rPr>
              <a:t>kpz </a:t>
            </a:r>
            <a:endParaRPr lang="en-US" altLang="zh-CN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5655" y="1120775"/>
            <a:ext cx="3498215" cy="6724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35" y="2027555"/>
            <a:ext cx="785495" cy="57658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27685" y="213137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                break detailed balance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r="2390"/>
          <a:stretch>
            <a:fillRect/>
          </a:stretch>
        </p:blipFill>
        <p:spPr>
          <a:xfrm>
            <a:off x="2010410" y="2713355"/>
            <a:ext cx="3117215" cy="5461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27685" y="2838450"/>
            <a:ext cx="2989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scaling 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945" y="3505200"/>
            <a:ext cx="9168130" cy="23615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9533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effective field theory for chronon</a:t>
            </a:r>
            <a:endParaRPr lang="zh-CN" altLang="en-US" sz="32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05435" y="887095"/>
            <a:ext cx="10814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process: write down an action including all terms ,then drop those prohibited/irrelevant terms 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6220" y="1424305"/>
            <a:ext cx="4138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maximum MSRJD action: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0250" y="1268730"/>
            <a:ext cx="3554095" cy="6781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270" y="1965325"/>
            <a:ext cx="7077710" cy="4984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515" y="2452370"/>
            <a:ext cx="4307205" cy="443865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876935" y="3259455"/>
            <a:ext cx="10483215" cy="3113405"/>
            <a:chOff x="0" y="2098"/>
            <a:chExt cx="16509" cy="4903"/>
          </a:xfrm>
        </p:grpSpPr>
        <p:sp>
          <p:nvSpPr>
            <p:cNvPr id="11" name="文本框 10"/>
            <p:cNvSpPr txBox="1"/>
            <p:nvPr/>
          </p:nvSpPr>
          <p:spPr>
            <a:xfrm>
              <a:off x="0" y="4909"/>
              <a:ext cx="16509" cy="145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285750" indent="-285750" fontAlgn="auto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>
                  <a:latin typeface="Arial" panose="020B0604020202020204" pitchFamily="34" charset="0"/>
                  <a:cs typeface="Arial" panose="020B0604020202020204" pitchFamily="34" charset="0"/>
                </a:rPr>
                <a:t>Markovianity: long time/wave limit,time/space scale far exceeds that of the memory core.	only allow first-order time derivative and white noise:</a:t>
              </a:r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0" y="2098"/>
              <a:ext cx="11580" cy="4903"/>
              <a:chOff x="1002" y="2167"/>
              <a:chExt cx="11580" cy="4903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1043" y="2167"/>
                <a:ext cx="11539" cy="1302"/>
                <a:chOff x="1043" y="2167"/>
                <a:chExt cx="11539" cy="1302"/>
              </a:xfrm>
            </p:grpSpPr>
            <p:sp>
              <p:nvSpPr>
                <p:cNvPr id="15" name="文本框 14"/>
                <p:cNvSpPr txBox="1"/>
                <p:nvPr/>
              </p:nvSpPr>
              <p:spPr>
                <a:xfrm>
                  <a:off x="1043" y="2249"/>
                  <a:ext cx="7777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CN">
                      <a:latin typeface="Arial" panose="020B0604020202020204" pitchFamily="34" charset="0"/>
                      <a:cs typeface="Arial" panose="020B0604020202020204" pitchFamily="34" charset="0"/>
                    </a:rPr>
                    <a:t>translation symmetry: keep invariant under </a:t>
                  </a:r>
                  <a:endParaRPr lang="en-US" altLang="zh-CN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6" name="图片 15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605" y="2167"/>
                  <a:ext cx="3169" cy="722"/>
                </a:xfrm>
                <a:prstGeom prst="rect">
                  <a:avLst/>
                </a:prstGeom>
              </p:spPr>
            </p:pic>
            <p:sp>
              <p:nvSpPr>
                <p:cNvPr id="17" name="文本框 16"/>
                <p:cNvSpPr txBox="1"/>
                <p:nvPr/>
              </p:nvSpPr>
              <p:spPr>
                <a:xfrm>
                  <a:off x="2550" y="2889"/>
                  <a:ext cx="10032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>
                      <a:latin typeface="Arial" panose="020B0604020202020204" pitchFamily="34" charset="0"/>
                      <a:cs typeface="Arial" panose="020B0604020202020204" pitchFamily="34" charset="0"/>
                    </a:rPr>
                    <a:t>forbbiden terms with undifferentiated </a:t>
                  </a:r>
                  <a:r>
                    <a:rPr lang="zh-CN" altLang="en-US">
                      <a:latin typeface="Arial" panose="020B0604020202020204" pitchFamily="34" charset="0"/>
                      <a:cs typeface="Arial" panose="020B0604020202020204" pitchFamily="34" charset="0"/>
                    </a:rPr>
                    <a:t>𝜃</a:t>
                  </a:r>
                  <a:r>
                    <a:rPr lang="en-US" altLang="zh-CN">
                      <a:latin typeface="Arial" panose="020B0604020202020204" pitchFamily="34" charset="0"/>
                      <a:cs typeface="Arial" panose="020B0604020202020204" pitchFamily="34" charset="0"/>
                    </a:rPr>
                    <a:t>,like </a:t>
                  </a:r>
                  <a:endParaRPr lang="en-US" altLang="zh-CN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0" name="图片 19"/>
                <p:cNvPicPr>
                  <a:picLocks noChangeAspect="1"/>
                </p:cNvPicPr>
                <p:nvPr/>
              </p:nvPicPr>
              <p:blipFill>
                <a:blip r:embed="rId5"/>
                <a:srcRect t="8958"/>
                <a:stretch>
                  <a:fillRect/>
                </a:stretch>
              </p:blipFill>
              <p:spPr>
                <a:xfrm>
                  <a:off x="9705" y="2917"/>
                  <a:ext cx="2688" cy="552"/>
                </a:xfrm>
                <a:prstGeom prst="rect">
                  <a:avLst/>
                </a:prstGeom>
              </p:spPr>
            </p:pic>
          </p:grpSp>
          <p:grpSp>
            <p:nvGrpSpPr>
              <p:cNvPr id="21" name="组合 20"/>
              <p:cNvGrpSpPr/>
              <p:nvPr/>
            </p:nvGrpSpPr>
            <p:grpSpPr>
              <a:xfrm>
                <a:off x="1043" y="3398"/>
                <a:ext cx="11539" cy="1452"/>
                <a:chOff x="1349" y="3741"/>
                <a:chExt cx="11539" cy="1452"/>
              </a:xfrm>
            </p:grpSpPr>
            <p:sp>
              <p:nvSpPr>
                <p:cNvPr id="22" name="文本框 21"/>
                <p:cNvSpPr txBox="1"/>
                <p:nvPr/>
              </p:nvSpPr>
              <p:spPr>
                <a:xfrm>
                  <a:off x="1349" y="3741"/>
                  <a:ext cx="11539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marL="285750" indent="-285750" fontAlgn="auto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>
                      <a:latin typeface="Arial" panose="020B0604020202020204" pitchFamily="34" charset="0"/>
                      <a:cs typeface="Arial" panose="020B0604020202020204" pitchFamily="34" charset="0"/>
                    </a:rPr>
                    <a:t>spatical isotropic: rotation symetry	</a:t>
                  </a:r>
                  <a:endParaRPr lang="en-US" altLang="zh-CN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lvl="2" indent="0" fontAlgn="auto">
                    <a:lnSpc>
                      <a:spcPct val="150000"/>
                    </a:lnSpc>
                    <a:buFont typeface="Arial" panose="020B0604020202020204" pitchFamily="34" charset="0"/>
                    <a:buNone/>
                  </a:pPr>
                  <a:r>
                    <a:rPr lang="en-US" altLang="zh-CN">
                      <a:latin typeface="Arial" panose="020B0604020202020204" pitchFamily="34" charset="0"/>
                      <a:cs typeface="Arial" panose="020B0604020202020204" pitchFamily="34" charset="0"/>
                    </a:rPr>
                    <a:t>forbidden Anisotropic,forbidden terms like  </a:t>
                  </a:r>
                  <a:endParaRPr lang="en-US" altLang="zh-CN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3" name="图片 22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57" y="4485"/>
                  <a:ext cx="1273" cy="667"/>
                </a:xfrm>
                <a:prstGeom prst="rect">
                  <a:avLst/>
                </a:prstGeom>
              </p:spPr>
            </p:pic>
          </p:grpSp>
          <p:grpSp>
            <p:nvGrpSpPr>
              <p:cNvPr id="24" name="组合 23"/>
              <p:cNvGrpSpPr/>
              <p:nvPr/>
            </p:nvGrpSpPr>
            <p:grpSpPr>
              <a:xfrm>
                <a:off x="1002" y="6490"/>
                <a:ext cx="9730" cy="580"/>
                <a:chOff x="1002" y="6490"/>
                <a:chExt cx="9730" cy="580"/>
              </a:xfrm>
            </p:grpSpPr>
            <p:sp>
              <p:nvSpPr>
                <p:cNvPr id="25" name="文本框 24"/>
                <p:cNvSpPr txBox="1"/>
                <p:nvPr/>
              </p:nvSpPr>
              <p:spPr>
                <a:xfrm>
                  <a:off x="1002" y="6490"/>
                  <a:ext cx="8987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CN">
                      <a:latin typeface="Arial" panose="020B0604020202020204" pitchFamily="34" charset="0"/>
                      <a:cs typeface="Arial" panose="020B0604020202020204" pitchFamily="34" charset="0"/>
                    </a:rPr>
                    <a:t>broken detailed balance: allow nonlinear terms like</a:t>
                  </a:r>
                  <a:endParaRPr lang="en-US" altLang="zh-CN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6" name="图片 25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73" y="6520"/>
                  <a:ext cx="859" cy="550"/>
                </a:xfrm>
                <a:prstGeom prst="rect">
                  <a:avLst/>
                </a:prstGeom>
              </p:spPr>
            </p:pic>
          </p:grpSp>
          <p:pic>
            <p:nvPicPr>
              <p:cNvPr id="27" name="图片 26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69" y="5829"/>
                <a:ext cx="1413" cy="503"/>
              </a:xfrm>
              <a:prstGeom prst="rect">
                <a:avLst/>
              </a:prstGeom>
            </p:spPr>
          </p:pic>
        </p:grpSp>
      </p:grpSp>
      <p:sp>
        <p:nvSpPr>
          <p:cNvPr id="28" name="文本框 27"/>
          <p:cNvSpPr txBox="1"/>
          <p:nvPr/>
        </p:nvSpPr>
        <p:spPr>
          <a:xfrm>
            <a:off x="236220" y="2851785"/>
            <a:ext cx="5323205" cy="377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drop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prohibited/irrelevant terms 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74307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effective field theory for chronon</a:t>
            </a:r>
            <a:endParaRPr lang="zh-CN" altLang="en-US" sz="3200" b="1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7530" y="4427220"/>
            <a:ext cx="4114165" cy="73025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497205" y="870585"/>
            <a:ext cx="4831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simlified actions 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rcRect t="1663"/>
          <a:stretch>
            <a:fillRect/>
          </a:stretch>
        </p:blipFill>
        <p:spPr>
          <a:xfrm>
            <a:off x="2496820" y="1126490"/>
            <a:ext cx="4921885" cy="150749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497205" y="3816985"/>
            <a:ext cx="4610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final action:</a:t>
            </a:r>
            <a:r>
              <a:rPr lang="en-US" altLang="zh-CN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compact kpz</a:t>
            </a:r>
            <a:endParaRPr lang="en-US" altLang="zh-CN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385185" y="1807845"/>
            <a:ext cx="400812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614285" y="2005965"/>
            <a:ext cx="27584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order terms,irrelevent</a:t>
            </a:r>
            <a:endParaRPr lang="en-US" altLang="zh-CN" sz="16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677926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scaling predictions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32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64845" y="97218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chronon belong to compact kpz university class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5625" y="1795145"/>
            <a:ext cx="2094865" cy="8623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8010" y="1704340"/>
            <a:ext cx="3561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scaling exponent: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5" y="2820670"/>
            <a:ext cx="2369820" cy="272415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035935" y="3309620"/>
            <a:ext cx="2430780" cy="257810"/>
            <a:chOff x="1045" y="6636"/>
            <a:chExt cx="17632" cy="212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5" y="6799"/>
              <a:ext cx="4320" cy="188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4"/>
            <a:srcRect t="9853"/>
            <a:stretch>
              <a:fillRect/>
            </a:stretch>
          </p:blipFill>
          <p:spPr>
            <a:xfrm>
              <a:off x="5775" y="6799"/>
              <a:ext cx="6144" cy="195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/>
            <a:srcRect t="12067"/>
            <a:stretch>
              <a:fillRect/>
            </a:stretch>
          </p:blipFill>
          <p:spPr>
            <a:xfrm>
              <a:off x="12329" y="6636"/>
              <a:ext cx="6348" cy="1931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588010" y="4241165"/>
                <a:ext cx="9268460" cy="1369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topological defects: </a:t>
                </a:r>
                <a:r>
                  <a:rPr lang="en-US" altLang="zh-CN">
                    <a:solidFill>
                      <a:srgbClr val="231F2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cause exponential decay of correlation functions beyond a scale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231F2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231F2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𝐿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231F2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𝑣</m:t>
                        </m:r>
                      </m:sub>
                    </m:sSub>
                    <m:r>
                      <a:rPr lang="en-US" altLang="zh-CN" i="1">
                        <a:solidFill>
                          <a:srgbClr val="231F20"/>
                        </a:solidFill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  <a:sym typeface="+mn-ea"/>
                      </a:rPr>
                      <m:t>~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231F2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231F2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231F20"/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  <a:sym typeface="+mn-ea"/>
                          </a:rPr>
                          <m:t>𝜀</m:t>
                        </m:r>
                        <m:r>
                          <a:rPr lang="en-US" altLang="zh-CN" i="1">
                            <a:solidFill>
                              <a:srgbClr val="231F2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  <a:sym typeface="+mn-ea"/>
                          </a:rPr>
                          <m:t>/</m:t>
                        </m:r>
                        <m:r>
                          <a:rPr lang="en-US" altLang="zh-CN" i="1">
                            <a:solidFill>
                              <a:srgbClr val="231F20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  <a:sym typeface="+mn-ea"/>
                          </a:rPr>
                          <m:t>𝜎</m:t>
                        </m:r>
                      </m:sup>
                    </m:sSup>
                  </m:oMath>
                </a14:m>
                <a:r>
                  <a:rPr lang="en-US" altLang="zh-CN">
                    <a:solidFill>
                      <a:srgbClr val="231F2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,with activation energy of defects </a:t>
                </a:r>
                <a:r>
                  <a:rPr lang="en-US" altLang="zh-CN">
                    <a:solidFill>
                      <a:srgbClr val="231F2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ε, and noise strengh σ</a:t>
                </a:r>
                <a:endParaRPr lang="en-US" altLang="zh-CN">
                  <a:solidFill>
                    <a:srgbClr val="231F2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10" y="4241165"/>
                <a:ext cx="9268460" cy="136969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1190" y="2176780"/>
            <a:ext cx="4261485" cy="141224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rcRect t="15588"/>
          <a:stretch>
            <a:fillRect/>
          </a:stretch>
        </p:blipFill>
        <p:spPr>
          <a:xfrm>
            <a:off x="7057390" y="1852295"/>
            <a:ext cx="3896995" cy="26606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837045" y="1731645"/>
            <a:ext cx="4434840" cy="185166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847280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Chronons in the many-body Van der Pol system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0335" y="878840"/>
            <a:ext cx="4109085" cy="4267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245" y="1570355"/>
            <a:ext cx="3928110" cy="20485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170" y="1948180"/>
            <a:ext cx="2334260" cy="3587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015" y="2922270"/>
            <a:ext cx="421640" cy="3187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835" y="2936240"/>
            <a:ext cx="1888490" cy="39560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1795" y="2843530"/>
            <a:ext cx="4135755" cy="5829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1835" y="3441065"/>
            <a:ext cx="4806950" cy="6000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3555" y="4801870"/>
            <a:ext cx="8684260" cy="6464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9810" y="6061710"/>
            <a:ext cx="2373630" cy="4337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6745" y="1936750"/>
            <a:ext cx="2430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phase space: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6745" y="2505075"/>
            <a:ext cx="293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reparameter limit cycle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4325" y="908685"/>
            <a:ext cx="3155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dynamic equation: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95325" y="4251960"/>
            <a:ext cx="5151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insert  it into dynamic equation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26745" y="5570855"/>
            <a:ext cx="632333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Integrate out the gapped mode and average over time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8990" y="1509395"/>
            <a:ext cx="644525" cy="22098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695325" y="1428750"/>
            <a:ext cx="2813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CTC phase condition: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102146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Chronons in the many-body Van der Pol system</a:t>
            </a:r>
            <a:endParaRPr lang="en-US" altLang="zh-CN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32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30" y="2091055"/>
            <a:ext cx="4025265" cy="27914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015" y="2154555"/>
            <a:ext cx="3629025" cy="26066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030095" y="5046345"/>
            <a:ext cx="18211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Arial" panose="020B0604020202020204" pitchFamily="34" charset="0"/>
                <a:ea typeface="微软雅黑" panose="020B0503020204020204" charset="-122"/>
              </a:rPr>
              <a:t>blue: high noise  </a:t>
            </a:r>
            <a:endParaRPr lang="en-US" altLang="zh-CN" sz="1600">
              <a:latin typeface="Arial" panose="020B0604020202020204" pitchFamily="34" charset="0"/>
              <a:ea typeface="微软雅黑" panose="020B0503020204020204" charset="-122"/>
            </a:endParaRPr>
          </a:p>
          <a:p>
            <a:r>
              <a:rPr lang="en-US" altLang="zh-CN" sz="1600">
                <a:latin typeface="Arial" panose="020B0604020202020204" pitchFamily="34" charset="0"/>
                <a:ea typeface="微软雅黑" panose="020B0503020204020204" charset="-122"/>
              </a:rPr>
              <a:t>red: low noise</a:t>
            </a:r>
            <a:endParaRPr lang="en-US" altLang="zh-CN" sz="16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770" y="971550"/>
            <a:ext cx="1943100" cy="8001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142105" y="5928360"/>
            <a:ext cx="7136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</a:rPr>
              <a:t>2d kpz: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β≈0.24,χ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≈0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.39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t="14915"/>
          <a:stretch>
            <a:fillRect/>
          </a:stretch>
        </p:blipFill>
        <p:spPr>
          <a:xfrm>
            <a:off x="7849235" y="3552825"/>
            <a:ext cx="1182370" cy="3270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0"/>
            <a:ext cx="102146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Chronons in various systems</a:t>
            </a:r>
            <a:endParaRPr lang="zh-CN" altLang="en-US" sz="32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820" y="1766570"/>
            <a:ext cx="11515725" cy="33242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6210" y="50165"/>
            <a:ext cx="69710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conclusion and outlook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endParaRPr lang="zh-CN" altLang="en-US" sz="3200" b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62000" y="1154430"/>
            <a:ext cx="10881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:the goldstone mode “chronon” of continuous time crystal belong to kpz university class 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9455" y="2374900"/>
            <a:ext cx="107524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outlook: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additional conserved quantities or the couplings to other soft modes may give rise to new universal behaviors.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2887</Words>
  <Application>WPS 演示</Application>
  <PresentationFormat>宽屏</PresentationFormat>
  <Paragraphs>166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AdvOT483a8203</vt:lpstr>
      <vt:lpstr>Segoe Print</vt:lpstr>
      <vt:lpstr>AdvTTd0b5fdba.I</vt:lpstr>
      <vt:lpstr>Cambria Math</vt:lpstr>
      <vt:lpstr>MS Mincho</vt:lpstr>
      <vt:lpstr>Calibri</vt:lpstr>
      <vt:lpstr>Arial Unicode MS</vt:lpstr>
      <vt:lpstr>Calibri Light</vt:lpstr>
      <vt:lpstr>BatangChe</vt:lpstr>
      <vt:lpstr>Times New Roman</vt:lpstr>
      <vt:lpstr>等线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WPS_1601999913</cp:lastModifiedBy>
  <cp:revision>11</cp:revision>
  <dcterms:created xsi:type="dcterms:W3CDTF">2025-10-25T06:37:00Z</dcterms:created>
  <dcterms:modified xsi:type="dcterms:W3CDTF">2025-10-27T12:22:49Z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5635A15456F4D54CE6A3EB68E7057D2E_41</vt:lpwstr>
  </property>
</Properties>
</file>
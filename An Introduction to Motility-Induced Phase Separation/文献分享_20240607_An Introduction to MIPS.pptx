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7" r:id="rId3"/>
    <p:sldId id="396" r:id="rId5"/>
    <p:sldId id="376" r:id="rId6"/>
    <p:sldId id="365" r:id="rId7"/>
    <p:sldId id="366" r:id="rId8"/>
    <p:sldId id="367" r:id="rId9"/>
    <p:sldId id="368" r:id="rId10"/>
    <p:sldId id="369" r:id="rId11"/>
    <p:sldId id="370" r:id="rId12"/>
    <p:sldId id="371" r:id="rId13"/>
    <p:sldId id="372" r:id="rId14"/>
    <p:sldId id="373" r:id="rId15"/>
    <p:sldId id="374" r:id="rId16"/>
    <p:sldId id="377" r:id="rId17"/>
    <p:sldId id="378" r:id="rId18"/>
    <p:sldId id="379" r:id="rId19"/>
    <p:sldId id="398" r:id="rId20"/>
    <p:sldId id="383" r:id="rId21"/>
    <p:sldId id="381" r:id="rId22"/>
  </p:sldIdLst>
  <p:sldSz cx="12192000" cy="6858000"/>
  <p:notesSz cx="6858000" cy="9144000"/>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2E61"/>
    <a:srgbClr val="462650"/>
    <a:srgbClr val="784089"/>
    <a:srgbClr val="3E2146"/>
    <a:srgbClr val="763F86"/>
    <a:srgbClr val="D264B5"/>
    <a:srgbClr val="510B51"/>
    <a:srgbClr val="6E0F6D"/>
    <a:srgbClr val="B179B5"/>
    <a:srgbClr val="D8BC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48" autoAdjust="0"/>
  </p:normalViewPr>
  <p:slideViewPr>
    <p:cSldViewPr snapToGrid="0" showGuides="1">
      <p:cViewPr varScale="1">
        <p:scale>
          <a:sx n="81" d="100"/>
          <a:sy n="81" d="100"/>
        </p:scale>
        <p:origin x="492" y="60"/>
      </p:cViewPr>
      <p:guideLst>
        <p:guide orient="horz" pos="219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173.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C771-B932-4C58-ABEA-F67C2089A3E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A3232-EF31-4E79-A0D3-E63BB9BF7B9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各位老师好，我叫陈宇，我的指导老师是张波老师。我今天讲的主题是使用液滴微流控合成可用于活性物质研究的聚合物微球。</a:t>
            </a:r>
            <a:endParaRPr lang="zh-CN" altLang="en-US" dirty="0"/>
          </a:p>
        </p:txBody>
      </p:sp>
      <p:sp>
        <p:nvSpPr>
          <p:cNvPr id="4" name="灯片编号占位符 3"/>
          <p:cNvSpPr>
            <a:spLocks noGrp="1"/>
          </p:cNvSpPr>
          <p:nvPr>
            <p:ph type="sldNum" sz="quarter" idx="10"/>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我讲的内容主要可以分为三大块。一、研究背景与意义。二、实验内容。三、总结与展望。</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我们常见的鱼群、细菌、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鸟群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都有着有趣的群体行为，都可以被称为活性物质。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昆克旋转体系是活性物质研究中的一类体系，指的是微球在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直流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电场</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作用下在流体中自发旋转。</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昆克旋转体系</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能够以较快的速度推动大量的粒子，并且实验设置较为简单。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因此受到了大量科研人员的关注和研究。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通常的昆克旋转研究使用的是传统的化学合成的方式生产的微球。这种方式生产的微球往往单分散性不好，并且形状和尺寸都不容易调控。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因此我们希望使用一种新方法来合成一些质量更好的微球进行昆克旋转的研究。这种新方法就是液滴微流控。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液滴微流控是通过使用微通道来产生和操纵液滴的一项技术。液滴微流控产生的液滴单分散性良好，也很容易对液滴的尺寸和形状进行调控。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42A3232-EF31-4E79-A0D3-E63BB9BF7B9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B7F94AA-01E8-46CB-BB2E-F66A7DE77044}"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F63AC3E-91AE-4B37-9D92-08DF80AAC16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9ECCF0B-1098-4C13-891E-FC34AB89453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BFF260FC-5F1B-4C34-BD7B-0EF81948E3AB}"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9D06C2DF-7F92-4602-81EB-3AB0836AC340}"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7809939-6406-4E1D-81C0-3DA4A659CFD5}"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A373B1-4E3D-4180-B7EE-264EEDAF8B6E}"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6A3B9C67-E658-46AD-9ACB-7380A4432D2C}"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00D08-A89D-4AB7-B09D-97999DB13FF7}"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E42DE49-F2CB-4BD6-AFD1-2AF0FE844DF7}"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58627A65-DC48-48AB-9CC0-B5E22AF8159F}"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510895A-BA6C-4CBB-8279-3888D09C9078}"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627A65-DC48-48AB-9CC0-B5E22AF8159F}" type="datetime1">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10895A-BA6C-4CBB-8279-3888D09C907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6.png"/><Relationship Id="rId6" Type="http://schemas.openxmlformats.org/officeDocument/2006/relationships/tags" Target="../tags/tag4.xml"/><Relationship Id="rId5" Type="http://schemas.openxmlformats.org/officeDocument/2006/relationships/image" Target="../media/image5.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4.png"/><Relationship Id="rId14" Type="http://schemas.openxmlformats.org/officeDocument/2006/relationships/notesSlide" Target="../notesSlides/notesSlide2.xml"/><Relationship Id="rId13" Type="http://schemas.openxmlformats.org/officeDocument/2006/relationships/slideLayout" Target="../slideLayouts/slideLayout2.xml"/><Relationship Id="rId12" Type="http://schemas.openxmlformats.org/officeDocument/2006/relationships/image" Target="../media/image8.png"/><Relationship Id="rId11" Type="http://schemas.openxmlformats.org/officeDocument/2006/relationships/tags" Target="../tags/tag7.xml"/><Relationship Id="rId10" Type="http://schemas.openxmlformats.org/officeDocument/2006/relationships/image" Target="../media/image7.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image" Target="../media/image12.png"/><Relationship Id="rId7" Type="http://schemas.openxmlformats.org/officeDocument/2006/relationships/tags" Target="../tags/tag13.xml"/><Relationship Id="rId6" Type="http://schemas.openxmlformats.org/officeDocument/2006/relationships/image" Target="../media/image11.png"/><Relationship Id="rId5" Type="http://schemas.openxmlformats.org/officeDocument/2006/relationships/tags" Target="../tags/tag12.xml"/><Relationship Id="rId4" Type="http://schemas.openxmlformats.org/officeDocument/2006/relationships/image" Target="../media/image10.png"/><Relationship Id="rId3" Type="http://schemas.openxmlformats.org/officeDocument/2006/relationships/tags" Target="../tags/tag11.xml"/><Relationship Id="rId23" Type="http://schemas.openxmlformats.org/officeDocument/2006/relationships/notesSlide" Target="../notesSlides/notesSlide4.xml"/><Relationship Id="rId22" Type="http://schemas.openxmlformats.org/officeDocument/2006/relationships/slideLayout" Target="../slideLayouts/slideLayout2.xml"/><Relationship Id="rId21" Type="http://schemas.openxmlformats.org/officeDocument/2006/relationships/image" Target="../media/image18.png"/><Relationship Id="rId20" Type="http://schemas.openxmlformats.org/officeDocument/2006/relationships/tags" Target="../tags/tag20.xml"/><Relationship Id="rId2" Type="http://schemas.openxmlformats.org/officeDocument/2006/relationships/image" Target="../media/image9.png"/><Relationship Id="rId19" Type="http://schemas.openxmlformats.org/officeDocument/2006/relationships/image" Target="../media/image17.png"/><Relationship Id="rId18" Type="http://schemas.openxmlformats.org/officeDocument/2006/relationships/tags" Target="../tags/tag19.xml"/><Relationship Id="rId17" Type="http://schemas.openxmlformats.org/officeDocument/2006/relationships/image" Target="../media/image16.png"/><Relationship Id="rId16" Type="http://schemas.openxmlformats.org/officeDocument/2006/relationships/tags" Target="../tags/tag18.xml"/><Relationship Id="rId15" Type="http://schemas.openxmlformats.org/officeDocument/2006/relationships/image" Target="../media/image15.png"/><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image" Target="../media/image14.png"/><Relationship Id="rId11" Type="http://schemas.openxmlformats.org/officeDocument/2006/relationships/tags" Target="../tags/tag15.xml"/><Relationship Id="rId10" Type="http://schemas.openxmlformats.org/officeDocument/2006/relationships/image" Target="../media/image13.png"/><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image" Target="../media/image21.png"/><Relationship Id="rId7" Type="http://schemas.openxmlformats.org/officeDocument/2006/relationships/tags" Target="../tags/tag24.xml"/><Relationship Id="rId6" Type="http://schemas.openxmlformats.org/officeDocument/2006/relationships/image" Target="../media/image20.png"/><Relationship Id="rId5" Type="http://schemas.openxmlformats.org/officeDocument/2006/relationships/tags" Target="../tags/tag23.xml"/><Relationship Id="rId4" Type="http://schemas.openxmlformats.org/officeDocument/2006/relationships/image" Target="../media/image14.png"/><Relationship Id="rId3" Type="http://schemas.openxmlformats.org/officeDocument/2006/relationships/tags" Target="../tags/tag22.xml"/><Relationship Id="rId27" Type="http://schemas.openxmlformats.org/officeDocument/2006/relationships/notesSlide" Target="../notesSlides/notesSlide5.xml"/><Relationship Id="rId26" Type="http://schemas.openxmlformats.org/officeDocument/2006/relationships/slideLayout" Target="../slideLayouts/slideLayout2.xml"/><Relationship Id="rId25" Type="http://schemas.openxmlformats.org/officeDocument/2006/relationships/image" Target="../media/image29.png"/><Relationship Id="rId24" Type="http://schemas.openxmlformats.org/officeDocument/2006/relationships/tags" Target="../tags/tag33.xml"/><Relationship Id="rId23" Type="http://schemas.openxmlformats.org/officeDocument/2006/relationships/image" Target="../media/image28.png"/><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image" Target="../media/image27.png"/><Relationship Id="rId2" Type="http://schemas.openxmlformats.org/officeDocument/2006/relationships/image" Target="../media/image19.png"/><Relationship Id="rId19" Type="http://schemas.openxmlformats.org/officeDocument/2006/relationships/tags" Target="../tags/tag30.xml"/><Relationship Id="rId18" Type="http://schemas.openxmlformats.org/officeDocument/2006/relationships/image" Target="../media/image26.png"/><Relationship Id="rId17" Type="http://schemas.openxmlformats.org/officeDocument/2006/relationships/tags" Target="../tags/tag29.xml"/><Relationship Id="rId16" Type="http://schemas.openxmlformats.org/officeDocument/2006/relationships/image" Target="../media/image25.png"/><Relationship Id="rId15" Type="http://schemas.openxmlformats.org/officeDocument/2006/relationships/tags" Target="../tags/tag28.xml"/><Relationship Id="rId14" Type="http://schemas.openxmlformats.org/officeDocument/2006/relationships/image" Target="../media/image24.png"/><Relationship Id="rId13" Type="http://schemas.openxmlformats.org/officeDocument/2006/relationships/tags" Target="../tags/tag27.xml"/><Relationship Id="rId12" Type="http://schemas.openxmlformats.org/officeDocument/2006/relationships/image" Target="../media/image23.png"/><Relationship Id="rId11" Type="http://schemas.openxmlformats.org/officeDocument/2006/relationships/tags" Target="../tags/tag26.xml"/><Relationship Id="rId10" Type="http://schemas.openxmlformats.org/officeDocument/2006/relationships/image" Target="../media/image22.png"/><Relationship Id="rId1" Type="http://schemas.openxmlformats.org/officeDocument/2006/relationships/tags" Target="../tags/tag21.xml"/></Relationships>
</file>

<file path=ppt/slides/_rels/slide6.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image" Target="../media/image33.png"/><Relationship Id="rId7" Type="http://schemas.openxmlformats.org/officeDocument/2006/relationships/tags" Target="../tags/tag37.xml"/><Relationship Id="rId6" Type="http://schemas.openxmlformats.org/officeDocument/2006/relationships/image" Target="../media/image32.png"/><Relationship Id="rId5" Type="http://schemas.openxmlformats.org/officeDocument/2006/relationships/tags" Target="../tags/tag36.xml"/><Relationship Id="rId4" Type="http://schemas.openxmlformats.org/officeDocument/2006/relationships/image" Target="../media/image31.png"/><Relationship Id="rId35" Type="http://schemas.openxmlformats.org/officeDocument/2006/relationships/notesSlide" Target="../notesSlides/notesSlide6.xml"/><Relationship Id="rId34" Type="http://schemas.openxmlformats.org/officeDocument/2006/relationships/slideLayout" Target="../slideLayouts/slideLayout2.xml"/><Relationship Id="rId33" Type="http://schemas.openxmlformats.org/officeDocument/2006/relationships/image" Target="../media/image44.png"/><Relationship Id="rId32" Type="http://schemas.openxmlformats.org/officeDocument/2006/relationships/tags" Target="../tags/tag51.xml"/><Relationship Id="rId31" Type="http://schemas.openxmlformats.org/officeDocument/2006/relationships/image" Target="../media/image43.png"/><Relationship Id="rId30" Type="http://schemas.openxmlformats.org/officeDocument/2006/relationships/tags" Target="../tags/tag50.xml"/><Relationship Id="rId3" Type="http://schemas.openxmlformats.org/officeDocument/2006/relationships/tags" Target="../tags/tag35.xml"/><Relationship Id="rId29" Type="http://schemas.openxmlformats.org/officeDocument/2006/relationships/tags" Target="../tags/tag49.xml"/><Relationship Id="rId28" Type="http://schemas.openxmlformats.org/officeDocument/2006/relationships/image" Target="../media/image42.png"/><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image" Target="../media/image41.png"/><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image" Target="../media/image40.png"/><Relationship Id="rId21" Type="http://schemas.openxmlformats.org/officeDocument/2006/relationships/tags" Target="../tags/tag44.xml"/><Relationship Id="rId20" Type="http://schemas.openxmlformats.org/officeDocument/2006/relationships/image" Target="../media/image39.png"/><Relationship Id="rId2" Type="http://schemas.openxmlformats.org/officeDocument/2006/relationships/image" Target="../media/image30.png"/><Relationship Id="rId19" Type="http://schemas.openxmlformats.org/officeDocument/2006/relationships/tags" Target="../tags/tag43.xml"/><Relationship Id="rId18" Type="http://schemas.openxmlformats.org/officeDocument/2006/relationships/image" Target="../media/image38.png"/><Relationship Id="rId17" Type="http://schemas.openxmlformats.org/officeDocument/2006/relationships/tags" Target="../tags/tag42.xml"/><Relationship Id="rId16" Type="http://schemas.openxmlformats.org/officeDocument/2006/relationships/image" Target="../media/image37.png"/><Relationship Id="rId15" Type="http://schemas.openxmlformats.org/officeDocument/2006/relationships/tags" Target="../tags/tag41.xml"/><Relationship Id="rId14" Type="http://schemas.openxmlformats.org/officeDocument/2006/relationships/image" Target="../media/image36.png"/><Relationship Id="rId13" Type="http://schemas.openxmlformats.org/officeDocument/2006/relationships/tags" Target="../tags/tag40.xml"/><Relationship Id="rId12" Type="http://schemas.openxmlformats.org/officeDocument/2006/relationships/image" Target="../media/image35.png"/><Relationship Id="rId11" Type="http://schemas.openxmlformats.org/officeDocument/2006/relationships/tags" Target="../tags/tag39.xml"/><Relationship Id="rId10" Type="http://schemas.openxmlformats.org/officeDocument/2006/relationships/image" Target="../media/image34.png"/><Relationship Id="rId1" Type="http://schemas.openxmlformats.org/officeDocument/2006/relationships/tags" Target="../tags/tag34.xml"/></Relationships>
</file>

<file path=ppt/slides/_rels/slide7.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image" Target="../media/image34.png"/><Relationship Id="rId7" Type="http://schemas.openxmlformats.org/officeDocument/2006/relationships/tags" Target="../tags/tag55.xml"/><Relationship Id="rId6" Type="http://schemas.openxmlformats.org/officeDocument/2006/relationships/image" Target="../media/image41.png"/><Relationship Id="rId5" Type="http://schemas.openxmlformats.org/officeDocument/2006/relationships/tags" Target="../tags/tag54.xml"/><Relationship Id="rId47" Type="http://schemas.openxmlformats.org/officeDocument/2006/relationships/notesSlide" Target="../notesSlides/notesSlide7.xml"/><Relationship Id="rId46" Type="http://schemas.openxmlformats.org/officeDocument/2006/relationships/slideLayout" Target="../slideLayouts/slideLayout2.xml"/><Relationship Id="rId45" Type="http://schemas.openxmlformats.org/officeDocument/2006/relationships/tags" Target="../tags/tag75.xml"/><Relationship Id="rId44" Type="http://schemas.openxmlformats.org/officeDocument/2006/relationships/image" Target="../media/image56.png"/><Relationship Id="rId43" Type="http://schemas.openxmlformats.org/officeDocument/2006/relationships/tags" Target="../tags/tag74.xml"/><Relationship Id="rId42" Type="http://schemas.openxmlformats.org/officeDocument/2006/relationships/image" Target="../media/image55.png"/><Relationship Id="rId41" Type="http://schemas.openxmlformats.org/officeDocument/2006/relationships/tags" Target="../tags/tag73.xml"/><Relationship Id="rId40" Type="http://schemas.openxmlformats.org/officeDocument/2006/relationships/image" Target="../media/image54.png"/><Relationship Id="rId4" Type="http://schemas.openxmlformats.org/officeDocument/2006/relationships/image" Target="../media/image44.png"/><Relationship Id="rId39" Type="http://schemas.openxmlformats.org/officeDocument/2006/relationships/tags" Target="../tags/tag72.xml"/><Relationship Id="rId38" Type="http://schemas.openxmlformats.org/officeDocument/2006/relationships/tags" Target="../tags/tag71.xml"/><Relationship Id="rId37" Type="http://schemas.openxmlformats.org/officeDocument/2006/relationships/image" Target="../media/image53.png"/><Relationship Id="rId36" Type="http://schemas.openxmlformats.org/officeDocument/2006/relationships/tags" Target="../tags/tag70.xml"/><Relationship Id="rId35" Type="http://schemas.openxmlformats.org/officeDocument/2006/relationships/image" Target="../media/image52.png"/><Relationship Id="rId34" Type="http://schemas.openxmlformats.org/officeDocument/2006/relationships/tags" Target="../tags/tag69.xml"/><Relationship Id="rId33" Type="http://schemas.openxmlformats.org/officeDocument/2006/relationships/image" Target="../media/image51.png"/><Relationship Id="rId32" Type="http://schemas.openxmlformats.org/officeDocument/2006/relationships/tags" Target="../tags/tag68.xml"/><Relationship Id="rId31" Type="http://schemas.openxmlformats.org/officeDocument/2006/relationships/tags" Target="../tags/tag67.xml"/><Relationship Id="rId30" Type="http://schemas.openxmlformats.org/officeDocument/2006/relationships/image" Target="../media/image50.png"/><Relationship Id="rId3" Type="http://schemas.openxmlformats.org/officeDocument/2006/relationships/tags" Target="../tags/tag53.xml"/><Relationship Id="rId29" Type="http://schemas.openxmlformats.org/officeDocument/2006/relationships/tags" Target="../tags/tag66.xml"/><Relationship Id="rId28" Type="http://schemas.openxmlformats.org/officeDocument/2006/relationships/image" Target="../media/image49.png"/><Relationship Id="rId27" Type="http://schemas.openxmlformats.org/officeDocument/2006/relationships/tags" Target="../tags/tag65.xml"/><Relationship Id="rId26" Type="http://schemas.openxmlformats.org/officeDocument/2006/relationships/image" Target="../media/image48.png"/><Relationship Id="rId25" Type="http://schemas.openxmlformats.org/officeDocument/2006/relationships/tags" Target="../tags/tag64.xml"/><Relationship Id="rId24" Type="http://schemas.openxmlformats.org/officeDocument/2006/relationships/image" Target="../media/image47.png"/><Relationship Id="rId23" Type="http://schemas.openxmlformats.org/officeDocument/2006/relationships/tags" Target="../tags/tag63.xml"/><Relationship Id="rId22" Type="http://schemas.openxmlformats.org/officeDocument/2006/relationships/image" Target="../media/image46.png"/><Relationship Id="rId21" Type="http://schemas.openxmlformats.org/officeDocument/2006/relationships/tags" Target="../tags/tag62.xml"/><Relationship Id="rId20" Type="http://schemas.openxmlformats.org/officeDocument/2006/relationships/image" Target="../media/image45.png"/><Relationship Id="rId2" Type="http://schemas.openxmlformats.org/officeDocument/2006/relationships/image" Target="../media/image42.png"/><Relationship Id="rId19" Type="http://schemas.openxmlformats.org/officeDocument/2006/relationships/tags" Target="../tags/tag61.xml"/><Relationship Id="rId18" Type="http://schemas.openxmlformats.org/officeDocument/2006/relationships/image" Target="../media/image32.png"/><Relationship Id="rId17" Type="http://schemas.openxmlformats.org/officeDocument/2006/relationships/tags" Target="../tags/tag60.xml"/><Relationship Id="rId16" Type="http://schemas.openxmlformats.org/officeDocument/2006/relationships/image" Target="../media/image31.png"/><Relationship Id="rId15" Type="http://schemas.openxmlformats.org/officeDocument/2006/relationships/tags" Target="../tags/tag59.xml"/><Relationship Id="rId14" Type="http://schemas.openxmlformats.org/officeDocument/2006/relationships/image" Target="../media/image39.png"/><Relationship Id="rId13" Type="http://schemas.openxmlformats.org/officeDocument/2006/relationships/tags" Target="../tags/tag58.xml"/><Relationship Id="rId12" Type="http://schemas.openxmlformats.org/officeDocument/2006/relationships/image" Target="../media/image38.png"/><Relationship Id="rId11" Type="http://schemas.openxmlformats.org/officeDocument/2006/relationships/tags" Target="../tags/tag57.xml"/><Relationship Id="rId10" Type="http://schemas.openxmlformats.org/officeDocument/2006/relationships/image" Target="../media/image35.png"/><Relationship Id="rId1" Type="http://schemas.openxmlformats.org/officeDocument/2006/relationships/tags" Target="../tags/tag52.xml"/></Relationships>
</file>

<file path=ppt/slides/_rels/slide8.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image" Target="../media/image60.png"/><Relationship Id="rId7" Type="http://schemas.openxmlformats.org/officeDocument/2006/relationships/tags" Target="../tags/tag79.xml"/><Relationship Id="rId6" Type="http://schemas.openxmlformats.org/officeDocument/2006/relationships/image" Target="../media/image59.png"/><Relationship Id="rId5" Type="http://schemas.openxmlformats.org/officeDocument/2006/relationships/tags" Target="../tags/tag78.xml"/><Relationship Id="rId4" Type="http://schemas.openxmlformats.org/officeDocument/2006/relationships/image" Target="../media/image58.png"/><Relationship Id="rId3" Type="http://schemas.openxmlformats.org/officeDocument/2006/relationships/tags" Target="../tags/tag77.xml"/><Relationship Id="rId2" Type="http://schemas.openxmlformats.org/officeDocument/2006/relationships/image" Target="../media/image57.png"/><Relationship Id="rId14" Type="http://schemas.openxmlformats.org/officeDocument/2006/relationships/notesSlide" Target="../notesSlides/notesSlide8.xml"/><Relationship Id="rId13" Type="http://schemas.openxmlformats.org/officeDocument/2006/relationships/slideLayout" Target="../slideLayouts/slideLayout2.xml"/><Relationship Id="rId12" Type="http://schemas.openxmlformats.org/officeDocument/2006/relationships/image" Target="../media/image53.png"/><Relationship Id="rId11" Type="http://schemas.openxmlformats.org/officeDocument/2006/relationships/tags" Target="../tags/tag81.xml"/><Relationship Id="rId10" Type="http://schemas.openxmlformats.org/officeDocument/2006/relationships/image" Target="../media/image61.png"/><Relationship Id="rId1" Type="http://schemas.openxmlformats.org/officeDocument/2006/relationships/tags" Target="../tags/tag76.xml"/></Relationships>
</file>

<file path=ppt/slides/_rels/slide9.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image" Target="../media/image65.png"/><Relationship Id="rId7" Type="http://schemas.openxmlformats.org/officeDocument/2006/relationships/tags" Target="../tags/tag85.xml"/><Relationship Id="rId6" Type="http://schemas.openxmlformats.org/officeDocument/2006/relationships/image" Target="../media/image64.png"/><Relationship Id="rId5" Type="http://schemas.openxmlformats.org/officeDocument/2006/relationships/tags" Target="../tags/tag84.xml"/><Relationship Id="rId4" Type="http://schemas.openxmlformats.org/officeDocument/2006/relationships/image" Target="../media/image63.png"/><Relationship Id="rId3" Type="http://schemas.openxmlformats.org/officeDocument/2006/relationships/tags" Target="../tags/tag83.xml"/><Relationship Id="rId2" Type="http://schemas.openxmlformats.org/officeDocument/2006/relationships/image" Target="../media/image62.png"/><Relationship Id="rId14" Type="http://schemas.openxmlformats.org/officeDocument/2006/relationships/notesSlide" Target="../notesSlides/notesSlide9.xml"/><Relationship Id="rId13" Type="http://schemas.openxmlformats.org/officeDocument/2006/relationships/slideLayout" Target="../slideLayouts/slideLayout2.xml"/><Relationship Id="rId12" Type="http://schemas.openxmlformats.org/officeDocument/2006/relationships/image" Target="../media/image67.png"/><Relationship Id="rId11" Type="http://schemas.openxmlformats.org/officeDocument/2006/relationships/tags" Target="../tags/tag87.xml"/><Relationship Id="rId10" Type="http://schemas.openxmlformats.org/officeDocument/2006/relationships/image" Target="../media/image66.png"/><Relationship Id="rId1" Type="http://schemas.openxmlformats.org/officeDocument/2006/relationships/tags" Target="../tags/tag82.xml"/></Relationships>
</file>

<file path=ppt/slides/_rels/slide10.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image" Target="../media/image69.png"/><Relationship Id="rId5" Type="http://schemas.openxmlformats.org/officeDocument/2006/relationships/tags" Target="../tags/tag91.xml"/><Relationship Id="rId4" Type="http://schemas.openxmlformats.org/officeDocument/2006/relationships/image" Target="../media/image68.png"/><Relationship Id="rId3" Type="http://schemas.openxmlformats.org/officeDocument/2006/relationships/tags" Target="../tags/tag90.xml"/><Relationship Id="rId26" Type="http://schemas.openxmlformats.org/officeDocument/2006/relationships/notesSlide" Target="../notesSlides/notesSlide10.xml"/><Relationship Id="rId25" Type="http://schemas.openxmlformats.org/officeDocument/2006/relationships/slideLayout" Target="../slideLayouts/slideLayout2.xml"/><Relationship Id="rId24" Type="http://schemas.openxmlformats.org/officeDocument/2006/relationships/tags" Target="../tags/tag102.xml"/><Relationship Id="rId23" Type="http://schemas.openxmlformats.org/officeDocument/2006/relationships/tags" Target="../tags/tag101.xml"/><Relationship Id="rId22" Type="http://schemas.openxmlformats.org/officeDocument/2006/relationships/image" Target="../media/image7.png"/><Relationship Id="rId21" Type="http://schemas.openxmlformats.org/officeDocument/2006/relationships/tags" Target="../tags/tag100.xml"/><Relationship Id="rId20" Type="http://schemas.openxmlformats.org/officeDocument/2006/relationships/image" Target="../media/image65.png"/><Relationship Id="rId2" Type="http://schemas.openxmlformats.org/officeDocument/2006/relationships/tags" Target="../tags/tag89.xml"/><Relationship Id="rId19" Type="http://schemas.openxmlformats.org/officeDocument/2006/relationships/tags" Target="../tags/tag99.xml"/><Relationship Id="rId18" Type="http://schemas.openxmlformats.org/officeDocument/2006/relationships/image" Target="../media/image74.png"/><Relationship Id="rId17" Type="http://schemas.openxmlformats.org/officeDocument/2006/relationships/tags" Target="../tags/tag98.xml"/><Relationship Id="rId16" Type="http://schemas.openxmlformats.org/officeDocument/2006/relationships/image" Target="../media/image73.png"/><Relationship Id="rId15" Type="http://schemas.openxmlformats.org/officeDocument/2006/relationships/tags" Target="../tags/tag97.xml"/><Relationship Id="rId14" Type="http://schemas.openxmlformats.org/officeDocument/2006/relationships/image" Target="../media/image72.png"/><Relationship Id="rId13" Type="http://schemas.openxmlformats.org/officeDocument/2006/relationships/tags" Target="../tags/tag96.xml"/><Relationship Id="rId12" Type="http://schemas.openxmlformats.org/officeDocument/2006/relationships/image" Target="../media/image71.png"/><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image" Target="../media/image78.png"/><Relationship Id="rId7" Type="http://schemas.openxmlformats.org/officeDocument/2006/relationships/tags" Target="../tags/tag106.xml"/><Relationship Id="rId6" Type="http://schemas.openxmlformats.org/officeDocument/2006/relationships/image" Target="../media/image77.png"/><Relationship Id="rId5" Type="http://schemas.openxmlformats.org/officeDocument/2006/relationships/tags" Target="../tags/tag105.xml"/><Relationship Id="rId4" Type="http://schemas.openxmlformats.org/officeDocument/2006/relationships/image" Target="../media/image76.png"/><Relationship Id="rId3" Type="http://schemas.openxmlformats.org/officeDocument/2006/relationships/tags" Target="../tags/tag104.xml"/><Relationship Id="rId22" Type="http://schemas.openxmlformats.org/officeDocument/2006/relationships/notesSlide" Target="../notesSlides/notesSlide11.xml"/><Relationship Id="rId21" Type="http://schemas.openxmlformats.org/officeDocument/2006/relationships/slideLayout" Target="../slideLayouts/slideLayout2.xml"/><Relationship Id="rId20" Type="http://schemas.openxmlformats.org/officeDocument/2006/relationships/tags" Target="../tags/tag113.xml"/><Relationship Id="rId2" Type="http://schemas.openxmlformats.org/officeDocument/2006/relationships/image" Target="../media/image75.png"/><Relationship Id="rId19" Type="http://schemas.openxmlformats.org/officeDocument/2006/relationships/tags" Target="../tags/tag112.xml"/><Relationship Id="rId18" Type="http://schemas.openxmlformats.org/officeDocument/2006/relationships/image" Target="../media/image83.png"/><Relationship Id="rId17" Type="http://schemas.openxmlformats.org/officeDocument/2006/relationships/tags" Target="../tags/tag111.xml"/><Relationship Id="rId16" Type="http://schemas.openxmlformats.org/officeDocument/2006/relationships/image" Target="../media/image82.png"/><Relationship Id="rId15" Type="http://schemas.openxmlformats.org/officeDocument/2006/relationships/tags" Target="../tags/tag110.xml"/><Relationship Id="rId14" Type="http://schemas.openxmlformats.org/officeDocument/2006/relationships/image" Target="../media/image81.png"/><Relationship Id="rId13" Type="http://schemas.openxmlformats.org/officeDocument/2006/relationships/tags" Target="../tags/tag109.xml"/><Relationship Id="rId12" Type="http://schemas.openxmlformats.org/officeDocument/2006/relationships/image" Target="../media/image80.png"/><Relationship Id="rId11" Type="http://schemas.openxmlformats.org/officeDocument/2006/relationships/tags" Target="../tags/tag108.xml"/><Relationship Id="rId10" Type="http://schemas.openxmlformats.org/officeDocument/2006/relationships/image" Target="../media/image79.png"/><Relationship Id="rId1" Type="http://schemas.openxmlformats.org/officeDocument/2006/relationships/tags" Target="../tags/tag103.xml"/></Relationships>
</file>

<file path=ppt/slides/_rels/slide12.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image" Target="../media/image84.png"/><Relationship Id="rId7" Type="http://schemas.openxmlformats.org/officeDocument/2006/relationships/tags" Target="../tags/tag117.xml"/><Relationship Id="rId6" Type="http://schemas.openxmlformats.org/officeDocument/2006/relationships/image" Target="../media/image82.png"/><Relationship Id="rId5" Type="http://schemas.openxmlformats.org/officeDocument/2006/relationships/tags" Target="../tags/tag116.xml"/><Relationship Id="rId4" Type="http://schemas.openxmlformats.org/officeDocument/2006/relationships/image" Target="../media/image81.png"/><Relationship Id="rId3" Type="http://schemas.openxmlformats.org/officeDocument/2006/relationships/tags" Target="../tags/tag115.xml"/><Relationship Id="rId25" Type="http://schemas.openxmlformats.org/officeDocument/2006/relationships/notesSlide" Target="../notesSlides/notesSlide12.xml"/><Relationship Id="rId24" Type="http://schemas.openxmlformats.org/officeDocument/2006/relationships/slideLayout" Target="../slideLayouts/slideLayout2.xml"/><Relationship Id="rId23" Type="http://schemas.openxmlformats.org/officeDocument/2006/relationships/tags" Target="../tags/tag125.xml"/><Relationship Id="rId22" Type="http://schemas.openxmlformats.org/officeDocument/2006/relationships/image" Target="../media/image91.png"/><Relationship Id="rId21" Type="http://schemas.openxmlformats.org/officeDocument/2006/relationships/tags" Target="../tags/tag124.xml"/><Relationship Id="rId20" Type="http://schemas.openxmlformats.org/officeDocument/2006/relationships/image" Target="../media/image90.png"/><Relationship Id="rId2" Type="http://schemas.openxmlformats.org/officeDocument/2006/relationships/image" Target="../media/image80.png"/><Relationship Id="rId19" Type="http://schemas.openxmlformats.org/officeDocument/2006/relationships/tags" Target="../tags/tag123.xml"/><Relationship Id="rId18" Type="http://schemas.openxmlformats.org/officeDocument/2006/relationships/image" Target="../media/image89.png"/><Relationship Id="rId17" Type="http://schemas.openxmlformats.org/officeDocument/2006/relationships/tags" Target="../tags/tag122.xml"/><Relationship Id="rId16" Type="http://schemas.openxmlformats.org/officeDocument/2006/relationships/image" Target="../media/image88.png"/><Relationship Id="rId15" Type="http://schemas.openxmlformats.org/officeDocument/2006/relationships/tags" Target="../tags/tag121.xml"/><Relationship Id="rId14" Type="http://schemas.openxmlformats.org/officeDocument/2006/relationships/image" Target="../media/image87.png"/><Relationship Id="rId13" Type="http://schemas.openxmlformats.org/officeDocument/2006/relationships/tags" Target="../tags/tag120.xml"/><Relationship Id="rId12" Type="http://schemas.openxmlformats.org/officeDocument/2006/relationships/image" Target="../media/image86.png"/><Relationship Id="rId11" Type="http://schemas.openxmlformats.org/officeDocument/2006/relationships/tags" Target="../tags/tag119.xml"/><Relationship Id="rId10" Type="http://schemas.openxmlformats.org/officeDocument/2006/relationships/image" Target="../media/image85.png"/><Relationship Id="rId1" Type="http://schemas.openxmlformats.org/officeDocument/2006/relationships/tags" Target="../tags/tag114.xml"/></Relationships>
</file>

<file path=ppt/slides/_rels/slide13.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image" Target="../media/image79.png"/><Relationship Id="rId7" Type="http://schemas.openxmlformats.org/officeDocument/2006/relationships/tags" Target="../tags/tag129.xml"/><Relationship Id="rId6" Type="http://schemas.openxmlformats.org/officeDocument/2006/relationships/image" Target="../media/image94.png"/><Relationship Id="rId5" Type="http://schemas.openxmlformats.org/officeDocument/2006/relationships/tags" Target="../tags/tag128.xml"/><Relationship Id="rId4" Type="http://schemas.openxmlformats.org/officeDocument/2006/relationships/image" Target="../media/image93.png"/><Relationship Id="rId3" Type="http://schemas.openxmlformats.org/officeDocument/2006/relationships/tags" Target="../tags/tag127.xml"/><Relationship Id="rId29" Type="http://schemas.openxmlformats.org/officeDocument/2006/relationships/notesSlide" Target="../notesSlides/notesSlide13.xml"/><Relationship Id="rId28" Type="http://schemas.openxmlformats.org/officeDocument/2006/relationships/slideLayout" Target="../slideLayouts/slideLayout2.xml"/><Relationship Id="rId27" Type="http://schemas.openxmlformats.org/officeDocument/2006/relationships/tags" Target="../tags/tag139.xml"/><Relationship Id="rId26" Type="http://schemas.openxmlformats.org/officeDocument/2006/relationships/image" Target="../media/image103.png"/><Relationship Id="rId25" Type="http://schemas.openxmlformats.org/officeDocument/2006/relationships/tags" Target="../tags/tag138.xml"/><Relationship Id="rId24" Type="http://schemas.openxmlformats.org/officeDocument/2006/relationships/image" Target="../media/image102.png"/><Relationship Id="rId23" Type="http://schemas.openxmlformats.org/officeDocument/2006/relationships/tags" Target="../tags/tag137.xml"/><Relationship Id="rId22" Type="http://schemas.openxmlformats.org/officeDocument/2006/relationships/image" Target="../media/image101.png"/><Relationship Id="rId21" Type="http://schemas.openxmlformats.org/officeDocument/2006/relationships/tags" Target="../tags/tag136.xml"/><Relationship Id="rId20" Type="http://schemas.openxmlformats.org/officeDocument/2006/relationships/image" Target="../media/image100.png"/><Relationship Id="rId2" Type="http://schemas.openxmlformats.org/officeDocument/2006/relationships/image" Target="../media/image92.png"/><Relationship Id="rId19" Type="http://schemas.openxmlformats.org/officeDocument/2006/relationships/tags" Target="../tags/tag135.xml"/><Relationship Id="rId18" Type="http://schemas.openxmlformats.org/officeDocument/2006/relationships/image" Target="../media/image99.png"/><Relationship Id="rId17" Type="http://schemas.openxmlformats.org/officeDocument/2006/relationships/tags" Target="../tags/tag134.xml"/><Relationship Id="rId16" Type="http://schemas.openxmlformats.org/officeDocument/2006/relationships/image" Target="../media/image98.png"/><Relationship Id="rId15" Type="http://schemas.openxmlformats.org/officeDocument/2006/relationships/tags" Target="../tags/tag133.xml"/><Relationship Id="rId14" Type="http://schemas.openxmlformats.org/officeDocument/2006/relationships/image" Target="../media/image97.png"/><Relationship Id="rId13" Type="http://schemas.openxmlformats.org/officeDocument/2006/relationships/tags" Target="../tags/tag132.xml"/><Relationship Id="rId12" Type="http://schemas.openxmlformats.org/officeDocument/2006/relationships/image" Target="../media/image96.png"/><Relationship Id="rId11" Type="http://schemas.openxmlformats.org/officeDocument/2006/relationships/tags" Target="../tags/tag131.xml"/><Relationship Id="rId10" Type="http://schemas.openxmlformats.org/officeDocument/2006/relationships/image" Target="../media/image95.png"/><Relationship Id="rId1" Type="http://schemas.openxmlformats.org/officeDocument/2006/relationships/tags" Target="../tags/tag126.xml"/></Relationships>
</file>

<file path=ppt/slides/_rels/slide14.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image" Target="../media/image106.png"/><Relationship Id="rId7" Type="http://schemas.openxmlformats.org/officeDocument/2006/relationships/tags" Target="../tags/tag143.xml"/><Relationship Id="rId6" Type="http://schemas.openxmlformats.org/officeDocument/2006/relationships/image" Target="../media/image100.png"/><Relationship Id="rId5" Type="http://schemas.openxmlformats.org/officeDocument/2006/relationships/tags" Target="../tags/tag142.xml"/><Relationship Id="rId4" Type="http://schemas.openxmlformats.org/officeDocument/2006/relationships/image" Target="../media/image105.png"/><Relationship Id="rId3" Type="http://schemas.openxmlformats.org/officeDocument/2006/relationships/tags" Target="../tags/tag141.xml"/><Relationship Id="rId2" Type="http://schemas.openxmlformats.org/officeDocument/2006/relationships/image" Target="../media/image104.png"/><Relationship Id="rId18" Type="http://schemas.openxmlformats.org/officeDocument/2006/relationships/notesSlide" Target="../notesSlides/notesSlide14.xml"/><Relationship Id="rId17" Type="http://schemas.openxmlformats.org/officeDocument/2006/relationships/slideLayout" Target="../slideLayouts/slideLayout2.xml"/><Relationship Id="rId16" Type="http://schemas.openxmlformats.org/officeDocument/2006/relationships/image" Target="../media/image110.png"/><Relationship Id="rId15" Type="http://schemas.openxmlformats.org/officeDocument/2006/relationships/tags" Target="../tags/tag147.xml"/><Relationship Id="rId14" Type="http://schemas.openxmlformats.org/officeDocument/2006/relationships/image" Target="../media/image109.png"/><Relationship Id="rId13" Type="http://schemas.openxmlformats.org/officeDocument/2006/relationships/tags" Target="../tags/tag146.xml"/><Relationship Id="rId12" Type="http://schemas.openxmlformats.org/officeDocument/2006/relationships/image" Target="../media/image108.png"/><Relationship Id="rId11" Type="http://schemas.openxmlformats.org/officeDocument/2006/relationships/tags" Target="../tags/tag145.xml"/><Relationship Id="rId10" Type="http://schemas.openxmlformats.org/officeDocument/2006/relationships/image" Target="../media/image107.png"/><Relationship Id="rId1" Type="http://schemas.openxmlformats.org/officeDocument/2006/relationships/tags" Target="../tags/tag140.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tags" Target="../tags/tag150.xml"/><Relationship Id="rId4" Type="http://schemas.openxmlformats.org/officeDocument/2006/relationships/image" Target="../media/image111.png"/><Relationship Id="rId3" Type="http://schemas.openxmlformats.org/officeDocument/2006/relationships/tags" Target="../tags/tag149.xml"/><Relationship Id="rId2" Type="http://schemas.openxmlformats.org/officeDocument/2006/relationships/image" Target="../media/image109.png"/><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image" Target="../media/image116.png"/><Relationship Id="rId7" Type="http://schemas.openxmlformats.org/officeDocument/2006/relationships/tags" Target="../tags/tag154.xml"/><Relationship Id="rId6" Type="http://schemas.openxmlformats.org/officeDocument/2006/relationships/image" Target="../media/image115.png"/><Relationship Id="rId5" Type="http://schemas.openxmlformats.org/officeDocument/2006/relationships/tags" Target="../tags/tag153.xml"/><Relationship Id="rId4" Type="http://schemas.openxmlformats.org/officeDocument/2006/relationships/image" Target="../media/image114.png"/><Relationship Id="rId3" Type="http://schemas.openxmlformats.org/officeDocument/2006/relationships/tags" Target="../tags/tag152.xml"/><Relationship Id="rId22" Type="http://schemas.openxmlformats.org/officeDocument/2006/relationships/notesSlide" Target="../notesSlides/notesSlide16.xml"/><Relationship Id="rId21" Type="http://schemas.openxmlformats.org/officeDocument/2006/relationships/slideLayout" Target="../slideLayouts/slideLayout2.xml"/><Relationship Id="rId20" Type="http://schemas.openxmlformats.org/officeDocument/2006/relationships/image" Target="../media/image122.png"/><Relationship Id="rId2" Type="http://schemas.openxmlformats.org/officeDocument/2006/relationships/image" Target="../media/image113.png"/><Relationship Id="rId19" Type="http://schemas.openxmlformats.org/officeDocument/2006/relationships/tags" Target="../tags/tag160.xml"/><Relationship Id="rId18" Type="http://schemas.openxmlformats.org/officeDocument/2006/relationships/image" Target="../media/image121.png"/><Relationship Id="rId17" Type="http://schemas.openxmlformats.org/officeDocument/2006/relationships/tags" Target="../tags/tag159.xml"/><Relationship Id="rId16" Type="http://schemas.openxmlformats.org/officeDocument/2006/relationships/image" Target="../media/image120.png"/><Relationship Id="rId15" Type="http://schemas.openxmlformats.org/officeDocument/2006/relationships/tags" Target="../tags/tag158.xml"/><Relationship Id="rId14" Type="http://schemas.openxmlformats.org/officeDocument/2006/relationships/image" Target="../media/image119.png"/><Relationship Id="rId13" Type="http://schemas.openxmlformats.org/officeDocument/2006/relationships/tags" Target="../tags/tag157.xml"/><Relationship Id="rId12" Type="http://schemas.openxmlformats.org/officeDocument/2006/relationships/image" Target="../media/image118.png"/><Relationship Id="rId11" Type="http://schemas.openxmlformats.org/officeDocument/2006/relationships/tags" Target="../tags/tag156.xml"/><Relationship Id="rId10" Type="http://schemas.openxmlformats.org/officeDocument/2006/relationships/image" Target="../media/image117.png"/><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tags" Target="../tags/tag163.xml"/><Relationship Id="rId4" Type="http://schemas.openxmlformats.org/officeDocument/2006/relationships/image" Target="../media/image124.png"/><Relationship Id="rId3" Type="http://schemas.openxmlformats.org/officeDocument/2006/relationships/tags" Target="../tags/tag162.xml"/><Relationship Id="rId2" Type="http://schemas.openxmlformats.org/officeDocument/2006/relationships/image" Target="../media/image123.png"/><Relationship Id="rId1" Type="http://schemas.openxmlformats.org/officeDocument/2006/relationships/tags" Target="../tags/tag161.xml"/></Relationships>
</file>

<file path=ppt/slides/_rels/slide18.xml.rels><?xml version="1.0" encoding="UTF-8" standalone="yes"?>
<Relationships xmlns="http://schemas.openxmlformats.org/package/2006/relationships"><Relationship Id="rId9" Type="http://schemas.openxmlformats.org/officeDocument/2006/relationships/tags" Target="../tags/tag169.xml"/><Relationship Id="rId8" Type="http://schemas.openxmlformats.org/officeDocument/2006/relationships/image" Target="../media/image128.png"/><Relationship Id="rId7" Type="http://schemas.openxmlformats.org/officeDocument/2006/relationships/tags" Target="../tags/tag168.xml"/><Relationship Id="rId6" Type="http://schemas.openxmlformats.org/officeDocument/2006/relationships/image" Target="../media/image127.png"/><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126.png"/><Relationship Id="rId2" Type="http://schemas.openxmlformats.org/officeDocument/2006/relationships/tags" Target="../tags/tag165.xml"/><Relationship Id="rId18" Type="http://schemas.openxmlformats.org/officeDocument/2006/relationships/notesSlide" Target="../notesSlides/notesSlide18.xml"/><Relationship Id="rId17" Type="http://schemas.openxmlformats.org/officeDocument/2006/relationships/slideLayout" Target="../slideLayouts/slideLayout2.xml"/><Relationship Id="rId16" Type="http://schemas.openxmlformats.org/officeDocument/2006/relationships/image" Target="../media/image132.png"/><Relationship Id="rId15" Type="http://schemas.openxmlformats.org/officeDocument/2006/relationships/tags" Target="../tags/tag172.xml"/><Relationship Id="rId14" Type="http://schemas.openxmlformats.org/officeDocument/2006/relationships/image" Target="../media/image131.png"/><Relationship Id="rId13" Type="http://schemas.openxmlformats.org/officeDocument/2006/relationships/tags" Target="../tags/tag171.xml"/><Relationship Id="rId12" Type="http://schemas.openxmlformats.org/officeDocument/2006/relationships/image" Target="../media/image130.png"/><Relationship Id="rId11" Type="http://schemas.openxmlformats.org/officeDocument/2006/relationships/tags" Target="../tags/tag170.xml"/><Relationship Id="rId10" Type="http://schemas.openxmlformats.org/officeDocument/2006/relationships/image" Target="../media/image129.png"/><Relationship Id="rId1" Type="http://schemas.openxmlformats.org/officeDocument/2006/relationships/tags" Target="../tags/tag16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ChangeAspect="1"/>
          </p:cNvSpPr>
          <p:nvPr/>
        </p:nvSpPr>
        <p:spPr>
          <a:xfrm>
            <a:off x="534501" y="1394234"/>
            <a:ext cx="10722544" cy="3034684"/>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55706" y="1394234"/>
            <a:ext cx="4654894" cy="1077218"/>
          </a:xfrm>
          <a:prstGeom prst="rect">
            <a:avLst/>
          </a:prstGeom>
          <a:noFill/>
        </p:spPr>
        <p:txBody>
          <a:bodyPr wrap="square" rtlCol="0">
            <a:spAutoFit/>
          </a:bodyPr>
          <a:lstStyle/>
          <a:p>
            <a:pPr algn="ctr"/>
            <a:endParaRPr lang="en-US" altLang="zh-CN" sz="3200" b="1" dirty="0">
              <a:latin typeface="微软雅黑" panose="020B0503020204020204" pitchFamily="34" charset="-122"/>
              <a:ea typeface="微软雅黑" panose="020B0503020204020204" pitchFamily="34" charset="-122"/>
            </a:endParaRPr>
          </a:p>
          <a:p>
            <a:pPr algn="ctr"/>
            <a:endParaRPr lang="zh-CN" altLang="en-US" sz="3200" b="1" dirty="0">
              <a:latin typeface="微软雅黑" panose="020B0503020204020204" pitchFamily="34" charset="-122"/>
              <a:ea typeface="微软雅黑" panose="020B0503020204020204" pitchFamily="34" charset="-122"/>
            </a:endParaRPr>
          </a:p>
        </p:txBody>
      </p:sp>
      <p:sp>
        <p:nvSpPr>
          <p:cNvPr id="6" name="文本框 5"/>
          <p:cNvSpPr txBox="1">
            <a:spLocks noChangeAspect="1"/>
          </p:cNvSpPr>
          <p:nvPr/>
        </p:nvSpPr>
        <p:spPr>
          <a:xfrm>
            <a:off x="2406650" y="2115185"/>
            <a:ext cx="7211060" cy="1198880"/>
          </a:xfrm>
          <a:prstGeom prst="rect">
            <a:avLst/>
          </a:prstGeom>
          <a:noFill/>
        </p:spPr>
        <p:txBody>
          <a:bodyPr wrap="square" rtlCol="0">
            <a:spAutoFit/>
          </a:bodyPr>
          <a:lstStyle/>
          <a:p>
            <a:pPr algn="ctr"/>
            <a:r>
              <a:rPr lang="en-US" altLang="zh-CN" sz="3600" b="1" dirty="0">
                <a:solidFill>
                  <a:schemeClr val="bg1"/>
                </a:solidFill>
              </a:rPr>
              <a:t>An Introduction to Motility-Induced Phase Separation</a:t>
            </a:r>
            <a:endParaRPr lang="en-US" altLang="zh-CN" sz="3600" b="1" dirty="0">
              <a:solidFill>
                <a:schemeClr val="bg1"/>
              </a:solidFill>
            </a:endParaRPr>
          </a:p>
        </p:txBody>
      </p:sp>
      <p:pic>
        <p:nvPicPr>
          <p:cNvPr id="8" name="Picture 2" descr="https://gss0.bdstatic.com/-4o3dSag_xI4khGkpoWK1HF6hhy/baike/c0%3Dbaike272%2C5%2C5%2C272%2C90/sign=8a9a0b9d3787e950561afb3e71513826/2fdda3cc7cd98d103d73086f2c3fb80e7aec90cc.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9995" y="0"/>
            <a:ext cx="1145264" cy="1394234"/>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a:xfrm>
            <a:off x="9448800" y="6492875"/>
            <a:ext cx="2743200" cy="365125"/>
          </a:xfrm>
        </p:spPr>
        <p:txBody>
          <a:bodyPr/>
          <a:lstStyle/>
          <a:p>
            <a:fld id="{6510895A-BA6C-4CBB-8279-3888D09C9078}" type="slidenum">
              <a:rPr lang="zh-CN" altLang="en-US" smtClean="0"/>
            </a:fld>
            <a:endParaRPr lang="zh-CN" altLang="en-US" dirty="0"/>
          </a:p>
        </p:txBody>
      </p:sp>
      <p:pic>
        <p:nvPicPr>
          <p:cNvPr id="10" name="图片 9" descr="logo-05"/>
          <p:cNvPicPr>
            <a:picLocks noChangeAspect="1"/>
          </p:cNvPicPr>
          <p:nvPr/>
        </p:nvPicPr>
        <p:blipFill>
          <a:blip r:embed="rId2"/>
          <a:stretch>
            <a:fillRect/>
          </a:stretch>
        </p:blipFill>
        <p:spPr>
          <a:xfrm>
            <a:off x="9015680" y="-437810"/>
            <a:ext cx="3331845" cy="3074670"/>
          </a:xfrm>
          <a:prstGeom prst="rect">
            <a:avLst/>
          </a:prstGeom>
        </p:spPr>
      </p:pic>
      <p:pic>
        <p:nvPicPr>
          <p:cNvPr id="11" name="图片 10" descr="logo-06 - 副本"/>
          <p:cNvPicPr>
            <a:picLocks noChangeAspect="1"/>
          </p:cNvPicPr>
          <p:nvPr/>
        </p:nvPicPr>
        <p:blipFill>
          <a:blip r:embed="rId3"/>
          <a:stretch>
            <a:fillRect/>
          </a:stretch>
        </p:blipFill>
        <p:spPr>
          <a:xfrm>
            <a:off x="0" y="4519894"/>
            <a:ext cx="2627948" cy="2424589"/>
          </a:xfrm>
          <a:prstGeom prst="rect">
            <a:avLst/>
          </a:prstGeom>
        </p:spPr>
      </p:pic>
      <p:sp>
        <p:nvSpPr>
          <p:cNvPr id="5" name="文本框 4"/>
          <p:cNvSpPr txBox="1"/>
          <p:nvPr/>
        </p:nvSpPr>
        <p:spPr>
          <a:xfrm>
            <a:off x="6334760" y="3855720"/>
            <a:ext cx="4816475" cy="368300"/>
          </a:xfrm>
          <a:prstGeom prst="rect">
            <a:avLst/>
          </a:prstGeom>
          <a:noFill/>
        </p:spPr>
        <p:txBody>
          <a:bodyPr wrap="square" rtlCol="0" anchor="t">
            <a:spAutoFit/>
          </a:bodyPr>
          <a:p>
            <a:r>
              <a:rPr lang="zh-CN" altLang="en-US">
                <a:solidFill>
                  <a:schemeClr val="bg1"/>
                </a:solidFill>
              </a:rPr>
              <a:t>O'Byrne, J., Solon, A., Tailleur, J., &amp; Zhao, Y. (2023)</a:t>
            </a:r>
            <a:endParaRPr lang="zh-CN" altLang="en-US">
              <a:solidFill>
                <a:schemeClr val="bg1"/>
              </a:solidFill>
            </a:endParaRPr>
          </a:p>
        </p:txBody>
      </p:sp>
      <p:sp>
        <p:nvSpPr>
          <p:cNvPr id="13" name="文本框 12"/>
          <p:cNvSpPr txBox="1"/>
          <p:nvPr/>
        </p:nvSpPr>
        <p:spPr>
          <a:xfrm>
            <a:off x="5237480" y="5125720"/>
            <a:ext cx="2091690" cy="368300"/>
          </a:xfrm>
          <a:prstGeom prst="rect">
            <a:avLst/>
          </a:prstGeom>
          <a:noFill/>
        </p:spPr>
        <p:txBody>
          <a:bodyPr wrap="square" rtlCol="0">
            <a:spAutoFit/>
          </a:bodyPr>
          <a:p>
            <a:r>
              <a:rPr lang="zh-CN" altLang="en-US"/>
              <a:t>汇报人：</a:t>
            </a:r>
            <a:r>
              <a:rPr lang="zh-CN" altLang="en-US"/>
              <a:t>曹溪能</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en-US" altLang="zh-CN" sz="2700" b="1" dirty="0">
                <a:solidFill>
                  <a:schemeClr val="bg1"/>
                </a:solidFill>
                <a:ea typeface="微软雅黑" panose="020B0503020204020204" pitchFamily="34" charset="-122"/>
                <a:cs typeface="+mn-lt"/>
              </a:rPr>
              <a:t>1. </a:t>
            </a:r>
            <a:r>
              <a:rPr lang="zh-CN" altLang="en-US" sz="2700" b="1" dirty="0">
                <a:solidFill>
                  <a:schemeClr val="bg1"/>
                </a:solidFill>
                <a:ea typeface="微软雅黑" panose="020B0503020204020204" pitchFamily="34" charset="-122"/>
                <a:cs typeface="+mn-lt"/>
              </a:rPr>
              <a:t>基本介绍</a:t>
            </a:r>
            <a:endParaRPr lang="zh-CN" altLang="en-US" sz="2700" b="1" dirty="0">
              <a:solidFill>
                <a:schemeClr val="bg1"/>
              </a:solidFill>
              <a:ea typeface="微软雅黑" panose="020B0503020204020204" pitchFamily="34" charset="-122"/>
              <a:cs typeface="+mn-lt"/>
            </a:endParaRPr>
          </a:p>
          <a:p>
            <a:endParaRPr lang="zh-CN" altLang="en-US" sz="2700" b="1" dirty="0">
              <a:ea typeface="微软雅黑" panose="020B0503020204020204" pitchFamily="34" charset="-122"/>
              <a:cs typeface="+mn-lt"/>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grpSp>
        <p:nvGrpSpPr>
          <p:cNvPr id="16" name="组合 15"/>
          <p:cNvGrpSpPr/>
          <p:nvPr/>
        </p:nvGrpSpPr>
        <p:grpSpPr>
          <a:xfrm>
            <a:off x="156417" y="827405"/>
            <a:ext cx="7597264" cy="5095965"/>
            <a:chOff x="816" y="1297"/>
            <a:chExt cx="17744" cy="7338"/>
          </a:xfrm>
        </p:grpSpPr>
        <p:sp>
          <p:nvSpPr>
            <p:cNvPr id="5" name="文本框 4"/>
            <p:cNvSpPr txBox="1"/>
            <p:nvPr/>
          </p:nvSpPr>
          <p:spPr>
            <a:xfrm>
              <a:off x="877" y="1297"/>
              <a:ext cx="7714" cy="663"/>
            </a:xfrm>
            <a:prstGeom prst="rect">
              <a:avLst/>
            </a:prstGeom>
            <a:noFill/>
          </p:spPr>
          <p:txBody>
            <a:bodyPr wrap="square" rtlCol="0">
              <a:spAutoFit/>
            </a:bodyPr>
            <a:p>
              <a:r>
                <a:rPr lang="en-US" altLang="zh-CN" sz="2400">
                  <a:cs typeface="+mn-lt"/>
                </a:rPr>
                <a:t>MIPS</a:t>
              </a:r>
              <a:r>
                <a:rPr lang="zh-CN" altLang="en-US" sz="2400">
                  <a:cs typeface="+mn-lt"/>
                </a:rPr>
                <a:t>（运动诱导</a:t>
              </a:r>
              <a:r>
                <a:rPr lang="zh-CN" altLang="en-US" sz="2400">
                  <a:cs typeface="+mn-lt"/>
                </a:rPr>
                <a:t>相分离）</a:t>
              </a:r>
              <a:endParaRPr lang="zh-CN" altLang="en-US" sz="2400">
                <a:cs typeface="+mn-lt"/>
              </a:endParaRPr>
            </a:p>
          </p:txBody>
        </p:sp>
        <p:sp>
          <p:nvSpPr>
            <p:cNvPr id="6" name="文本框 5"/>
            <p:cNvSpPr txBox="1"/>
            <p:nvPr/>
          </p:nvSpPr>
          <p:spPr>
            <a:xfrm>
              <a:off x="875" y="2042"/>
              <a:ext cx="11513" cy="929"/>
            </a:xfrm>
            <a:prstGeom prst="rect">
              <a:avLst/>
            </a:prstGeom>
            <a:noFill/>
          </p:spPr>
          <p:txBody>
            <a:bodyPr wrap="square" rtlCol="0" anchor="t">
              <a:spAutoFit/>
            </a:bodyPr>
            <a:p>
              <a:r>
                <a:rPr lang="zh-CN" altLang="en-US">
                  <a:cs typeface="+mn-lt"/>
                  <a:sym typeface="+mn-ea"/>
                </a:rPr>
                <a:t>反馈机制:在运动较慢的地方积累→高密度使得运动变慢</a:t>
              </a:r>
              <a:r>
                <a:rPr lang="zh-CN" altLang="en-US">
                  <a:cs typeface="+mn-lt"/>
                  <a:sym typeface="+mn-ea"/>
                </a:rPr>
                <a:t>→减速</a:t>
              </a:r>
              <a:r>
                <a:rPr lang="en-US" altLang="zh-CN">
                  <a:cs typeface="+mn-lt"/>
                  <a:sym typeface="+mn-ea"/>
                </a:rPr>
                <a:t>-</a:t>
              </a:r>
              <a:r>
                <a:rPr lang="zh-CN" altLang="en-US">
                  <a:cs typeface="+mn-lt"/>
                  <a:sym typeface="+mn-ea"/>
                </a:rPr>
                <a:t>积累的正反馈</a:t>
              </a:r>
              <a:r>
                <a:rPr lang="zh-CN" altLang="en-US">
                  <a:cs typeface="+mn-lt"/>
                  <a:sym typeface="+mn-ea"/>
                </a:rPr>
                <a:t>，导致相分离</a:t>
              </a:r>
              <a:endParaRPr lang="zh-CN" altLang="en-US">
                <a:cs typeface="+mn-lt"/>
                <a:sym typeface="+mn-ea"/>
              </a:endParaRPr>
            </a:p>
          </p:txBody>
        </p:sp>
        <p:sp>
          <p:nvSpPr>
            <p:cNvPr id="7" name="文本框 6"/>
            <p:cNvSpPr txBox="1"/>
            <p:nvPr/>
          </p:nvSpPr>
          <p:spPr>
            <a:xfrm>
              <a:off x="967" y="3401"/>
              <a:ext cx="12884" cy="929"/>
            </a:xfrm>
            <a:prstGeom prst="rect">
              <a:avLst/>
            </a:prstGeom>
            <a:noFill/>
          </p:spPr>
          <p:txBody>
            <a:bodyPr wrap="square" rtlCol="0">
              <a:spAutoFit/>
            </a:bodyPr>
            <a:p>
              <a:r>
                <a:rPr lang="zh-CN" altLang="en-US">
                  <a:cs typeface="+mn-lt"/>
                </a:rPr>
                <a:t>典型减速机制：群体感应活性粒子（</a:t>
              </a:r>
              <a:r>
                <a:rPr lang="en-US" altLang="zh-CN">
                  <a:cs typeface="+mn-lt"/>
                </a:rPr>
                <a:t>QSAPs</a:t>
              </a:r>
              <a:r>
                <a:rPr lang="zh-CN" altLang="en-US">
                  <a:cs typeface="+mn-lt"/>
                </a:rPr>
                <a:t>）</a:t>
              </a:r>
              <a:endParaRPr lang="zh-CN" altLang="en-US">
                <a:cs typeface="+mn-lt"/>
              </a:endParaRPr>
            </a:p>
            <a:p>
              <a:r>
                <a:rPr lang="zh-CN" altLang="en-US">
                  <a:cs typeface="+mn-lt"/>
                </a:rPr>
                <a:t>根据局部密度调整自身速度</a:t>
              </a:r>
              <a:endParaRPr lang="zh-CN" altLang="en-US">
                <a:cs typeface="+mn-lt"/>
              </a:endParaRPr>
            </a:p>
          </p:txBody>
        </p:sp>
        <p:pic>
          <p:nvPicPr>
            <p:cNvPr id="11" name="图片 10"/>
            <p:cNvPicPr>
              <a:picLocks noChangeAspect="1"/>
            </p:cNvPicPr>
            <p:nvPr>
              <p:custDataLst>
                <p:tags r:id="rId1"/>
              </p:custDataLst>
            </p:nvPr>
          </p:nvPicPr>
          <p:blipFill>
            <a:blip r:embed="rId2"/>
            <a:stretch>
              <a:fillRect/>
            </a:stretch>
          </p:blipFill>
          <p:spPr>
            <a:xfrm>
              <a:off x="12122" y="1552"/>
              <a:ext cx="6438" cy="3524"/>
            </a:xfrm>
            <a:prstGeom prst="rect">
              <a:avLst/>
            </a:prstGeom>
          </p:spPr>
        </p:pic>
        <p:sp>
          <p:nvSpPr>
            <p:cNvPr id="12" name="文本框 11"/>
            <p:cNvSpPr txBox="1"/>
            <p:nvPr>
              <p:custDataLst>
                <p:tags r:id="rId3"/>
              </p:custDataLst>
            </p:nvPr>
          </p:nvSpPr>
          <p:spPr>
            <a:xfrm>
              <a:off x="1072" y="6649"/>
              <a:ext cx="10652" cy="1328"/>
            </a:xfrm>
            <a:prstGeom prst="rect">
              <a:avLst/>
            </a:prstGeom>
            <a:noFill/>
          </p:spPr>
          <p:txBody>
            <a:bodyPr wrap="square" rtlCol="0">
              <a:spAutoFit/>
            </a:bodyPr>
            <a:p>
              <a:r>
                <a:rPr lang="zh-CN" altLang="en-US">
                  <a:cs typeface="+mn-lt"/>
                </a:rPr>
                <a:t>每一步以概率</a:t>
              </a:r>
              <a:r>
                <a:rPr lang="zh-CN" altLang="en-US">
                  <a:ea typeface="微软雅黑" panose="020B0503020204020204" pitchFamily="34" charset="-122"/>
                  <a:cs typeface="+mn-lt"/>
                </a:rPr>
                <a:t>α</a:t>
              </a:r>
              <a:r>
                <a:rPr lang="en-US" altLang="zh-CN">
                  <a:ea typeface="微软雅黑" panose="020B0503020204020204" pitchFamily="34" charset="-122"/>
                  <a:cs typeface="+mn-lt"/>
                </a:rPr>
                <a:t> </a:t>
              </a:r>
              <a:r>
                <a:rPr lang="zh-CN" altLang="en-US">
                  <a:cs typeface="+mn-lt"/>
                </a:rPr>
                <a:t>翻滚进行翻滚，翻滚后的方向在</a:t>
              </a:r>
              <a:r>
                <a:rPr lang="en-US" altLang="zh-CN">
                  <a:cs typeface="+mn-lt"/>
                </a:rPr>
                <a:t>[0,2</a:t>
              </a:r>
              <a:r>
                <a:rPr lang="en-US" altLang="zh-CN">
                  <a:ea typeface="微软雅黑" panose="020B0503020204020204" pitchFamily="34" charset="-122"/>
                  <a:cs typeface="+mn-lt"/>
                </a:rPr>
                <a:t>π)</a:t>
              </a:r>
              <a:r>
                <a:rPr lang="zh-CN" altLang="en-US">
                  <a:cs typeface="+mn-lt"/>
                </a:rPr>
                <a:t>在中随机选择，在</a:t>
              </a:r>
              <a:r>
                <a:rPr lang="en-US" altLang="zh-CN">
                  <a:cs typeface="+mn-lt"/>
                </a:rPr>
                <a:t>两次翻滚”之间以直线</a:t>
              </a:r>
              <a:r>
                <a:rPr lang="zh-CN" altLang="en-US">
                  <a:cs typeface="+mn-lt"/>
                </a:rPr>
                <a:t>行走</a:t>
              </a:r>
              <a:endParaRPr lang="zh-CN" altLang="en-US">
                <a:cs typeface="+mn-lt"/>
              </a:endParaRPr>
            </a:p>
          </p:txBody>
        </p:sp>
        <p:pic>
          <p:nvPicPr>
            <p:cNvPr id="13" name="图片 12"/>
            <p:cNvPicPr>
              <a:picLocks noChangeAspect="1"/>
            </p:cNvPicPr>
            <p:nvPr>
              <p:custDataLst>
                <p:tags r:id="rId4"/>
              </p:custDataLst>
            </p:nvPr>
          </p:nvPicPr>
          <p:blipFill>
            <a:blip r:embed="rId5"/>
            <a:stretch>
              <a:fillRect/>
            </a:stretch>
          </p:blipFill>
          <p:spPr>
            <a:xfrm>
              <a:off x="3936" y="5628"/>
              <a:ext cx="4925" cy="599"/>
            </a:xfrm>
            <a:prstGeom prst="rect">
              <a:avLst/>
            </a:prstGeom>
          </p:spPr>
        </p:pic>
        <p:pic>
          <p:nvPicPr>
            <p:cNvPr id="14" name="图片 13"/>
            <p:cNvPicPr>
              <a:picLocks noChangeAspect="1"/>
            </p:cNvPicPr>
            <p:nvPr>
              <p:custDataLst>
                <p:tags r:id="rId6"/>
              </p:custDataLst>
            </p:nvPr>
          </p:nvPicPr>
          <p:blipFill>
            <a:blip r:embed="rId7"/>
            <a:stretch>
              <a:fillRect/>
            </a:stretch>
          </p:blipFill>
          <p:spPr>
            <a:xfrm>
              <a:off x="12512" y="5395"/>
              <a:ext cx="5978" cy="3240"/>
            </a:xfrm>
            <a:prstGeom prst="rect">
              <a:avLst/>
            </a:prstGeom>
          </p:spPr>
        </p:pic>
        <p:sp>
          <p:nvSpPr>
            <p:cNvPr id="15" name="文本框 14"/>
            <p:cNvSpPr txBox="1"/>
            <p:nvPr/>
          </p:nvSpPr>
          <p:spPr>
            <a:xfrm>
              <a:off x="816" y="4865"/>
              <a:ext cx="13119" cy="530"/>
            </a:xfrm>
            <a:prstGeom prst="rect">
              <a:avLst/>
            </a:prstGeom>
            <a:noFill/>
          </p:spPr>
          <p:txBody>
            <a:bodyPr wrap="square" rtlCol="0">
              <a:spAutoFit/>
            </a:bodyPr>
            <a:p>
              <a:r>
                <a:rPr lang="en-US" altLang="zh-CN">
                  <a:cs typeface="+mn-lt"/>
                </a:rPr>
                <a:t> </a:t>
              </a:r>
              <a:r>
                <a:rPr lang="zh-CN" altLang="en-US">
                  <a:cs typeface="+mn-lt"/>
                </a:rPr>
                <a:t>典型动力学机制（</a:t>
              </a:r>
              <a:r>
                <a:rPr lang="en-US" altLang="zh-CN">
                  <a:cs typeface="+mn-lt"/>
                </a:rPr>
                <a:t>run-and-tumble particles,RTPS</a:t>
              </a:r>
              <a:r>
                <a:rPr lang="zh-CN" altLang="en-US">
                  <a:cs typeface="+mn-lt"/>
                </a:rPr>
                <a:t>）</a:t>
              </a:r>
              <a:endParaRPr lang="zh-CN" altLang="en-US">
                <a:cs typeface="+mn-lt"/>
              </a:endParaRPr>
            </a:p>
          </p:txBody>
        </p:sp>
      </p:grpSp>
      <p:cxnSp>
        <p:nvCxnSpPr>
          <p:cNvPr id="24" name="直接连接符 23"/>
          <p:cNvCxnSpPr/>
          <p:nvPr/>
        </p:nvCxnSpPr>
        <p:spPr>
          <a:xfrm>
            <a:off x="7867650" y="657225"/>
            <a:ext cx="19050" cy="6200775"/>
          </a:xfrm>
          <a:prstGeom prst="line">
            <a:avLst/>
          </a:prstGeom>
          <a:ln>
            <a:solidFill>
              <a:srgbClr val="552E61"/>
            </a:solidFill>
          </a:ln>
        </p:spPr>
        <p:style>
          <a:lnRef idx="2">
            <a:schemeClr val="accent1"/>
          </a:lnRef>
          <a:fillRef idx="0">
            <a:srgbClr val="FFFFFF"/>
          </a:fillRef>
          <a:effectRef idx="0">
            <a:srgbClr val="FFFFFF"/>
          </a:effectRef>
          <a:fontRef idx="minor">
            <a:schemeClr val="tx1"/>
          </a:fontRef>
        </p:style>
      </p:cxnSp>
      <p:grpSp>
        <p:nvGrpSpPr>
          <p:cNvPr id="26" name="组合 25"/>
          <p:cNvGrpSpPr/>
          <p:nvPr/>
        </p:nvGrpSpPr>
        <p:grpSpPr>
          <a:xfrm>
            <a:off x="7907655" y="1385570"/>
            <a:ext cx="3729990" cy="3131185"/>
            <a:chOff x="487" y="1312"/>
            <a:chExt cx="5874" cy="4931"/>
          </a:xfrm>
        </p:grpSpPr>
        <p:grpSp>
          <p:nvGrpSpPr>
            <p:cNvPr id="19" name="组合 18"/>
            <p:cNvGrpSpPr/>
            <p:nvPr/>
          </p:nvGrpSpPr>
          <p:grpSpPr>
            <a:xfrm rot="0">
              <a:off x="487" y="1312"/>
              <a:ext cx="5874" cy="2582"/>
              <a:chOff x="487" y="1312"/>
              <a:chExt cx="6763" cy="2582"/>
            </a:xfrm>
          </p:grpSpPr>
          <p:sp>
            <p:nvSpPr>
              <p:cNvPr id="20" name="文本框 19"/>
              <p:cNvSpPr txBox="1"/>
              <p:nvPr>
                <p:custDataLst>
                  <p:tags r:id="rId8"/>
                </p:custDataLst>
              </p:nvPr>
            </p:nvSpPr>
            <p:spPr>
              <a:xfrm>
                <a:off x="487" y="1312"/>
                <a:ext cx="6763" cy="725"/>
              </a:xfrm>
              <a:prstGeom prst="rect">
                <a:avLst/>
              </a:prstGeom>
              <a:noFill/>
            </p:spPr>
            <p:txBody>
              <a:bodyPr wrap="square" rtlCol="0">
                <a:spAutoFit/>
              </a:bodyPr>
              <a:p>
                <a:r>
                  <a:rPr lang="zh-CN" altLang="en-US" sz="2400">
                    <a:latin typeface="Calibri (正文)" charset="0"/>
                    <a:ea typeface="Calibri (正文)" charset="0"/>
                  </a:rPr>
                  <a:t>气液相分离</a:t>
                </a:r>
                <a:r>
                  <a:rPr lang="en-US" altLang="zh-CN" sz="2400"/>
                  <a:t>    </a:t>
                </a:r>
                <a:r>
                  <a:rPr lang="en-US" altLang="zh-CN" sz="2400">
                    <a:cs typeface="+mn-lt"/>
                  </a:rPr>
                  <a:t>model B</a:t>
                </a:r>
                <a:endParaRPr lang="en-US" altLang="zh-CN" sz="2400">
                  <a:cs typeface="+mn-lt"/>
                </a:endParaRPr>
              </a:p>
            </p:txBody>
          </p:sp>
          <p:pic>
            <p:nvPicPr>
              <p:cNvPr id="21" name="图片 20"/>
              <p:cNvPicPr>
                <a:picLocks noChangeAspect="1"/>
              </p:cNvPicPr>
              <p:nvPr>
                <p:custDataLst>
                  <p:tags r:id="rId9"/>
                </p:custDataLst>
              </p:nvPr>
            </p:nvPicPr>
            <p:blipFill>
              <a:blip r:embed="rId10"/>
              <a:stretch>
                <a:fillRect/>
              </a:stretch>
            </p:blipFill>
            <p:spPr>
              <a:xfrm>
                <a:off x="743" y="3083"/>
                <a:ext cx="5204" cy="811"/>
              </a:xfrm>
              <a:prstGeom prst="rect">
                <a:avLst/>
              </a:prstGeom>
            </p:spPr>
          </p:pic>
          <p:pic>
            <p:nvPicPr>
              <p:cNvPr id="22" name="图片 21"/>
              <p:cNvPicPr>
                <a:picLocks noChangeAspect="1"/>
              </p:cNvPicPr>
              <p:nvPr>
                <p:custDataLst>
                  <p:tags r:id="rId11"/>
                </p:custDataLst>
              </p:nvPr>
            </p:nvPicPr>
            <p:blipFill>
              <a:blip r:embed="rId12"/>
              <a:stretch>
                <a:fillRect/>
              </a:stretch>
            </p:blipFill>
            <p:spPr>
              <a:xfrm>
                <a:off x="586" y="2070"/>
                <a:ext cx="6153" cy="1013"/>
              </a:xfrm>
              <a:prstGeom prst="rect">
                <a:avLst/>
              </a:prstGeom>
            </p:spPr>
          </p:pic>
        </p:grpSp>
        <p:sp>
          <p:nvSpPr>
            <p:cNvPr id="25" name="文本框 24"/>
            <p:cNvSpPr txBox="1"/>
            <p:nvPr/>
          </p:nvSpPr>
          <p:spPr>
            <a:xfrm>
              <a:off x="745" y="5083"/>
              <a:ext cx="5609" cy="1161"/>
            </a:xfrm>
            <a:prstGeom prst="rect">
              <a:avLst/>
            </a:prstGeom>
            <a:noFill/>
          </p:spPr>
          <p:txBody>
            <a:bodyPr wrap="square" rtlCol="0" anchor="t">
              <a:spAutoFit/>
            </a:bodyPr>
            <a:p>
              <a:r>
                <a:rPr lang="zh-CN" altLang="en-US" sz="1400">
                  <a:cs typeface="+mn-lt"/>
                </a:rPr>
                <a:t>Hohenberg P C, Halperin B I. Theory of dynamic critical phenomena[J]. Reviews of Modern Physics, 1977, 49(3): 435</a:t>
              </a:r>
              <a:endParaRPr lang="zh-CN" altLang="en-US" sz="1400">
                <a:cs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797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5941" y="54878"/>
            <a:ext cx="3632887" cy="922020"/>
          </a:xfrm>
          <a:prstGeom prst="rect">
            <a:avLst/>
          </a:prstGeom>
          <a:noFill/>
        </p:spPr>
        <p:txBody>
          <a:bodyPr wrap="square" rtlCol="0">
            <a:spAutoFit/>
          </a:bodyPr>
          <a:lstStyle/>
          <a:p>
            <a:r>
              <a:rPr lang="zh-CN" altLang="en-US" sz="2700" b="1" dirty="0">
                <a:solidFill>
                  <a:schemeClr val="bg1"/>
                </a:solidFill>
                <a:ea typeface="微软雅黑" panose="020B0503020204020204" pitchFamily="34" charset="-122"/>
              </a:rPr>
              <a:t>思路</a:t>
            </a:r>
            <a:endParaRPr lang="en-US" altLang="zh-CN" sz="2700" b="1" dirty="0">
              <a:solidFill>
                <a:schemeClr val="bg1"/>
              </a:solidFill>
              <a:ea typeface="微软雅黑" panose="020B0503020204020204" pitchFamily="34" charset="-122"/>
            </a:endParaRPr>
          </a:p>
          <a:p>
            <a:endParaRPr lang="zh-CN" altLang="en-US" sz="2700" b="1" dirty="0">
              <a:ea typeface="微软雅黑" panose="020B0503020204020204" pitchFamily="34" charset="-122"/>
            </a:endParaRPr>
          </a:p>
        </p:txBody>
      </p:sp>
      <p:sp>
        <p:nvSpPr>
          <p:cNvPr id="5" name="灯片编号占位符 4"/>
          <p:cNvSpPr>
            <a:spLocks noGrp="1"/>
          </p:cNvSpPr>
          <p:nvPr>
            <p:ph type="sldNum" sz="quarter" idx="12"/>
          </p:nvPr>
        </p:nvSpPr>
        <p:spPr>
          <a:xfrm>
            <a:off x="9448800" y="6492875"/>
            <a:ext cx="2743200" cy="365125"/>
          </a:xfrm>
        </p:spPr>
        <p:txBody>
          <a:bodyPr/>
          <a:lstStyle/>
          <a:p>
            <a:fld id="{6510895A-BA6C-4CBB-8279-3888D09C9078}" type="slidenum">
              <a:rPr lang="zh-CN" altLang="en-US" smtClean="0"/>
            </a:fld>
            <a:endParaRPr lang="zh-CN" altLang="en-US"/>
          </a:p>
        </p:txBody>
      </p:sp>
      <p:sp>
        <p:nvSpPr>
          <p:cNvPr id="8" name="文本框 7"/>
          <p:cNvSpPr txBox="1"/>
          <p:nvPr/>
        </p:nvSpPr>
        <p:spPr>
          <a:xfrm>
            <a:off x="508000" y="696595"/>
            <a:ext cx="10175240" cy="922020"/>
          </a:xfrm>
          <a:prstGeom prst="rect">
            <a:avLst/>
          </a:prstGeom>
          <a:noFill/>
        </p:spPr>
        <p:txBody>
          <a:bodyPr wrap="square" rtlCol="0">
            <a:spAutoFit/>
          </a:bodyPr>
          <a:p>
            <a:r>
              <a:rPr lang="zh-CN" altLang="en-US">
                <a:cs typeface="+mn-lt"/>
              </a:rPr>
              <a:t>目的：</a:t>
            </a:r>
            <a:r>
              <a:rPr lang="en-US" altLang="zh-CN">
                <a:cs typeface="+mn-lt"/>
              </a:rPr>
              <a:t>MIPS</a:t>
            </a:r>
            <a:r>
              <a:rPr lang="zh-CN" altLang="en-US">
                <a:cs typeface="+mn-lt"/>
              </a:rPr>
              <a:t>在现象上和平衡态气液相分离相似，</a:t>
            </a:r>
            <a:r>
              <a:rPr lang="en-US" altLang="zh-CN">
                <a:cs typeface="+mn-lt"/>
              </a:rPr>
              <a:t>MIPS</a:t>
            </a:r>
            <a:r>
              <a:rPr lang="zh-CN" altLang="en-US">
                <a:cs typeface="+mn-lt"/>
              </a:rPr>
              <a:t>似乎离平衡态不远。</a:t>
            </a:r>
            <a:endParaRPr lang="zh-CN" altLang="en-US">
              <a:cs typeface="+mn-lt"/>
            </a:endParaRPr>
          </a:p>
          <a:p>
            <a:pPr indent="457200"/>
            <a:r>
              <a:rPr lang="zh-CN" altLang="en-US">
                <a:cs typeface="+mn-lt"/>
              </a:rPr>
              <a:t> </a:t>
            </a:r>
            <a:r>
              <a:rPr lang="en-US" altLang="zh-CN">
                <a:cs typeface="+mn-lt"/>
              </a:rPr>
              <a:t>   </a:t>
            </a:r>
            <a:r>
              <a:rPr lang="zh-CN" altLang="en-US">
                <a:cs typeface="+mn-lt"/>
              </a:rPr>
              <a:t>试图建立长时间，大尺度下的类似</a:t>
            </a:r>
            <a:r>
              <a:rPr lang="en-US" altLang="zh-CN">
                <a:cs typeface="+mn-lt"/>
              </a:rPr>
              <a:t>model B</a:t>
            </a:r>
            <a:r>
              <a:rPr lang="zh-CN" altLang="en-US">
                <a:cs typeface="+mn-lt"/>
              </a:rPr>
              <a:t>的集体动力学，从而建立</a:t>
            </a:r>
            <a:r>
              <a:rPr lang="en-US" altLang="zh-CN">
                <a:cs typeface="+mn-lt"/>
              </a:rPr>
              <a:t>MIPS</a:t>
            </a:r>
            <a:r>
              <a:rPr lang="zh-CN" altLang="en-US">
                <a:cs typeface="+mn-lt"/>
              </a:rPr>
              <a:t>的广义热力学，表征相分离</a:t>
            </a:r>
            <a:endParaRPr lang="zh-CN" altLang="en-US">
              <a:cs typeface="+mn-lt"/>
            </a:endParaRPr>
          </a:p>
        </p:txBody>
      </p:sp>
      <p:sp>
        <p:nvSpPr>
          <p:cNvPr id="10" name="文本框 9"/>
          <p:cNvSpPr txBox="1"/>
          <p:nvPr/>
        </p:nvSpPr>
        <p:spPr>
          <a:xfrm>
            <a:off x="716280" y="2016760"/>
            <a:ext cx="9758045" cy="368300"/>
          </a:xfrm>
          <a:prstGeom prst="rect">
            <a:avLst/>
          </a:prstGeom>
          <a:noFill/>
        </p:spPr>
        <p:txBody>
          <a:bodyPr wrap="square" rtlCol="0">
            <a:spAutoFit/>
          </a:bodyPr>
          <a:p>
            <a:r>
              <a:rPr lang="zh-CN" altLang="en-US">
                <a:cs typeface="+mn-lt"/>
                <a:sym typeface="+mn-ea"/>
              </a:rPr>
              <a:t>基于</a:t>
            </a:r>
            <a:r>
              <a:rPr lang="en-US" altLang="zh-CN">
                <a:cs typeface="+mn-lt"/>
                <a:sym typeface="+mn-ea"/>
              </a:rPr>
              <a:t>RTPS</a:t>
            </a:r>
            <a:r>
              <a:rPr lang="zh-CN" altLang="en-US">
                <a:cs typeface="+mn-lt"/>
                <a:sym typeface="+mn-ea"/>
              </a:rPr>
              <a:t>的</a:t>
            </a:r>
            <a:r>
              <a:rPr lang="en-US" altLang="zh-CN">
                <a:cs typeface="+mn-lt"/>
                <a:sym typeface="+mn-ea"/>
              </a:rPr>
              <a:t>Fokker-Planck</a:t>
            </a:r>
            <a:r>
              <a:rPr lang="zh-CN" altLang="en-US">
                <a:cs typeface="+mn-lt"/>
                <a:sym typeface="+mn-ea"/>
              </a:rPr>
              <a:t>方程，积去取向自由度，推导出</a:t>
            </a:r>
            <a:r>
              <a:rPr lang="zh-CN" altLang="en-US">
                <a:cs typeface="+mn-lt"/>
              </a:rPr>
              <a:t>单粒子的</a:t>
            </a:r>
            <a:r>
              <a:rPr lang="en-US" altLang="zh-CN">
                <a:cs typeface="+mn-lt"/>
              </a:rPr>
              <a:t>“</a:t>
            </a:r>
            <a:r>
              <a:rPr lang="zh-CN" altLang="en-US">
                <a:cs typeface="+mn-lt"/>
              </a:rPr>
              <a:t>有效</a:t>
            </a:r>
            <a:r>
              <a:rPr lang="en-US" altLang="zh-CN">
                <a:cs typeface="+mn-lt"/>
              </a:rPr>
              <a:t>”</a:t>
            </a:r>
            <a:r>
              <a:rPr lang="zh-CN" altLang="en-US">
                <a:cs typeface="+mn-lt"/>
              </a:rPr>
              <a:t>动力学</a:t>
            </a:r>
            <a:endParaRPr lang="zh-CN" altLang="en-US">
              <a:cs typeface="+mn-lt"/>
            </a:endParaRPr>
          </a:p>
        </p:txBody>
      </p:sp>
      <p:sp>
        <p:nvSpPr>
          <p:cNvPr id="11" name="下箭头 10"/>
          <p:cNvSpPr/>
          <p:nvPr/>
        </p:nvSpPr>
        <p:spPr>
          <a:xfrm>
            <a:off x="4662170" y="2505710"/>
            <a:ext cx="288925" cy="4362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16280" y="3051810"/>
            <a:ext cx="7317105" cy="368300"/>
          </a:xfrm>
          <a:prstGeom prst="rect">
            <a:avLst/>
          </a:prstGeom>
          <a:noFill/>
        </p:spPr>
        <p:txBody>
          <a:bodyPr wrap="square" rtlCol="0">
            <a:spAutoFit/>
          </a:bodyPr>
          <a:p>
            <a:r>
              <a:rPr lang="zh-CN" altLang="en-US">
                <a:sym typeface="+mn-ea"/>
              </a:rPr>
              <a:t>基于单粒子的动力学，建立</a:t>
            </a:r>
            <a:r>
              <a:rPr lang="zh-CN" altLang="en-US">
                <a:sym typeface="+mn-ea"/>
              </a:rPr>
              <a:t>多粒子的无相互作用密度场</a:t>
            </a:r>
            <a:r>
              <a:rPr lang="zh-CN" altLang="en-US">
                <a:sym typeface="+mn-ea"/>
              </a:rPr>
              <a:t>方程</a:t>
            </a:r>
            <a:endParaRPr lang="zh-CN" altLang="en-US">
              <a:sym typeface="+mn-ea"/>
            </a:endParaRPr>
          </a:p>
        </p:txBody>
      </p:sp>
      <p:sp>
        <p:nvSpPr>
          <p:cNvPr id="13" name="下箭头 12"/>
          <p:cNvSpPr/>
          <p:nvPr>
            <p:custDataLst>
              <p:tags r:id="rId1"/>
            </p:custDataLst>
          </p:nvPr>
        </p:nvSpPr>
        <p:spPr>
          <a:xfrm>
            <a:off x="4662170" y="3530600"/>
            <a:ext cx="288925" cy="4362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下箭头 14"/>
          <p:cNvSpPr/>
          <p:nvPr>
            <p:custDataLst>
              <p:tags r:id="rId2"/>
            </p:custDataLst>
          </p:nvPr>
        </p:nvSpPr>
        <p:spPr>
          <a:xfrm>
            <a:off x="4662170" y="4854575"/>
            <a:ext cx="288925" cy="4362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716280" y="4226560"/>
            <a:ext cx="9476740" cy="368300"/>
          </a:xfrm>
          <a:prstGeom prst="rect">
            <a:avLst/>
          </a:prstGeom>
          <a:noFill/>
        </p:spPr>
        <p:txBody>
          <a:bodyPr wrap="square" rtlCol="0">
            <a:spAutoFit/>
          </a:bodyPr>
          <a:p>
            <a:r>
              <a:rPr lang="zh-CN" altLang="en-US"/>
              <a:t>基于无相互作用密度场方程，添加群体感应相互作用，建立集体</a:t>
            </a:r>
            <a:r>
              <a:rPr lang="zh-CN" altLang="en-US"/>
              <a:t>动力学</a:t>
            </a:r>
            <a:endParaRPr lang="zh-CN" altLang="en-US"/>
          </a:p>
        </p:txBody>
      </p:sp>
      <p:sp>
        <p:nvSpPr>
          <p:cNvPr id="17" name="文本框 16"/>
          <p:cNvSpPr txBox="1"/>
          <p:nvPr/>
        </p:nvSpPr>
        <p:spPr>
          <a:xfrm>
            <a:off x="716280" y="5495290"/>
            <a:ext cx="9476740" cy="368300"/>
          </a:xfrm>
          <a:prstGeom prst="rect">
            <a:avLst/>
          </a:prstGeom>
          <a:noFill/>
        </p:spPr>
        <p:txBody>
          <a:bodyPr wrap="square" rtlCol="0">
            <a:spAutoFit/>
          </a:bodyPr>
          <a:p>
            <a:r>
              <a:rPr lang="zh-CN" altLang="en-US"/>
              <a:t>建立广义热力学，表征相分离以及其与</a:t>
            </a:r>
            <a:r>
              <a:rPr lang="zh-CN" altLang="en-US"/>
              <a:t>平衡态气液相分离不同之处</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6477000" cy="537845"/>
          </a:xfrm>
          <a:prstGeom prst="rect">
            <a:avLst/>
          </a:prstGeom>
          <a:noFill/>
        </p:spPr>
        <p:txBody>
          <a:bodyPr wrap="square" rtlCol="0">
            <a:noAutofit/>
          </a:bodyPr>
          <a:lstStyle/>
          <a:p>
            <a:r>
              <a:rPr lang="en-US" altLang="zh-CN" sz="2700" b="1" dirty="0">
                <a:solidFill>
                  <a:schemeClr val="bg1"/>
                </a:solidFill>
                <a:latin typeface="微软雅黑" panose="020B0503020204020204" pitchFamily="34" charset="-122"/>
                <a:ea typeface="微软雅黑" panose="020B0503020204020204" pitchFamily="34" charset="-122"/>
              </a:rPr>
              <a:t>1. </a:t>
            </a:r>
            <a:r>
              <a:rPr lang="en-US" altLang="zh-CN" sz="2700" b="1" dirty="0">
                <a:solidFill>
                  <a:schemeClr val="bg1"/>
                </a:solidFill>
                <a:latin typeface="微软雅黑" panose="020B0503020204020204" pitchFamily="34" charset="-122"/>
                <a:ea typeface="微软雅黑" panose="020B0503020204020204" pitchFamily="34" charset="-122"/>
                <a:sym typeface="+mn-ea"/>
              </a:rPr>
              <a:t>MIPS</a:t>
            </a:r>
            <a:r>
              <a:rPr lang="zh-CN" altLang="en-US" sz="2700" b="1" dirty="0">
                <a:solidFill>
                  <a:schemeClr val="bg1"/>
                </a:solidFill>
                <a:latin typeface="微软雅黑" panose="020B0503020204020204" pitchFamily="34" charset="-122"/>
                <a:ea typeface="微软雅黑" panose="020B0503020204020204" pitchFamily="34" charset="-122"/>
                <a:sym typeface="+mn-ea"/>
              </a:rPr>
              <a:t>的不稳定性机制</a:t>
            </a:r>
            <a:endParaRPr lang="zh-CN" altLang="en-US" sz="2700" b="1" dirty="0">
              <a:solidFill>
                <a:schemeClr val="bg1"/>
              </a:solidFill>
              <a:latin typeface="微软雅黑" panose="020B0503020204020204" pitchFamily="34" charset="-122"/>
              <a:ea typeface="微软雅黑" panose="020B0503020204020204" pitchFamily="34" charset="-122"/>
            </a:endParaRPr>
          </a:p>
          <a:p>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2766060" y="1245235"/>
            <a:ext cx="5792470" cy="504190"/>
          </a:xfrm>
          <a:prstGeom prst="rect">
            <a:avLst/>
          </a:prstGeom>
        </p:spPr>
      </p:pic>
      <p:sp>
        <p:nvSpPr>
          <p:cNvPr id="8" name="文本框 7"/>
          <p:cNvSpPr txBox="1"/>
          <p:nvPr/>
        </p:nvSpPr>
        <p:spPr>
          <a:xfrm>
            <a:off x="309245" y="763905"/>
            <a:ext cx="3627755" cy="460375"/>
          </a:xfrm>
          <a:prstGeom prst="rect">
            <a:avLst/>
          </a:prstGeom>
          <a:noFill/>
        </p:spPr>
        <p:txBody>
          <a:bodyPr wrap="square" rtlCol="0">
            <a:spAutoFit/>
          </a:bodyPr>
          <a:p>
            <a:r>
              <a:rPr lang="en-US" altLang="zh-CN" sz="2400">
                <a:cs typeface="+mn-lt"/>
              </a:rPr>
              <a:t>Fokker-Planck</a:t>
            </a:r>
            <a:r>
              <a:rPr lang="zh-CN" altLang="en-US" sz="2400">
                <a:cs typeface="+mn-lt"/>
              </a:rPr>
              <a:t>方程</a:t>
            </a:r>
            <a:endParaRPr lang="zh-CN" altLang="en-US" sz="2400">
              <a:cs typeface="+mn-lt"/>
            </a:endParaRPr>
          </a:p>
        </p:txBody>
      </p:sp>
      <p:pic>
        <p:nvPicPr>
          <p:cNvPr id="11" name="图片 10"/>
          <p:cNvPicPr>
            <a:picLocks noChangeAspect="1"/>
          </p:cNvPicPr>
          <p:nvPr>
            <p:custDataLst>
              <p:tags r:id="rId3"/>
            </p:custDataLst>
          </p:nvPr>
        </p:nvPicPr>
        <p:blipFill>
          <a:blip r:embed="rId4"/>
          <a:stretch>
            <a:fillRect/>
          </a:stretch>
        </p:blipFill>
        <p:spPr>
          <a:xfrm>
            <a:off x="2832100" y="4102100"/>
            <a:ext cx="2132330" cy="466725"/>
          </a:xfrm>
          <a:prstGeom prst="rect">
            <a:avLst/>
          </a:prstGeom>
        </p:spPr>
      </p:pic>
      <p:sp>
        <p:nvSpPr>
          <p:cNvPr id="12" name="文本框 11"/>
          <p:cNvSpPr txBox="1"/>
          <p:nvPr/>
        </p:nvSpPr>
        <p:spPr>
          <a:xfrm>
            <a:off x="1059180" y="3605530"/>
            <a:ext cx="1615440" cy="368300"/>
          </a:xfrm>
          <a:prstGeom prst="rect">
            <a:avLst/>
          </a:prstGeom>
          <a:noFill/>
        </p:spPr>
        <p:txBody>
          <a:bodyPr wrap="square" rtlCol="0">
            <a:spAutoFit/>
          </a:bodyPr>
          <a:p>
            <a:r>
              <a:rPr lang="zh-CN" altLang="en-US"/>
              <a:t>有稳态</a:t>
            </a:r>
            <a:r>
              <a:rPr lang="zh-CN" altLang="en-US"/>
              <a:t>解</a:t>
            </a:r>
            <a:endParaRPr lang="zh-CN" altLang="en-US"/>
          </a:p>
        </p:txBody>
      </p:sp>
      <p:grpSp>
        <p:nvGrpSpPr>
          <p:cNvPr id="30" name="组合 29"/>
          <p:cNvGrpSpPr/>
          <p:nvPr/>
        </p:nvGrpSpPr>
        <p:grpSpPr>
          <a:xfrm>
            <a:off x="1059180" y="2444115"/>
            <a:ext cx="5969000" cy="368300"/>
            <a:chOff x="1668" y="5534"/>
            <a:chExt cx="9400" cy="580"/>
          </a:xfrm>
        </p:grpSpPr>
        <p:pic>
          <p:nvPicPr>
            <p:cNvPr id="9" name="图片 8"/>
            <p:cNvPicPr>
              <a:picLocks noChangeAspect="1"/>
            </p:cNvPicPr>
            <p:nvPr>
              <p:custDataLst>
                <p:tags r:id="rId5"/>
              </p:custDataLst>
            </p:nvPr>
          </p:nvPicPr>
          <p:blipFill>
            <a:blip r:embed="rId6"/>
            <a:stretch>
              <a:fillRect/>
            </a:stretch>
          </p:blipFill>
          <p:spPr>
            <a:xfrm>
              <a:off x="5835" y="5648"/>
              <a:ext cx="5233" cy="462"/>
            </a:xfrm>
            <a:prstGeom prst="rect">
              <a:avLst/>
            </a:prstGeom>
          </p:spPr>
        </p:pic>
        <p:sp>
          <p:nvSpPr>
            <p:cNvPr id="10" name="文本框 9"/>
            <p:cNvSpPr txBox="1"/>
            <p:nvPr/>
          </p:nvSpPr>
          <p:spPr>
            <a:xfrm>
              <a:off x="1951" y="5534"/>
              <a:ext cx="4461" cy="580"/>
            </a:xfrm>
            <a:prstGeom prst="rect">
              <a:avLst/>
            </a:prstGeom>
            <a:noFill/>
          </p:spPr>
          <p:txBody>
            <a:bodyPr wrap="square" rtlCol="0">
              <a:spAutoFit/>
            </a:bodyPr>
            <a:p>
              <a:r>
                <a:rPr lang="zh-CN" altLang="en-US"/>
                <a:t>是线性</a:t>
              </a:r>
              <a:r>
                <a:rPr lang="zh-CN" altLang="en-US"/>
                <a:t>算子，对于</a:t>
              </a:r>
              <a:r>
                <a:rPr lang="en-US" altLang="zh-CN"/>
                <a:t>RTP</a:t>
              </a:r>
              <a:r>
                <a:rPr lang="en-US" altLang="zh-CN"/>
                <a:t>s</a:t>
              </a:r>
              <a:endParaRPr lang="en-US" altLang="zh-CN"/>
            </a:p>
          </p:txBody>
        </p:sp>
        <p:pic>
          <p:nvPicPr>
            <p:cNvPr id="19" name="图片 18"/>
            <p:cNvPicPr>
              <a:picLocks noChangeAspect="1"/>
            </p:cNvPicPr>
            <p:nvPr>
              <p:custDataLst>
                <p:tags r:id="rId7"/>
              </p:custDataLst>
            </p:nvPr>
          </p:nvPicPr>
          <p:blipFill>
            <a:blip r:embed="rId8"/>
            <a:stretch>
              <a:fillRect/>
            </a:stretch>
          </p:blipFill>
          <p:spPr>
            <a:xfrm flipH="1">
              <a:off x="1668" y="5648"/>
              <a:ext cx="415" cy="462"/>
            </a:xfrm>
            <a:prstGeom prst="rect">
              <a:avLst/>
            </a:prstGeom>
          </p:spPr>
        </p:pic>
      </p:grpSp>
      <p:grpSp>
        <p:nvGrpSpPr>
          <p:cNvPr id="32" name="组合 31"/>
          <p:cNvGrpSpPr/>
          <p:nvPr/>
        </p:nvGrpSpPr>
        <p:grpSpPr>
          <a:xfrm>
            <a:off x="1059180" y="5014595"/>
            <a:ext cx="9740265" cy="368300"/>
            <a:chOff x="607" y="8490"/>
            <a:chExt cx="15339" cy="580"/>
          </a:xfrm>
        </p:grpSpPr>
        <p:grpSp>
          <p:nvGrpSpPr>
            <p:cNvPr id="31" name="组合 30"/>
            <p:cNvGrpSpPr/>
            <p:nvPr/>
          </p:nvGrpSpPr>
          <p:grpSpPr>
            <a:xfrm>
              <a:off x="607" y="8490"/>
              <a:ext cx="3605" cy="580"/>
              <a:chOff x="607" y="8435"/>
              <a:chExt cx="3605" cy="580"/>
            </a:xfrm>
          </p:grpSpPr>
          <p:sp>
            <p:nvSpPr>
              <p:cNvPr id="21" name="文本框 20"/>
              <p:cNvSpPr txBox="1"/>
              <p:nvPr/>
            </p:nvSpPr>
            <p:spPr>
              <a:xfrm>
                <a:off x="607" y="8435"/>
                <a:ext cx="1835" cy="580"/>
              </a:xfrm>
              <a:prstGeom prst="rect">
                <a:avLst/>
              </a:prstGeom>
              <a:noFill/>
            </p:spPr>
            <p:txBody>
              <a:bodyPr wrap="square" rtlCol="0">
                <a:spAutoFit/>
              </a:bodyPr>
              <a:p>
                <a:r>
                  <a:rPr lang="zh-CN" altLang="en-US"/>
                  <a:t>稳态解</a:t>
                </a:r>
                <a:r>
                  <a:rPr lang="zh-CN" altLang="en-US"/>
                  <a:t>中</a:t>
                </a:r>
                <a:endParaRPr lang="zh-CN" altLang="en-US"/>
              </a:p>
            </p:txBody>
          </p:sp>
          <p:sp>
            <p:nvSpPr>
              <p:cNvPr id="22" name="文本框 21"/>
              <p:cNvSpPr txBox="1"/>
              <p:nvPr/>
            </p:nvSpPr>
            <p:spPr>
              <a:xfrm>
                <a:off x="2344" y="8435"/>
                <a:ext cx="1868" cy="580"/>
              </a:xfrm>
              <a:prstGeom prst="rect">
                <a:avLst/>
              </a:prstGeom>
              <a:noFill/>
            </p:spPr>
            <p:txBody>
              <a:bodyPr wrap="square" rtlCol="0">
                <a:spAutoFit/>
              </a:bodyPr>
              <a:p>
                <a:r>
                  <a:rPr lang="zh-CN" altLang="en-US"/>
                  <a:t>各向同性</a:t>
                </a:r>
                <a:endParaRPr lang="zh-CN" altLang="en-US"/>
              </a:p>
            </p:txBody>
          </p:sp>
          <p:pic>
            <p:nvPicPr>
              <p:cNvPr id="23" name="图片 22"/>
              <p:cNvPicPr>
                <a:picLocks noChangeAspect="1"/>
              </p:cNvPicPr>
              <p:nvPr>
                <p:custDataLst>
                  <p:tags r:id="rId9"/>
                </p:custDataLst>
              </p:nvPr>
            </p:nvPicPr>
            <p:blipFill>
              <a:blip r:embed="rId10"/>
              <a:stretch>
                <a:fillRect/>
              </a:stretch>
            </p:blipFill>
            <p:spPr>
              <a:xfrm>
                <a:off x="2231" y="8512"/>
                <a:ext cx="211" cy="368"/>
              </a:xfrm>
              <a:prstGeom prst="rect">
                <a:avLst/>
              </a:prstGeom>
            </p:spPr>
          </p:pic>
        </p:grpSp>
        <p:sp>
          <p:nvSpPr>
            <p:cNvPr id="24" name="文本框 23"/>
            <p:cNvSpPr txBox="1"/>
            <p:nvPr/>
          </p:nvSpPr>
          <p:spPr>
            <a:xfrm>
              <a:off x="3795" y="8490"/>
              <a:ext cx="6393" cy="580"/>
            </a:xfrm>
            <a:prstGeom prst="rect">
              <a:avLst/>
            </a:prstGeom>
            <a:noFill/>
          </p:spPr>
          <p:txBody>
            <a:bodyPr wrap="square" rtlCol="0">
              <a:spAutoFit/>
            </a:bodyPr>
            <a:p>
              <a:r>
                <a:rPr lang="zh-CN" altLang="en-US"/>
                <a:t>，积去取向的自由度，得到密度</a:t>
              </a:r>
              <a:r>
                <a:rPr lang="zh-CN" altLang="en-US"/>
                <a:t>分布</a:t>
              </a:r>
              <a:endParaRPr lang="zh-CN" altLang="en-US"/>
            </a:p>
          </p:txBody>
        </p:sp>
        <p:pic>
          <p:nvPicPr>
            <p:cNvPr id="25" name="图片 24"/>
            <p:cNvPicPr>
              <a:picLocks noChangeAspect="1"/>
            </p:cNvPicPr>
            <p:nvPr>
              <p:custDataLst>
                <p:tags r:id="rId11"/>
              </p:custDataLst>
            </p:nvPr>
          </p:nvPicPr>
          <p:blipFill>
            <a:blip r:embed="rId12"/>
            <a:stretch>
              <a:fillRect/>
            </a:stretch>
          </p:blipFill>
          <p:spPr>
            <a:xfrm>
              <a:off x="9906" y="8512"/>
              <a:ext cx="685" cy="446"/>
            </a:xfrm>
            <a:prstGeom prst="rect">
              <a:avLst/>
            </a:prstGeom>
          </p:spPr>
        </p:pic>
        <p:sp>
          <p:nvSpPr>
            <p:cNvPr id="26" name="文本框 25"/>
            <p:cNvSpPr txBox="1"/>
            <p:nvPr/>
          </p:nvSpPr>
          <p:spPr>
            <a:xfrm>
              <a:off x="10591" y="8490"/>
              <a:ext cx="1235" cy="580"/>
            </a:xfrm>
            <a:prstGeom prst="rect">
              <a:avLst/>
            </a:prstGeom>
            <a:noFill/>
          </p:spPr>
          <p:txBody>
            <a:bodyPr wrap="square" rtlCol="0">
              <a:spAutoFit/>
            </a:bodyPr>
            <a:p>
              <a:r>
                <a:rPr lang="zh-CN" altLang="en-US"/>
                <a:t>，</a:t>
              </a:r>
              <a:r>
                <a:rPr lang="zh-CN" altLang="en-US"/>
                <a:t>和</a:t>
              </a:r>
              <a:endParaRPr lang="zh-CN" altLang="en-US"/>
            </a:p>
          </p:txBody>
        </p:sp>
        <p:pic>
          <p:nvPicPr>
            <p:cNvPr id="27" name="图片 26"/>
            <p:cNvPicPr>
              <a:picLocks noChangeAspect="1"/>
            </p:cNvPicPr>
            <p:nvPr>
              <p:custDataLst>
                <p:tags r:id="rId13"/>
              </p:custDataLst>
            </p:nvPr>
          </p:nvPicPr>
          <p:blipFill>
            <a:blip r:embed="rId10"/>
            <a:stretch>
              <a:fillRect/>
            </a:stretch>
          </p:blipFill>
          <p:spPr>
            <a:xfrm>
              <a:off x="11582" y="8546"/>
              <a:ext cx="271" cy="469"/>
            </a:xfrm>
            <a:prstGeom prst="rect">
              <a:avLst/>
            </a:prstGeom>
          </p:spPr>
        </p:pic>
        <p:sp>
          <p:nvSpPr>
            <p:cNvPr id="28" name="文本框 27"/>
            <p:cNvSpPr txBox="1"/>
            <p:nvPr/>
          </p:nvSpPr>
          <p:spPr>
            <a:xfrm>
              <a:off x="11948" y="8490"/>
              <a:ext cx="3998" cy="580"/>
            </a:xfrm>
            <a:prstGeom prst="rect">
              <a:avLst/>
            </a:prstGeom>
            <a:noFill/>
          </p:spPr>
          <p:txBody>
            <a:bodyPr wrap="square" rtlCol="0">
              <a:spAutoFit/>
            </a:bodyPr>
            <a:p>
              <a:r>
                <a:rPr lang="zh-CN" altLang="en-US"/>
                <a:t>只差一个比例</a:t>
              </a:r>
              <a:r>
                <a:rPr lang="zh-CN" altLang="en-US"/>
                <a:t>常数</a:t>
              </a:r>
              <a:endParaRPr lang="zh-CN" altLang="en-US"/>
            </a:p>
          </p:txBody>
        </p:sp>
      </p:grpSp>
      <p:grpSp>
        <p:nvGrpSpPr>
          <p:cNvPr id="6" name="组合 5"/>
          <p:cNvGrpSpPr/>
          <p:nvPr/>
        </p:nvGrpSpPr>
        <p:grpSpPr>
          <a:xfrm rot="0">
            <a:off x="1059180" y="1912620"/>
            <a:ext cx="5942965" cy="400685"/>
            <a:chOff x="1321" y="2866"/>
            <a:chExt cx="9359" cy="631"/>
          </a:xfrm>
        </p:grpSpPr>
        <p:pic>
          <p:nvPicPr>
            <p:cNvPr id="14" name="图片 13"/>
            <p:cNvPicPr>
              <a:picLocks noChangeAspect="1"/>
            </p:cNvPicPr>
            <p:nvPr>
              <p:custDataLst>
                <p:tags r:id="rId14"/>
              </p:custDataLst>
            </p:nvPr>
          </p:nvPicPr>
          <p:blipFill>
            <a:blip r:embed="rId15"/>
            <a:stretch>
              <a:fillRect/>
            </a:stretch>
          </p:blipFill>
          <p:spPr>
            <a:xfrm>
              <a:off x="1321" y="2958"/>
              <a:ext cx="254" cy="336"/>
            </a:xfrm>
            <a:prstGeom prst="rect">
              <a:avLst/>
            </a:prstGeom>
          </p:spPr>
        </p:pic>
        <p:sp>
          <p:nvSpPr>
            <p:cNvPr id="15" name="文本框 14"/>
            <p:cNvSpPr txBox="1"/>
            <p:nvPr/>
          </p:nvSpPr>
          <p:spPr>
            <a:xfrm>
              <a:off x="1512" y="2866"/>
              <a:ext cx="2167" cy="580"/>
            </a:xfrm>
            <a:prstGeom prst="rect">
              <a:avLst/>
            </a:prstGeom>
            <a:noFill/>
          </p:spPr>
          <p:txBody>
            <a:bodyPr wrap="square" rtlCol="0">
              <a:spAutoFit/>
            </a:bodyPr>
            <a:p>
              <a:r>
                <a:rPr lang="zh-CN" altLang="en-US"/>
                <a:t>代表</a:t>
              </a:r>
              <a:r>
                <a:rPr lang="zh-CN" altLang="en-US"/>
                <a:t>位置，</a:t>
              </a:r>
              <a:endParaRPr lang="zh-CN" altLang="en-US"/>
            </a:p>
          </p:txBody>
        </p:sp>
        <p:sp>
          <p:nvSpPr>
            <p:cNvPr id="16" name="文本框 15"/>
            <p:cNvSpPr txBox="1"/>
            <p:nvPr/>
          </p:nvSpPr>
          <p:spPr>
            <a:xfrm>
              <a:off x="3748" y="2866"/>
              <a:ext cx="2113" cy="580"/>
            </a:xfrm>
            <a:prstGeom prst="rect">
              <a:avLst/>
            </a:prstGeom>
            <a:noFill/>
          </p:spPr>
          <p:txBody>
            <a:bodyPr wrap="square" rtlCol="0">
              <a:spAutoFit/>
            </a:bodyPr>
            <a:p>
              <a:r>
                <a:rPr lang="zh-CN" altLang="en-US"/>
                <a:t>代表</a:t>
              </a:r>
              <a:r>
                <a:rPr lang="zh-CN" altLang="en-US"/>
                <a:t>取向，</a:t>
              </a:r>
              <a:endParaRPr lang="zh-CN" altLang="en-US"/>
            </a:p>
          </p:txBody>
        </p:sp>
        <p:pic>
          <p:nvPicPr>
            <p:cNvPr id="17" name="图片 16"/>
            <p:cNvPicPr>
              <a:picLocks noChangeAspect="1"/>
            </p:cNvPicPr>
            <p:nvPr>
              <p:custDataLst>
                <p:tags r:id="rId16"/>
              </p:custDataLst>
            </p:nvPr>
          </p:nvPicPr>
          <p:blipFill>
            <a:blip r:embed="rId17"/>
            <a:stretch>
              <a:fillRect/>
            </a:stretch>
          </p:blipFill>
          <p:spPr>
            <a:xfrm>
              <a:off x="3457" y="2961"/>
              <a:ext cx="296" cy="333"/>
            </a:xfrm>
            <a:prstGeom prst="rect">
              <a:avLst/>
            </a:prstGeom>
          </p:spPr>
        </p:pic>
        <p:pic>
          <p:nvPicPr>
            <p:cNvPr id="18" name="图片 17"/>
            <p:cNvPicPr>
              <a:picLocks noChangeAspect="1"/>
            </p:cNvPicPr>
            <p:nvPr>
              <p:custDataLst>
                <p:tags r:id="rId18"/>
              </p:custDataLst>
            </p:nvPr>
          </p:nvPicPr>
          <p:blipFill>
            <a:blip r:embed="rId19"/>
            <a:stretch>
              <a:fillRect/>
            </a:stretch>
          </p:blipFill>
          <p:spPr>
            <a:xfrm>
              <a:off x="5552" y="2949"/>
              <a:ext cx="1785" cy="443"/>
            </a:xfrm>
            <a:prstGeom prst="rect">
              <a:avLst/>
            </a:prstGeom>
          </p:spPr>
        </p:pic>
        <p:pic>
          <p:nvPicPr>
            <p:cNvPr id="20" name="图片 19"/>
            <p:cNvPicPr>
              <a:picLocks noChangeAspect="1"/>
            </p:cNvPicPr>
            <p:nvPr>
              <p:custDataLst>
                <p:tags r:id="rId20"/>
              </p:custDataLst>
            </p:nvPr>
          </p:nvPicPr>
          <p:blipFill>
            <a:blip r:embed="rId21"/>
            <a:stretch>
              <a:fillRect/>
            </a:stretch>
          </p:blipFill>
          <p:spPr>
            <a:xfrm>
              <a:off x="7708" y="2925"/>
              <a:ext cx="2972" cy="57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4927600" cy="537845"/>
          </a:xfrm>
          <a:prstGeom prst="rect">
            <a:avLst/>
          </a:prstGeom>
          <a:noFill/>
        </p:spPr>
        <p:txBody>
          <a:bodyPr wrap="square" rtlCol="0">
            <a:noAutofit/>
          </a:bodyPr>
          <a:lstStyle/>
          <a:p>
            <a:r>
              <a:rPr lang="en-US" altLang="zh-CN" sz="2700" b="1" dirty="0">
                <a:solidFill>
                  <a:schemeClr val="bg1"/>
                </a:solidFill>
                <a:latin typeface="微软雅黑" panose="020B0503020204020204" pitchFamily="34" charset="-122"/>
                <a:ea typeface="微软雅黑" panose="020B0503020204020204" pitchFamily="34" charset="-122"/>
              </a:rPr>
              <a:t>1. </a:t>
            </a:r>
            <a:r>
              <a:rPr lang="en-US" altLang="zh-CN" sz="2700" b="1" dirty="0">
                <a:solidFill>
                  <a:schemeClr val="bg1"/>
                </a:solidFill>
                <a:latin typeface="微软雅黑" panose="020B0503020204020204" pitchFamily="34" charset="-122"/>
                <a:ea typeface="微软雅黑" panose="020B0503020204020204" pitchFamily="34" charset="-122"/>
                <a:sym typeface="+mn-ea"/>
              </a:rPr>
              <a:t>MIPS</a:t>
            </a:r>
            <a:r>
              <a:rPr lang="zh-CN" altLang="en-US" sz="2700" b="1" dirty="0">
                <a:solidFill>
                  <a:schemeClr val="bg1"/>
                </a:solidFill>
                <a:latin typeface="微软雅黑" panose="020B0503020204020204" pitchFamily="34" charset="-122"/>
                <a:ea typeface="微软雅黑" panose="020B0503020204020204" pitchFamily="34" charset="-122"/>
                <a:sym typeface="+mn-ea"/>
              </a:rPr>
              <a:t>的不稳定性机制</a:t>
            </a:r>
            <a:endParaRPr lang="zh-CN" altLang="en-US" sz="2700" b="1" dirty="0">
              <a:solidFill>
                <a:schemeClr val="bg1"/>
              </a:solidFill>
              <a:latin typeface="微软雅黑" panose="020B0503020204020204" pitchFamily="34" charset="-122"/>
              <a:ea typeface="微软雅黑" panose="020B0503020204020204" pitchFamily="34" charset="-122"/>
            </a:endParaRPr>
          </a:p>
          <a:p>
            <a:endParaRPr lang="zh-CN" altLang="en-US" sz="27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grpSp>
        <p:nvGrpSpPr>
          <p:cNvPr id="27" name="组合 26"/>
          <p:cNvGrpSpPr/>
          <p:nvPr/>
        </p:nvGrpSpPr>
        <p:grpSpPr>
          <a:xfrm>
            <a:off x="441960" y="1223645"/>
            <a:ext cx="6096000" cy="368300"/>
            <a:chOff x="846" y="1927"/>
            <a:chExt cx="9600" cy="580"/>
          </a:xfrm>
        </p:grpSpPr>
        <p:sp>
          <p:nvSpPr>
            <p:cNvPr id="5" name="文本框 4"/>
            <p:cNvSpPr txBox="1"/>
            <p:nvPr/>
          </p:nvSpPr>
          <p:spPr>
            <a:xfrm>
              <a:off x="846" y="1927"/>
              <a:ext cx="9600" cy="580"/>
            </a:xfrm>
            <a:prstGeom prst="rect">
              <a:avLst/>
            </a:prstGeom>
            <a:noFill/>
          </p:spPr>
          <p:txBody>
            <a:bodyPr wrap="square" rtlCol="0" anchor="t">
              <a:spAutoFit/>
            </a:bodyPr>
            <a:p>
              <a:r>
                <a:rPr lang="zh-CN" altLang="en-US"/>
                <a:t>假设速度 </a:t>
              </a:r>
              <a:r>
                <a:rPr lang="en-US" altLang="zh-CN"/>
                <a:t>      </a:t>
              </a:r>
              <a:r>
                <a:rPr lang="zh-CN" altLang="en-US"/>
                <a:t>是关于密度 </a:t>
              </a:r>
              <a:r>
                <a:rPr lang="en-US" altLang="zh-CN"/>
                <a:t>            </a:t>
              </a:r>
              <a:r>
                <a:rPr lang="zh-CN" altLang="en-US"/>
                <a:t>的函数 </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2593" y="2074"/>
              <a:ext cx="239" cy="324"/>
            </a:xfrm>
            <a:prstGeom prst="rect">
              <a:avLst/>
            </a:prstGeom>
          </p:spPr>
        </p:pic>
        <p:pic>
          <p:nvPicPr>
            <p:cNvPr id="25" name="图片 24"/>
            <p:cNvPicPr>
              <a:picLocks noChangeAspect="1"/>
            </p:cNvPicPr>
            <p:nvPr>
              <p:custDataLst>
                <p:tags r:id="rId3"/>
              </p:custDataLst>
            </p:nvPr>
          </p:nvPicPr>
          <p:blipFill>
            <a:blip r:embed="rId4"/>
            <a:stretch>
              <a:fillRect/>
            </a:stretch>
          </p:blipFill>
          <p:spPr>
            <a:xfrm>
              <a:off x="5036" y="2051"/>
              <a:ext cx="692" cy="450"/>
            </a:xfrm>
            <a:prstGeom prst="rect">
              <a:avLst/>
            </a:prstGeom>
          </p:spPr>
        </p:pic>
      </p:grpSp>
      <p:pic>
        <p:nvPicPr>
          <p:cNvPr id="7" name="图片 6"/>
          <p:cNvPicPr>
            <a:picLocks noChangeAspect="1"/>
          </p:cNvPicPr>
          <p:nvPr>
            <p:custDataLst>
              <p:tags r:id="rId5"/>
            </p:custDataLst>
          </p:nvPr>
        </p:nvPicPr>
        <p:blipFill>
          <a:blip r:embed="rId6"/>
          <a:stretch>
            <a:fillRect/>
          </a:stretch>
        </p:blipFill>
        <p:spPr>
          <a:xfrm>
            <a:off x="4404360" y="1264920"/>
            <a:ext cx="760095" cy="309245"/>
          </a:xfrm>
          <a:prstGeom prst="rect">
            <a:avLst/>
          </a:prstGeom>
        </p:spPr>
      </p:pic>
      <p:sp>
        <p:nvSpPr>
          <p:cNvPr id="8" name="文本框 7"/>
          <p:cNvSpPr txBox="1"/>
          <p:nvPr/>
        </p:nvSpPr>
        <p:spPr>
          <a:xfrm>
            <a:off x="441960" y="1758315"/>
            <a:ext cx="5524500" cy="368300"/>
          </a:xfrm>
          <a:prstGeom prst="rect">
            <a:avLst/>
          </a:prstGeom>
          <a:noFill/>
        </p:spPr>
        <p:txBody>
          <a:bodyPr wrap="square" rtlCol="0">
            <a:spAutoFit/>
          </a:bodyPr>
          <a:p>
            <a:r>
              <a:rPr lang="zh-CN" altLang="en-US"/>
              <a:t>对密度进行不稳定性分析，如果存在</a:t>
            </a:r>
            <a:r>
              <a:rPr lang="zh-CN" altLang="en-US"/>
              <a:t>涨落</a:t>
            </a:r>
            <a:endParaRPr lang="zh-CN" altLang="en-US"/>
          </a:p>
        </p:txBody>
      </p:sp>
      <p:pic>
        <p:nvPicPr>
          <p:cNvPr id="9" name="图片 8"/>
          <p:cNvPicPr>
            <a:picLocks noChangeAspect="1"/>
          </p:cNvPicPr>
          <p:nvPr>
            <p:custDataLst>
              <p:tags r:id="rId7"/>
            </p:custDataLst>
          </p:nvPr>
        </p:nvPicPr>
        <p:blipFill>
          <a:blip r:embed="rId8"/>
          <a:stretch>
            <a:fillRect/>
          </a:stretch>
        </p:blipFill>
        <p:spPr>
          <a:xfrm>
            <a:off x="4836795" y="1786890"/>
            <a:ext cx="2122805" cy="351790"/>
          </a:xfrm>
          <a:prstGeom prst="rect">
            <a:avLst/>
          </a:prstGeom>
        </p:spPr>
      </p:pic>
      <p:pic>
        <p:nvPicPr>
          <p:cNvPr id="10" name="图片 9"/>
          <p:cNvPicPr>
            <a:picLocks noChangeAspect="1"/>
          </p:cNvPicPr>
          <p:nvPr>
            <p:custDataLst>
              <p:tags r:id="rId9"/>
            </p:custDataLst>
          </p:nvPr>
        </p:nvPicPr>
        <p:blipFill>
          <a:blip r:embed="rId10"/>
          <a:stretch>
            <a:fillRect/>
          </a:stretch>
        </p:blipFill>
        <p:spPr>
          <a:xfrm>
            <a:off x="4652645" y="2250440"/>
            <a:ext cx="3274060" cy="443230"/>
          </a:xfrm>
          <a:prstGeom prst="rect">
            <a:avLst/>
          </a:prstGeom>
        </p:spPr>
      </p:pic>
      <p:sp>
        <p:nvSpPr>
          <p:cNvPr id="11" name="文本框 10"/>
          <p:cNvSpPr txBox="1"/>
          <p:nvPr/>
        </p:nvSpPr>
        <p:spPr>
          <a:xfrm>
            <a:off x="441960" y="2283460"/>
            <a:ext cx="4394835" cy="368300"/>
          </a:xfrm>
          <a:prstGeom prst="rect">
            <a:avLst/>
          </a:prstGeom>
          <a:noFill/>
        </p:spPr>
        <p:txBody>
          <a:bodyPr wrap="square" rtlCol="0">
            <a:spAutoFit/>
          </a:bodyPr>
          <a:p>
            <a:r>
              <a:rPr lang="zh-CN" altLang="en-US"/>
              <a:t>速度是关于密度的</a:t>
            </a:r>
            <a:r>
              <a:rPr lang="zh-CN" altLang="en-US"/>
              <a:t>函数，速度存在</a:t>
            </a:r>
            <a:r>
              <a:rPr lang="zh-CN" altLang="en-US"/>
              <a:t>涨落</a:t>
            </a:r>
            <a:endParaRPr lang="zh-CN" altLang="en-US"/>
          </a:p>
        </p:txBody>
      </p:sp>
      <p:sp>
        <p:nvSpPr>
          <p:cNvPr id="12" name="文本框 11"/>
          <p:cNvSpPr txBox="1"/>
          <p:nvPr/>
        </p:nvSpPr>
        <p:spPr>
          <a:xfrm>
            <a:off x="441960" y="2849880"/>
            <a:ext cx="3195320" cy="368300"/>
          </a:xfrm>
          <a:prstGeom prst="rect">
            <a:avLst/>
          </a:prstGeom>
          <a:noFill/>
        </p:spPr>
        <p:txBody>
          <a:bodyPr wrap="square" rtlCol="0">
            <a:spAutoFit/>
          </a:bodyPr>
          <a:p>
            <a:r>
              <a:rPr lang="zh-CN" altLang="en-US"/>
              <a:t>由稳态解得到</a:t>
            </a:r>
            <a:r>
              <a:rPr lang="en-US" altLang="zh-CN"/>
              <a:t>“</a:t>
            </a:r>
            <a:r>
              <a:rPr lang="zh-CN" altLang="en-US"/>
              <a:t>新</a:t>
            </a:r>
            <a:r>
              <a:rPr lang="en-US" altLang="zh-CN"/>
              <a:t>”</a:t>
            </a:r>
            <a:r>
              <a:rPr lang="zh-CN" altLang="en-US"/>
              <a:t>的密度</a:t>
            </a:r>
            <a:r>
              <a:rPr lang="zh-CN" altLang="en-US"/>
              <a:t>涨落</a:t>
            </a:r>
            <a:endParaRPr lang="zh-CN" altLang="en-US"/>
          </a:p>
        </p:txBody>
      </p:sp>
      <p:pic>
        <p:nvPicPr>
          <p:cNvPr id="13" name="图片 12"/>
          <p:cNvPicPr>
            <a:picLocks noChangeAspect="1"/>
          </p:cNvPicPr>
          <p:nvPr>
            <p:custDataLst>
              <p:tags r:id="rId11"/>
            </p:custDataLst>
          </p:nvPr>
        </p:nvPicPr>
        <p:blipFill>
          <a:blip r:embed="rId12"/>
          <a:stretch>
            <a:fillRect/>
          </a:stretch>
        </p:blipFill>
        <p:spPr>
          <a:xfrm>
            <a:off x="4708525" y="2693670"/>
            <a:ext cx="2815590" cy="669290"/>
          </a:xfrm>
          <a:prstGeom prst="rect">
            <a:avLst/>
          </a:prstGeom>
        </p:spPr>
      </p:pic>
      <p:sp>
        <p:nvSpPr>
          <p:cNvPr id="17" name="文本框 16"/>
          <p:cNvSpPr txBox="1"/>
          <p:nvPr/>
        </p:nvSpPr>
        <p:spPr>
          <a:xfrm>
            <a:off x="441960" y="3522980"/>
            <a:ext cx="3895725" cy="368300"/>
          </a:xfrm>
          <a:prstGeom prst="rect">
            <a:avLst/>
          </a:prstGeom>
          <a:noFill/>
        </p:spPr>
        <p:txBody>
          <a:bodyPr wrap="square" rtlCol="0">
            <a:spAutoFit/>
          </a:bodyPr>
          <a:p>
            <a:r>
              <a:rPr lang="zh-CN" altLang="en-US"/>
              <a:t>如果</a:t>
            </a:r>
            <a:r>
              <a:rPr lang="en-US" altLang="zh-CN"/>
              <a:t>“</a:t>
            </a:r>
            <a:r>
              <a:rPr lang="zh-CN" altLang="en-US"/>
              <a:t>新</a:t>
            </a:r>
            <a:r>
              <a:rPr lang="en-US" altLang="zh-CN"/>
              <a:t>”</a:t>
            </a:r>
            <a:r>
              <a:rPr lang="zh-CN" altLang="en-US"/>
              <a:t>的密度涨落大于开始的</a:t>
            </a:r>
            <a:r>
              <a:rPr lang="zh-CN" altLang="en-US"/>
              <a:t>涨落</a:t>
            </a:r>
            <a:endParaRPr lang="zh-CN" altLang="en-US"/>
          </a:p>
        </p:txBody>
      </p:sp>
      <p:pic>
        <p:nvPicPr>
          <p:cNvPr id="18" name="图片 17"/>
          <p:cNvPicPr>
            <a:picLocks noChangeAspect="1"/>
          </p:cNvPicPr>
          <p:nvPr>
            <p:custDataLst>
              <p:tags r:id="rId13"/>
            </p:custDataLst>
          </p:nvPr>
        </p:nvPicPr>
        <p:blipFill>
          <a:blip r:embed="rId14"/>
          <a:stretch>
            <a:fillRect/>
          </a:stretch>
        </p:blipFill>
        <p:spPr>
          <a:xfrm>
            <a:off x="4708525" y="3507105"/>
            <a:ext cx="3023870" cy="545465"/>
          </a:xfrm>
          <a:prstGeom prst="rect">
            <a:avLst/>
          </a:prstGeom>
        </p:spPr>
      </p:pic>
      <p:sp>
        <p:nvSpPr>
          <p:cNvPr id="19" name="文本框 18"/>
          <p:cNvSpPr txBox="1"/>
          <p:nvPr/>
        </p:nvSpPr>
        <p:spPr>
          <a:xfrm>
            <a:off x="441960" y="4215765"/>
            <a:ext cx="2286000" cy="368300"/>
          </a:xfrm>
          <a:prstGeom prst="rect">
            <a:avLst/>
          </a:prstGeom>
          <a:noFill/>
        </p:spPr>
        <p:txBody>
          <a:bodyPr wrap="square" rtlCol="0">
            <a:spAutoFit/>
          </a:bodyPr>
          <a:p>
            <a:r>
              <a:rPr lang="zh-CN" altLang="en-US"/>
              <a:t>则体系</a:t>
            </a:r>
            <a:r>
              <a:rPr lang="zh-CN" altLang="en-US"/>
              <a:t>不稳定</a:t>
            </a:r>
            <a:endParaRPr lang="zh-CN" altLang="en-US"/>
          </a:p>
        </p:txBody>
      </p:sp>
      <p:pic>
        <p:nvPicPr>
          <p:cNvPr id="20" name="图片 19"/>
          <p:cNvPicPr>
            <a:picLocks noChangeAspect="1"/>
          </p:cNvPicPr>
          <p:nvPr>
            <p:custDataLst>
              <p:tags r:id="rId15"/>
            </p:custDataLst>
          </p:nvPr>
        </p:nvPicPr>
        <p:blipFill>
          <a:blip r:embed="rId16"/>
          <a:stretch>
            <a:fillRect/>
          </a:stretch>
        </p:blipFill>
        <p:spPr>
          <a:xfrm>
            <a:off x="316230" y="4762500"/>
            <a:ext cx="5776595" cy="1550035"/>
          </a:xfrm>
          <a:prstGeom prst="rect">
            <a:avLst/>
          </a:prstGeom>
        </p:spPr>
      </p:pic>
      <p:sp>
        <p:nvSpPr>
          <p:cNvPr id="21" name="文本框 20"/>
          <p:cNvSpPr txBox="1"/>
          <p:nvPr/>
        </p:nvSpPr>
        <p:spPr>
          <a:xfrm>
            <a:off x="8128000" y="3429000"/>
            <a:ext cx="1717040" cy="337185"/>
          </a:xfrm>
          <a:prstGeom prst="rect">
            <a:avLst/>
          </a:prstGeom>
          <a:noFill/>
        </p:spPr>
        <p:txBody>
          <a:bodyPr wrap="square" rtlCol="0">
            <a:spAutoFit/>
          </a:bodyPr>
          <a:p>
            <a:r>
              <a:rPr lang="zh-CN" altLang="en-US" sz="1600">
                <a:solidFill>
                  <a:schemeClr val="tx1"/>
                </a:solidFill>
              </a:rPr>
              <a:t>物理意义：</a:t>
            </a:r>
            <a:r>
              <a:rPr lang="en-US" altLang="zh-CN" sz="1600">
                <a:solidFill>
                  <a:schemeClr val="tx1"/>
                </a:solidFill>
              </a:rPr>
              <a:t>                                       </a:t>
            </a:r>
            <a:endParaRPr lang="en-US" altLang="zh-CN" sz="1600">
              <a:solidFill>
                <a:schemeClr val="tx1"/>
              </a:solidFill>
            </a:endParaRPr>
          </a:p>
        </p:txBody>
      </p:sp>
      <p:pic>
        <p:nvPicPr>
          <p:cNvPr id="23" name="图片 22"/>
          <p:cNvPicPr>
            <a:picLocks noChangeAspect="1"/>
          </p:cNvPicPr>
          <p:nvPr>
            <p:custDataLst>
              <p:tags r:id="rId17"/>
            </p:custDataLst>
          </p:nvPr>
        </p:nvPicPr>
        <p:blipFill>
          <a:blip r:embed="rId18"/>
          <a:stretch>
            <a:fillRect/>
          </a:stretch>
        </p:blipFill>
        <p:spPr>
          <a:xfrm>
            <a:off x="9453880" y="3784600"/>
            <a:ext cx="2385060" cy="318770"/>
          </a:xfrm>
          <a:prstGeom prst="rect">
            <a:avLst/>
          </a:prstGeom>
        </p:spPr>
      </p:pic>
      <p:pic>
        <p:nvPicPr>
          <p:cNvPr id="24" name="图片 23"/>
          <p:cNvPicPr>
            <a:picLocks noChangeAspect="1"/>
          </p:cNvPicPr>
          <p:nvPr>
            <p:custDataLst>
              <p:tags r:id="rId19"/>
            </p:custDataLst>
          </p:nvPr>
        </p:nvPicPr>
        <p:blipFill>
          <a:blip r:embed="rId20"/>
          <a:stretch>
            <a:fillRect/>
          </a:stretch>
        </p:blipFill>
        <p:spPr>
          <a:xfrm>
            <a:off x="8437880" y="4204970"/>
            <a:ext cx="1015365" cy="274955"/>
          </a:xfrm>
          <a:prstGeom prst="rect">
            <a:avLst/>
          </a:prstGeom>
        </p:spPr>
      </p:pic>
      <p:sp>
        <p:nvSpPr>
          <p:cNvPr id="26" name="文本框 25"/>
          <p:cNvSpPr txBox="1"/>
          <p:nvPr>
            <p:custDataLst>
              <p:tags r:id="rId21"/>
            </p:custDataLst>
          </p:nvPr>
        </p:nvSpPr>
        <p:spPr>
          <a:xfrm>
            <a:off x="441960" y="735330"/>
            <a:ext cx="10334625" cy="368300"/>
          </a:xfrm>
          <a:prstGeom prst="rect">
            <a:avLst/>
          </a:prstGeom>
          <a:noFill/>
        </p:spPr>
        <p:txBody>
          <a:bodyPr wrap="square" rtlCol="0">
            <a:spAutoFit/>
          </a:bodyPr>
          <a:p>
            <a:r>
              <a:rPr lang="zh-CN" altLang="en-US"/>
              <a:t>反馈机制:在运动较慢的地方积累</a:t>
            </a:r>
            <a:r>
              <a:rPr lang="zh-CN" altLang="en-US">
                <a:latin typeface="Arial" panose="020B0604020202020204" pitchFamily="34" charset="0"/>
                <a:cs typeface="Arial" panose="020B0604020202020204" pitchFamily="34" charset="0"/>
              </a:rPr>
              <a:t>→</a:t>
            </a:r>
            <a:r>
              <a:rPr lang="zh-CN" altLang="en-US"/>
              <a:t>高密度使得运动变慢</a:t>
            </a:r>
            <a:r>
              <a:rPr lang="zh-CN" altLang="en-US">
                <a:latin typeface="Arial" panose="020B0604020202020204" pitchFamily="34" charset="0"/>
                <a:cs typeface="Arial" panose="020B0604020202020204" pitchFamily="34" charset="0"/>
                <a:sym typeface="+mn-ea"/>
              </a:rPr>
              <a:t>→</a:t>
            </a:r>
            <a:r>
              <a:rPr lang="zh-CN" altLang="en-US"/>
              <a:t>越来越多的堆积，导致相分离</a:t>
            </a:r>
            <a:endParaRPr lang="zh-CN" altLang="en-US"/>
          </a:p>
        </p:txBody>
      </p:sp>
      <p:grpSp>
        <p:nvGrpSpPr>
          <p:cNvPr id="30" name="组合 29"/>
          <p:cNvGrpSpPr/>
          <p:nvPr/>
        </p:nvGrpSpPr>
        <p:grpSpPr>
          <a:xfrm>
            <a:off x="7927340" y="2949575"/>
            <a:ext cx="2916555" cy="368300"/>
            <a:chOff x="12483" y="4715"/>
            <a:chExt cx="4593" cy="580"/>
          </a:xfrm>
        </p:grpSpPr>
        <p:grpSp>
          <p:nvGrpSpPr>
            <p:cNvPr id="28" name="组合 27"/>
            <p:cNvGrpSpPr/>
            <p:nvPr/>
          </p:nvGrpSpPr>
          <p:grpSpPr>
            <a:xfrm>
              <a:off x="12483" y="4715"/>
              <a:ext cx="2853" cy="580"/>
              <a:chOff x="13203" y="6727"/>
              <a:chExt cx="2853" cy="580"/>
            </a:xfrm>
          </p:grpSpPr>
          <p:pic>
            <p:nvPicPr>
              <p:cNvPr id="14" name="图片 13"/>
              <p:cNvPicPr>
                <a:picLocks noChangeAspect="1"/>
              </p:cNvPicPr>
              <p:nvPr>
                <p:custDataLst>
                  <p:tags r:id="rId22"/>
                </p:custDataLst>
              </p:nvPr>
            </p:nvPicPr>
            <p:blipFill>
              <a:blip r:embed="rId23"/>
              <a:stretch>
                <a:fillRect/>
              </a:stretch>
            </p:blipFill>
            <p:spPr>
              <a:xfrm>
                <a:off x="13203" y="6749"/>
                <a:ext cx="372" cy="406"/>
              </a:xfrm>
              <a:prstGeom prst="rect">
                <a:avLst/>
              </a:prstGeom>
            </p:spPr>
          </p:pic>
          <p:sp>
            <p:nvSpPr>
              <p:cNvPr id="16" name="文本框 15"/>
              <p:cNvSpPr txBox="1"/>
              <p:nvPr/>
            </p:nvSpPr>
            <p:spPr>
              <a:xfrm>
                <a:off x="13432" y="6727"/>
                <a:ext cx="2625" cy="580"/>
              </a:xfrm>
              <a:prstGeom prst="rect">
                <a:avLst/>
              </a:prstGeom>
              <a:noFill/>
            </p:spPr>
            <p:txBody>
              <a:bodyPr wrap="square" rtlCol="0">
                <a:spAutoFit/>
              </a:bodyPr>
              <a:p>
                <a:r>
                  <a:rPr lang="zh-CN" altLang="en-US"/>
                  <a:t>是归一化</a:t>
                </a:r>
                <a:r>
                  <a:rPr lang="zh-CN" altLang="en-US"/>
                  <a:t>常数</a:t>
                </a:r>
                <a:endParaRPr lang="zh-CN" altLang="en-US"/>
              </a:p>
            </p:txBody>
          </p:sp>
        </p:grpSp>
        <p:pic>
          <p:nvPicPr>
            <p:cNvPr id="29" name="图片 28"/>
            <p:cNvPicPr>
              <a:picLocks noChangeAspect="1"/>
            </p:cNvPicPr>
            <p:nvPr>
              <p:custDataLst>
                <p:tags r:id="rId24"/>
              </p:custDataLst>
            </p:nvPr>
          </p:nvPicPr>
          <p:blipFill>
            <a:blip r:embed="rId25"/>
            <a:stretch>
              <a:fillRect/>
            </a:stretch>
          </p:blipFill>
          <p:spPr>
            <a:xfrm>
              <a:off x="15232" y="4737"/>
              <a:ext cx="1845" cy="488"/>
            </a:xfrm>
            <a:prstGeom prst="rect">
              <a:avLst/>
            </a:prstGeom>
          </p:spPr>
        </p:pic>
      </p:grpSp>
      <p:sp>
        <p:nvSpPr>
          <p:cNvPr id="31" name="文本框 30"/>
          <p:cNvSpPr txBox="1"/>
          <p:nvPr/>
        </p:nvSpPr>
        <p:spPr>
          <a:xfrm>
            <a:off x="8319770" y="3766185"/>
            <a:ext cx="1238250" cy="337185"/>
          </a:xfrm>
          <a:prstGeom prst="rect">
            <a:avLst/>
          </a:prstGeom>
          <a:noFill/>
        </p:spPr>
        <p:txBody>
          <a:bodyPr wrap="square" rtlCol="0">
            <a:spAutoFit/>
          </a:bodyPr>
          <a:p>
            <a:r>
              <a:rPr lang="zh-CN" altLang="en-US" sz="1600">
                <a:sym typeface="+mn-ea"/>
              </a:rPr>
              <a:t>有效化学势</a:t>
            </a:r>
            <a:r>
              <a:rPr lang="en-US" altLang="zh-CN" sz="1600">
                <a:sym typeface="+mn-ea"/>
              </a:rPr>
              <a:t>                                                   </a:t>
            </a:r>
            <a:endParaRPr lang="zh-CN" altLang="en-US" sz="1600"/>
          </a:p>
        </p:txBody>
      </p:sp>
      <p:sp>
        <p:nvSpPr>
          <p:cNvPr id="32" name="文本框 31"/>
          <p:cNvSpPr txBox="1"/>
          <p:nvPr/>
        </p:nvSpPr>
        <p:spPr>
          <a:xfrm>
            <a:off x="9453880" y="4204970"/>
            <a:ext cx="1657350" cy="337185"/>
          </a:xfrm>
          <a:prstGeom prst="rect">
            <a:avLst/>
          </a:prstGeom>
          <a:noFill/>
        </p:spPr>
        <p:txBody>
          <a:bodyPr wrap="square" rtlCol="0">
            <a:spAutoFit/>
          </a:bodyPr>
          <a:p>
            <a:r>
              <a:rPr lang="zh-CN" altLang="en-US" sz="1600"/>
              <a:t>对应旋节分解</a:t>
            </a:r>
            <a:endParaRPr lang="zh-CN" altLang="en-US" sz="1600"/>
          </a:p>
        </p:txBody>
      </p:sp>
      <p:sp>
        <p:nvSpPr>
          <p:cNvPr id="33" name="矩形 32"/>
          <p:cNvSpPr/>
          <p:nvPr/>
        </p:nvSpPr>
        <p:spPr>
          <a:xfrm>
            <a:off x="8176895" y="3404870"/>
            <a:ext cx="3781425" cy="135255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右箭头 33"/>
          <p:cNvSpPr/>
          <p:nvPr/>
        </p:nvSpPr>
        <p:spPr>
          <a:xfrm rot="10800000">
            <a:off x="7795895" y="3691255"/>
            <a:ext cx="276225" cy="1606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7738110" cy="537845"/>
          </a:xfrm>
          <a:prstGeom prst="rect">
            <a:avLst/>
          </a:prstGeom>
          <a:noFill/>
        </p:spPr>
        <p:txBody>
          <a:bodyPr wrap="square" rtlCol="0">
            <a:noAutofit/>
          </a:bodyPr>
          <a:lstStyle/>
          <a:p>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单粒子的</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有效</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动力学</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维</a:t>
            </a:r>
            <a:endParaRPr lang="zh-CN" altLang="en-US" sz="27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sp>
        <p:nvSpPr>
          <p:cNvPr id="5" name="文本框 4"/>
          <p:cNvSpPr txBox="1"/>
          <p:nvPr/>
        </p:nvSpPr>
        <p:spPr>
          <a:xfrm>
            <a:off x="251460" y="671195"/>
            <a:ext cx="1533525" cy="368300"/>
          </a:xfrm>
          <a:prstGeom prst="rect">
            <a:avLst/>
          </a:prstGeom>
          <a:noFill/>
        </p:spPr>
        <p:txBody>
          <a:bodyPr wrap="square" rtlCol="0">
            <a:spAutoFit/>
          </a:bodyPr>
          <a:p>
            <a:r>
              <a:rPr lang="zh-CN" altLang="en-US"/>
              <a:t>假设</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954405" y="693420"/>
            <a:ext cx="516890" cy="339725"/>
          </a:xfrm>
          <a:prstGeom prst="rect">
            <a:avLst/>
          </a:prstGeom>
        </p:spPr>
      </p:pic>
      <p:sp>
        <p:nvSpPr>
          <p:cNvPr id="7" name="文本框 6"/>
          <p:cNvSpPr txBox="1"/>
          <p:nvPr/>
        </p:nvSpPr>
        <p:spPr>
          <a:xfrm>
            <a:off x="1683385" y="654050"/>
            <a:ext cx="2533650" cy="368300"/>
          </a:xfrm>
          <a:prstGeom prst="rect">
            <a:avLst/>
          </a:prstGeom>
          <a:noFill/>
        </p:spPr>
        <p:txBody>
          <a:bodyPr wrap="square" rtlCol="0">
            <a:spAutoFit/>
          </a:bodyPr>
          <a:p>
            <a:r>
              <a:rPr lang="zh-CN" altLang="en-US"/>
              <a:t>在空间上缓慢</a:t>
            </a:r>
            <a:r>
              <a:rPr lang="zh-CN" altLang="en-US"/>
              <a:t>变化</a:t>
            </a:r>
            <a:endParaRPr lang="zh-CN" altLang="en-US"/>
          </a:p>
        </p:txBody>
      </p:sp>
      <p:grpSp>
        <p:nvGrpSpPr>
          <p:cNvPr id="33" name="组合 32"/>
          <p:cNvGrpSpPr/>
          <p:nvPr/>
        </p:nvGrpSpPr>
        <p:grpSpPr>
          <a:xfrm>
            <a:off x="3978910" y="699770"/>
            <a:ext cx="1444625" cy="322580"/>
            <a:chOff x="7290" y="1467"/>
            <a:chExt cx="5841" cy="1320"/>
          </a:xfrm>
        </p:grpSpPr>
        <p:pic>
          <p:nvPicPr>
            <p:cNvPr id="8" name="图片 7"/>
            <p:cNvPicPr>
              <a:picLocks noChangeAspect="1"/>
            </p:cNvPicPr>
            <p:nvPr>
              <p:custDataLst>
                <p:tags r:id="rId3"/>
              </p:custDataLst>
            </p:nvPr>
          </p:nvPicPr>
          <p:blipFill>
            <a:blip r:embed="rId4"/>
            <a:stretch>
              <a:fillRect/>
            </a:stretch>
          </p:blipFill>
          <p:spPr>
            <a:xfrm>
              <a:off x="7290" y="1467"/>
              <a:ext cx="3270" cy="132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10057" y="1467"/>
              <a:ext cx="3075" cy="1275"/>
            </a:xfrm>
            <a:prstGeom prst="rect">
              <a:avLst/>
            </a:prstGeom>
          </p:spPr>
        </p:pic>
      </p:grpSp>
      <p:pic>
        <p:nvPicPr>
          <p:cNvPr id="10" name="图片 9"/>
          <p:cNvPicPr>
            <a:picLocks noChangeAspect="1"/>
          </p:cNvPicPr>
          <p:nvPr>
            <p:custDataLst>
              <p:tags r:id="rId7"/>
            </p:custDataLst>
          </p:nvPr>
        </p:nvPicPr>
        <p:blipFill>
          <a:blip r:embed="rId8"/>
          <a:stretch>
            <a:fillRect/>
          </a:stretch>
        </p:blipFill>
        <p:spPr>
          <a:xfrm>
            <a:off x="1766570" y="1601470"/>
            <a:ext cx="8882380" cy="744855"/>
          </a:xfrm>
          <a:prstGeom prst="rect">
            <a:avLst/>
          </a:prstGeom>
        </p:spPr>
      </p:pic>
      <p:sp>
        <p:nvSpPr>
          <p:cNvPr id="11" name="文本框 10"/>
          <p:cNvSpPr txBox="1"/>
          <p:nvPr/>
        </p:nvSpPr>
        <p:spPr>
          <a:xfrm>
            <a:off x="251460" y="1204595"/>
            <a:ext cx="5510530" cy="368300"/>
          </a:xfrm>
          <a:prstGeom prst="rect">
            <a:avLst/>
          </a:prstGeom>
          <a:noFill/>
        </p:spPr>
        <p:txBody>
          <a:bodyPr wrap="square" rtlCol="0">
            <a:spAutoFit/>
          </a:bodyPr>
          <a:p>
            <a:r>
              <a:rPr lang="zh-CN" altLang="en-US"/>
              <a:t>加上平移扩散项，</a:t>
            </a:r>
            <a:r>
              <a:rPr lang="en-US" altLang="zh-CN"/>
              <a:t>Fokker-Planck</a:t>
            </a:r>
            <a:r>
              <a:rPr lang="zh-CN" altLang="en-US"/>
              <a:t>方程</a:t>
            </a:r>
            <a:endParaRPr lang="zh-CN" altLang="en-US"/>
          </a:p>
        </p:txBody>
      </p:sp>
      <p:pic>
        <p:nvPicPr>
          <p:cNvPr id="16" name="图片 15"/>
          <p:cNvPicPr>
            <a:picLocks noChangeAspect="1"/>
          </p:cNvPicPr>
          <p:nvPr>
            <p:custDataLst>
              <p:tags r:id="rId9"/>
            </p:custDataLst>
          </p:nvPr>
        </p:nvPicPr>
        <p:blipFill>
          <a:blip r:embed="rId10"/>
          <a:stretch>
            <a:fillRect/>
          </a:stretch>
        </p:blipFill>
        <p:spPr>
          <a:xfrm>
            <a:off x="8465185" y="2462530"/>
            <a:ext cx="2350770" cy="645795"/>
          </a:xfrm>
          <a:prstGeom prst="rect">
            <a:avLst/>
          </a:prstGeom>
        </p:spPr>
      </p:pic>
      <p:pic>
        <p:nvPicPr>
          <p:cNvPr id="17" name="图片 16"/>
          <p:cNvPicPr>
            <a:picLocks noChangeAspect="1"/>
          </p:cNvPicPr>
          <p:nvPr>
            <p:custDataLst>
              <p:tags r:id="rId11"/>
            </p:custDataLst>
          </p:nvPr>
        </p:nvPicPr>
        <p:blipFill>
          <a:blip r:embed="rId12"/>
          <a:stretch>
            <a:fillRect/>
          </a:stretch>
        </p:blipFill>
        <p:spPr>
          <a:xfrm>
            <a:off x="8465185" y="3099435"/>
            <a:ext cx="2846705" cy="436245"/>
          </a:xfrm>
          <a:prstGeom prst="rect">
            <a:avLst/>
          </a:prstGeom>
        </p:spPr>
      </p:pic>
      <p:grpSp>
        <p:nvGrpSpPr>
          <p:cNvPr id="23" name="组合 22"/>
          <p:cNvGrpSpPr/>
          <p:nvPr/>
        </p:nvGrpSpPr>
        <p:grpSpPr>
          <a:xfrm>
            <a:off x="208280" y="4141470"/>
            <a:ext cx="7959090" cy="368300"/>
            <a:chOff x="1072" y="8137"/>
            <a:chExt cx="12534" cy="580"/>
          </a:xfrm>
        </p:grpSpPr>
        <p:sp>
          <p:nvSpPr>
            <p:cNvPr id="18" name="文本框 17"/>
            <p:cNvSpPr txBox="1"/>
            <p:nvPr/>
          </p:nvSpPr>
          <p:spPr>
            <a:xfrm>
              <a:off x="1072" y="8137"/>
              <a:ext cx="12534" cy="580"/>
            </a:xfrm>
            <a:prstGeom prst="rect">
              <a:avLst/>
            </a:prstGeom>
            <a:noFill/>
          </p:spPr>
          <p:txBody>
            <a:bodyPr wrap="square" rtlCol="0">
              <a:spAutoFit/>
            </a:bodyPr>
            <a:p>
              <a:r>
                <a:rPr lang="en-US" altLang="zh-CN"/>
                <a:t>2.</a:t>
              </a:r>
              <a:r>
                <a:rPr lang="zh-CN" altLang="en-US"/>
                <a:t>左右同乘</a:t>
              </a:r>
              <a:r>
                <a:rPr lang="en-US" altLang="zh-CN"/>
                <a:t>             </a:t>
              </a:r>
              <a:r>
                <a:rPr lang="zh-CN" altLang="en-US"/>
                <a:t>，再对</a:t>
              </a:r>
              <a:r>
                <a:rPr lang="en-US" altLang="zh-CN"/>
                <a:t>       </a:t>
              </a:r>
              <a:r>
                <a:rPr lang="zh-CN" altLang="en-US"/>
                <a:t>积分，得到关于取向</a:t>
              </a:r>
              <a:r>
                <a:rPr lang="zh-CN" altLang="en-US"/>
                <a:t>场方程</a:t>
              </a:r>
              <a:endParaRPr lang="zh-CN" altLang="en-US"/>
            </a:p>
          </p:txBody>
        </p:sp>
        <p:pic>
          <p:nvPicPr>
            <p:cNvPr id="20" name="图片 19"/>
            <p:cNvPicPr>
              <a:picLocks noChangeAspect="1"/>
            </p:cNvPicPr>
            <p:nvPr>
              <p:custDataLst>
                <p:tags r:id="rId13"/>
              </p:custDataLst>
            </p:nvPr>
          </p:nvPicPr>
          <p:blipFill>
            <a:blip r:embed="rId14"/>
            <a:stretch>
              <a:fillRect/>
            </a:stretch>
          </p:blipFill>
          <p:spPr>
            <a:xfrm>
              <a:off x="3428" y="8161"/>
              <a:ext cx="749" cy="515"/>
            </a:xfrm>
            <a:prstGeom prst="rect">
              <a:avLst/>
            </a:prstGeom>
          </p:spPr>
        </p:pic>
        <p:pic>
          <p:nvPicPr>
            <p:cNvPr id="21" name="图片 20"/>
            <p:cNvPicPr>
              <a:picLocks noChangeAspect="1"/>
            </p:cNvPicPr>
            <p:nvPr>
              <p:custDataLst>
                <p:tags r:id="rId15"/>
              </p:custDataLst>
            </p:nvPr>
          </p:nvPicPr>
          <p:blipFill>
            <a:blip r:embed="rId16"/>
            <a:stretch>
              <a:fillRect/>
            </a:stretch>
          </p:blipFill>
          <p:spPr>
            <a:xfrm>
              <a:off x="5299" y="8301"/>
              <a:ext cx="220" cy="344"/>
            </a:xfrm>
            <a:prstGeom prst="rect">
              <a:avLst/>
            </a:prstGeom>
          </p:spPr>
        </p:pic>
      </p:grpSp>
      <p:grpSp>
        <p:nvGrpSpPr>
          <p:cNvPr id="25" name="组合 24"/>
          <p:cNvGrpSpPr/>
          <p:nvPr/>
        </p:nvGrpSpPr>
        <p:grpSpPr>
          <a:xfrm>
            <a:off x="8580120" y="3695065"/>
            <a:ext cx="3002280" cy="360680"/>
            <a:chOff x="4665" y="1354"/>
            <a:chExt cx="7176" cy="887"/>
          </a:xfrm>
        </p:grpSpPr>
        <p:pic>
          <p:nvPicPr>
            <p:cNvPr id="26" name="图片 25"/>
            <p:cNvPicPr>
              <a:picLocks noChangeAspect="1"/>
            </p:cNvPicPr>
            <p:nvPr>
              <p:custDataLst>
                <p:tags r:id="rId17"/>
              </p:custDataLst>
            </p:nvPr>
          </p:nvPicPr>
          <p:blipFill>
            <a:blip r:embed="rId18"/>
            <a:stretch>
              <a:fillRect/>
            </a:stretch>
          </p:blipFill>
          <p:spPr>
            <a:xfrm>
              <a:off x="4665" y="1493"/>
              <a:ext cx="1793" cy="608"/>
            </a:xfrm>
            <a:prstGeom prst="rect">
              <a:avLst/>
            </a:prstGeom>
          </p:spPr>
        </p:pic>
        <p:pic>
          <p:nvPicPr>
            <p:cNvPr id="27" name="图片 26"/>
            <p:cNvPicPr>
              <a:picLocks noChangeAspect="1"/>
            </p:cNvPicPr>
            <p:nvPr>
              <p:custDataLst>
                <p:tags r:id="rId19"/>
              </p:custDataLst>
            </p:nvPr>
          </p:nvPicPr>
          <p:blipFill>
            <a:blip r:embed="rId20"/>
            <a:stretch>
              <a:fillRect/>
            </a:stretch>
          </p:blipFill>
          <p:spPr>
            <a:xfrm>
              <a:off x="6319" y="1354"/>
              <a:ext cx="5522" cy="887"/>
            </a:xfrm>
            <a:prstGeom prst="rect">
              <a:avLst/>
            </a:prstGeom>
          </p:spPr>
        </p:pic>
      </p:grpSp>
      <p:grpSp>
        <p:nvGrpSpPr>
          <p:cNvPr id="40" name="组合 39"/>
          <p:cNvGrpSpPr/>
          <p:nvPr/>
        </p:nvGrpSpPr>
        <p:grpSpPr>
          <a:xfrm>
            <a:off x="203200" y="5148580"/>
            <a:ext cx="7792085" cy="512445"/>
            <a:chOff x="483" y="8924"/>
            <a:chExt cx="12271" cy="807"/>
          </a:xfrm>
        </p:grpSpPr>
        <p:sp>
          <p:nvSpPr>
            <p:cNvPr id="29" name="文本框 28"/>
            <p:cNvSpPr txBox="1"/>
            <p:nvPr/>
          </p:nvSpPr>
          <p:spPr>
            <a:xfrm>
              <a:off x="483" y="9031"/>
              <a:ext cx="12271" cy="580"/>
            </a:xfrm>
            <a:prstGeom prst="rect">
              <a:avLst/>
            </a:prstGeom>
            <a:noFill/>
          </p:spPr>
          <p:txBody>
            <a:bodyPr wrap="square" rtlCol="0" anchor="t">
              <a:spAutoFit/>
            </a:bodyPr>
            <a:p>
              <a:r>
                <a:rPr lang="en-US" altLang="zh-CN">
                  <a:sym typeface="+mn-ea"/>
                </a:rPr>
                <a:t>3.</a:t>
              </a:r>
              <a:r>
                <a:rPr lang="zh-CN" altLang="en-US">
                  <a:sym typeface="+mn-ea"/>
                </a:rPr>
                <a:t>左右同乘</a:t>
              </a:r>
              <a:r>
                <a:rPr lang="en-US" altLang="zh-CN">
                  <a:sym typeface="+mn-ea"/>
                </a:rPr>
                <a:t>                     </a:t>
              </a:r>
              <a:r>
                <a:rPr lang="zh-CN" altLang="en-US">
                  <a:sym typeface="+mn-ea"/>
                </a:rPr>
                <a:t>再对</a:t>
              </a:r>
              <a:r>
                <a:rPr lang="en-US" altLang="zh-CN">
                  <a:sym typeface="+mn-ea"/>
                </a:rPr>
                <a:t>     </a:t>
              </a:r>
              <a:r>
                <a:rPr lang="zh-CN" altLang="en-US">
                  <a:sym typeface="+mn-ea"/>
                </a:rPr>
                <a:t>积分，得到关于</a:t>
              </a:r>
              <a:r>
                <a:rPr lang="en-US" altLang="zh-CN">
                  <a:sym typeface="+mn-ea"/>
                </a:rPr>
                <a:t>Q</a:t>
              </a:r>
              <a:r>
                <a:rPr lang="zh-CN" altLang="en-US">
                  <a:sym typeface="+mn-ea"/>
                </a:rPr>
                <a:t>矩阵方程</a:t>
              </a:r>
              <a:endParaRPr lang="zh-CN" altLang="en-US">
                <a:sym typeface="+mn-ea"/>
              </a:endParaRPr>
            </a:p>
          </p:txBody>
        </p:sp>
        <p:pic>
          <p:nvPicPr>
            <p:cNvPr id="30" name="图片 29"/>
            <p:cNvPicPr>
              <a:picLocks noChangeAspect="1"/>
            </p:cNvPicPr>
            <p:nvPr>
              <p:custDataLst>
                <p:tags r:id="rId21"/>
              </p:custDataLst>
            </p:nvPr>
          </p:nvPicPr>
          <p:blipFill>
            <a:blip r:embed="rId22"/>
            <a:stretch>
              <a:fillRect/>
            </a:stretch>
          </p:blipFill>
          <p:spPr>
            <a:xfrm>
              <a:off x="2415" y="8924"/>
              <a:ext cx="1569" cy="807"/>
            </a:xfrm>
            <a:prstGeom prst="rect">
              <a:avLst/>
            </a:prstGeom>
          </p:spPr>
        </p:pic>
        <p:pic>
          <p:nvPicPr>
            <p:cNvPr id="31" name="图片 30"/>
            <p:cNvPicPr>
              <a:picLocks noChangeAspect="1"/>
            </p:cNvPicPr>
            <p:nvPr>
              <p:custDataLst>
                <p:tags r:id="rId23"/>
              </p:custDataLst>
            </p:nvPr>
          </p:nvPicPr>
          <p:blipFill>
            <a:blip r:embed="rId16"/>
            <a:stretch>
              <a:fillRect/>
            </a:stretch>
          </p:blipFill>
          <p:spPr>
            <a:xfrm>
              <a:off x="4775" y="9173"/>
              <a:ext cx="264" cy="413"/>
            </a:xfrm>
            <a:prstGeom prst="rect">
              <a:avLst/>
            </a:prstGeom>
          </p:spPr>
        </p:pic>
      </p:grpSp>
      <p:pic>
        <p:nvPicPr>
          <p:cNvPr id="32" name="图片 31"/>
          <p:cNvPicPr>
            <a:picLocks noChangeAspect="1"/>
          </p:cNvPicPr>
          <p:nvPr>
            <p:custDataLst>
              <p:tags r:id="rId24"/>
            </p:custDataLst>
          </p:nvPr>
        </p:nvPicPr>
        <p:blipFill>
          <a:blip r:embed="rId25"/>
          <a:stretch>
            <a:fillRect/>
          </a:stretch>
        </p:blipFill>
        <p:spPr>
          <a:xfrm>
            <a:off x="1683385" y="5612130"/>
            <a:ext cx="4017010" cy="454025"/>
          </a:xfrm>
          <a:prstGeom prst="rect">
            <a:avLst/>
          </a:prstGeom>
        </p:spPr>
      </p:pic>
      <p:grpSp>
        <p:nvGrpSpPr>
          <p:cNvPr id="24" name="组合 23"/>
          <p:cNvGrpSpPr/>
          <p:nvPr/>
        </p:nvGrpSpPr>
        <p:grpSpPr>
          <a:xfrm>
            <a:off x="307340" y="2763520"/>
            <a:ext cx="6718935" cy="1400175"/>
            <a:chOff x="907" y="5077"/>
            <a:chExt cx="10581" cy="2205"/>
          </a:xfrm>
        </p:grpSpPr>
        <p:sp>
          <p:nvSpPr>
            <p:cNvPr id="12" name="文本框 11"/>
            <p:cNvSpPr txBox="1"/>
            <p:nvPr/>
          </p:nvSpPr>
          <p:spPr>
            <a:xfrm>
              <a:off x="907" y="5077"/>
              <a:ext cx="3885" cy="580"/>
            </a:xfrm>
            <a:prstGeom prst="rect">
              <a:avLst/>
            </a:prstGeom>
            <a:noFill/>
          </p:spPr>
          <p:txBody>
            <a:bodyPr wrap="square" rtlCol="0">
              <a:spAutoFit/>
            </a:bodyPr>
            <a:p>
              <a:r>
                <a:rPr lang="en-US" altLang="zh-CN"/>
                <a:t>1.</a:t>
              </a:r>
              <a:r>
                <a:rPr lang="zh-CN" altLang="en-US"/>
                <a:t>左右对</a:t>
              </a:r>
              <a:endParaRPr lang="zh-CN" altLang="en-US"/>
            </a:p>
          </p:txBody>
        </p:sp>
        <p:pic>
          <p:nvPicPr>
            <p:cNvPr id="13" name="图片 12"/>
            <p:cNvPicPr>
              <a:picLocks noChangeAspect="1"/>
            </p:cNvPicPr>
            <p:nvPr>
              <p:custDataLst>
                <p:tags r:id="rId26"/>
              </p:custDataLst>
            </p:nvPr>
          </p:nvPicPr>
          <p:blipFill>
            <a:blip r:embed="rId16"/>
            <a:stretch>
              <a:fillRect/>
            </a:stretch>
          </p:blipFill>
          <p:spPr>
            <a:xfrm>
              <a:off x="2811" y="5181"/>
              <a:ext cx="263" cy="411"/>
            </a:xfrm>
            <a:prstGeom prst="rect">
              <a:avLst/>
            </a:prstGeom>
          </p:spPr>
        </p:pic>
        <p:sp>
          <p:nvSpPr>
            <p:cNvPr id="14" name="文本框 13"/>
            <p:cNvSpPr txBox="1"/>
            <p:nvPr/>
          </p:nvSpPr>
          <p:spPr>
            <a:xfrm>
              <a:off x="3074" y="5097"/>
              <a:ext cx="8414" cy="580"/>
            </a:xfrm>
            <a:prstGeom prst="rect">
              <a:avLst/>
            </a:prstGeom>
            <a:noFill/>
          </p:spPr>
          <p:txBody>
            <a:bodyPr wrap="square" rtlCol="0">
              <a:spAutoFit/>
            </a:bodyPr>
            <a:p>
              <a:r>
                <a:rPr lang="zh-CN" altLang="en-US"/>
                <a:t>积分，得到关于位置</a:t>
              </a:r>
              <a:r>
                <a:rPr lang="zh-CN" altLang="en-US"/>
                <a:t>场方程</a:t>
              </a:r>
              <a:endParaRPr lang="zh-CN" altLang="en-US"/>
            </a:p>
          </p:txBody>
        </p:sp>
        <p:pic>
          <p:nvPicPr>
            <p:cNvPr id="22" name="图片 21"/>
            <p:cNvPicPr>
              <a:picLocks noChangeAspect="1"/>
            </p:cNvPicPr>
            <p:nvPr>
              <p:custDataLst>
                <p:tags r:id="rId27"/>
              </p:custDataLst>
            </p:nvPr>
          </p:nvPicPr>
          <p:blipFill>
            <a:blip r:embed="rId28"/>
            <a:stretch>
              <a:fillRect/>
            </a:stretch>
          </p:blipFill>
          <p:spPr>
            <a:xfrm>
              <a:off x="2939" y="5909"/>
              <a:ext cx="8445" cy="780"/>
            </a:xfrm>
            <a:prstGeom prst="rect">
              <a:avLst/>
            </a:prstGeom>
          </p:spPr>
        </p:pic>
        <p:sp>
          <p:nvSpPr>
            <p:cNvPr id="35" name="矩形 34"/>
            <p:cNvSpPr/>
            <p:nvPr/>
          </p:nvSpPr>
          <p:spPr>
            <a:xfrm>
              <a:off x="7064" y="5901"/>
              <a:ext cx="1389" cy="870"/>
            </a:xfrm>
            <a:prstGeom prst="rect">
              <a:avLst/>
            </a:prstGeom>
            <a:noFill/>
            <a:ln w="28575">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文本框 35"/>
            <p:cNvSpPr txBox="1"/>
            <p:nvPr/>
          </p:nvSpPr>
          <p:spPr>
            <a:xfrm>
              <a:off x="8107" y="6702"/>
              <a:ext cx="1390" cy="580"/>
            </a:xfrm>
            <a:prstGeom prst="rect">
              <a:avLst/>
            </a:prstGeom>
            <a:noFill/>
          </p:spPr>
          <p:txBody>
            <a:bodyPr wrap="square" rtlCol="0">
              <a:spAutoFit/>
            </a:bodyPr>
            <a:p>
              <a:r>
                <a:rPr lang="zh-CN" altLang="en-US">
                  <a:solidFill>
                    <a:schemeClr val="accent1"/>
                  </a:solidFill>
                </a:rPr>
                <a:t>没积掉</a:t>
              </a:r>
              <a:endParaRPr lang="zh-CN" altLang="en-US">
                <a:solidFill>
                  <a:schemeClr val="accent1"/>
                </a:solidFill>
              </a:endParaRPr>
            </a:p>
          </p:txBody>
        </p:sp>
      </p:grpSp>
      <p:sp>
        <p:nvSpPr>
          <p:cNvPr id="37" name="文本框 36"/>
          <p:cNvSpPr txBox="1"/>
          <p:nvPr/>
        </p:nvSpPr>
        <p:spPr>
          <a:xfrm>
            <a:off x="203200" y="4659630"/>
            <a:ext cx="2856865" cy="368300"/>
          </a:xfrm>
          <a:prstGeom prst="rect">
            <a:avLst/>
          </a:prstGeom>
          <a:noFill/>
        </p:spPr>
        <p:txBody>
          <a:bodyPr wrap="square" rtlCol="0">
            <a:spAutoFit/>
          </a:bodyPr>
          <a:p>
            <a:r>
              <a:rPr lang="zh-CN" altLang="en-US"/>
              <a:t>引入</a:t>
            </a:r>
            <a:r>
              <a:rPr lang="en-US" altLang="zh-CN"/>
              <a:t>Q</a:t>
            </a:r>
            <a:r>
              <a:rPr lang="zh-CN" altLang="en-US"/>
              <a:t>矩阵，</a:t>
            </a:r>
            <a:endParaRPr lang="zh-CN" altLang="en-US"/>
          </a:p>
        </p:txBody>
      </p:sp>
      <p:grpSp>
        <p:nvGrpSpPr>
          <p:cNvPr id="19" name="组合 18"/>
          <p:cNvGrpSpPr/>
          <p:nvPr/>
        </p:nvGrpSpPr>
        <p:grpSpPr>
          <a:xfrm>
            <a:off x="306705" y="2247265"/>
            <a:ext cx="4748530" cy="368300"/>
            <a:chOff x="591" y="3539"/>
            <a:chExt cx="7478" cy="580"/>
          </a:xfrm>
        </p:grpSpPr>
        <p:sp>
          <p:nvSpPr>
            <p:cNvPr id="34" name="文本框 33"/>
            <p:cNvSpPr txBox="1"/>
            <p:nvPr/>
          </p:nvSpPr>
          <p:spPr>
            <a:xfrm>
              <a:off x="591" y="3539"/>
              <a:ext cx="7479" cy="580"/>
            </a:xfrm>
            <a:prstGeom prst="rect">
              <a:avLst/>
            </a:prstGeom>
            <a:noFill/>
          </p:spPr>
          <p:txBody>
            <a:bodyPr wrap="square" rtlCol="0">
              <a:spAutoFit/>
            </a:bodyPr>
            <a:p>
              <a:r>
                <a:rPr lang="zh-CN" altLang="en-US"/>
                <a:t>只关心位置场，想把</a:t>
              </a:r>
              <a:r>
                <a:rPr lang="en-US" altLang="zh-CN"/>
                <a:t>      </a:t>
              </a:r>
              <a:r>
                <a:rPr lang="zh-CN" altLang="en-US"/>
                <a:t>积掉</a:t>
              </a:r>
              <a:endParaRPr lang="zh-CN" altLang="en-US"/>
            </a:p>
          </p:txBody>
        </p:sp>
        <p:pic>
          <p:nvPicPr>
            <p:cNvPr id="15" name="图片 14"/>
            <p:cNvPicPr>
              <a:picLocks noChangeAspect="1"/>
            </p:cNvPicPr>
            <p:nvPr>
              <p:custDataLst>
                <p:tags r:id="rId29"/>
              </p:custDataLst>
            </p:nvPr>
          </p:nvPicPr>
          <p:blipFill>
            <a:blip r:embed="rId16"/>
            <a:stretch>
              <a:fillRect/>
            </a:stretch>
          </p:blipFill>
          <p:spPr>
            <a:xfrm>
              <a:off x="4092" y="3641"/>
              <a:ext cx="259" cy="404"/>
            </a:xfrm>
            <a:prstGeom prst="rect">
              <a:avLst/>
            </a:prstGeom>
          </p:spPr>
        </p:pic>
      </p:grpSp>
      <p:pic>
        <p:nvPicPr>
          <p:cNvPr id="39" name="图片 38"/>
          <p:cNvPicPr>
            <a:picLocks noChangeAspect="1"/>
          </p:cNvPicPr>
          <p:nvPr>
            <p:custDataLst>
              <p:tags r:id="rId30"/>
            </p:custDataLst>
          </p:nvPr>
        </p:nvPicPr>
        <p:blipFill>
          <a:blip r:embed="rId31"/>
          <a:stretch>
            <a:fillRect/>
          </a:stretch>
        </p:blipFill>
        <p:spPr>
          <a:xfrm>
            <a:off x="1597660" y="4593590"/>
            <a:ext cx="8110220" cy="636270"/>
          </a:xfrm>
          <a:prstGeom prst="rect">
            <a:avLst/>
          </a:prstGeom>
        </p:spPr>
      </p:pic>
      <p:pic>
        <p:nvPicPr>
          <p:cNvPr id="28" name="图片 27"/>
          <p:cNvPicPr>
            <a:picLocks noChangeAspect="1"/>
          </p:cNvPicPr>
          <p:nvPr>
            <p:custDataLst>
              <p:tags r:id="rId32"/>
            </p:custDataLst>
          </p:nvPr>
        </p:nvPicPr>
        <p:blipFill>
          <a:blip r:embed="rId33"/>
          <a:stretch>
            <a:fillRect/>
          </a:stretch>
        </p:blipFill>
        <p:spPr>
          <a:xfrm>
            <a:off x="1597660" y="4510405"/>
            <a:ext cx="7562215" cy="7124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7091680" cy="537845"/>
          </a:xfrm>
          <a:prstGeom prst="rect">
            <a:avLst/>
          </a:prstGeom>
          <a:noFill/>
        </p:spPr>
        <p:txBody>
          <a:bodyPr wrap="square" rtlCol="0">
            <a:noAutofit/>
          </a:bodyPr>
          <a:lstStyle/>
          <a:p>
            <a:r>
              <a:rPr lang="zh-CN" altLang="en-US" sz="2700" b="1">
                <a:solidFill>
                  <a:schemeClr val="bg1"/>
                </a:solidFill>
                <a:ea typeface="微软雅黑" panose="020B0503020204020204" pitchFamily="34" charset="-122"/>
                <a:cs typeface="+mn-lt"/>
                <a:sym typeface="+mn-ea"/>
              </a:rPr>
              <a:t>单粒子的</a:t>
            </a:r>
            <a:r>
              <a:rPr lang="en-US" altLang="zh-CN" sz="2700" b="1">
                <a:solidFill>
                  <a:schemeClr val="bg1"/>
                </a:solidFill>
                <a:ea typeface="微软雅黑" panose="020B0503020204020204" pitchFamily="34" charset="-122"/>
                <a:cs typeface="+mn-lt"/>
                <a:sym typeface="+mn-ea"/>
              </a:rPr>
              <a:t>“</a:t>
            </a:r>
            <a:r>
              <a:rPr lang="zh-CN" altLang="en-US" sz="2700" b="1">
                <a:solidFill>
                  <a:schemeClr val="bg1"/>
                </a:solidFill>
                <a:ea typeface="微软雅黑" panose="020B0503020204020204" pitchFamily="34" charset="-122"/>
                <a:cs typeface="+mn-lt"/>
                <a:sym typeface="+mn-ea"/>
              </a:rPr>
              <a:t>有效</a:t>
            </a:r>
            <a:r>
              <a:rPr lang="en-US" altLang="zh-CN" sz="2700" b="1">
                <a:solidFill>
                  <a:schemeClr val="bg1"/>
                </a:solidFill>
                <a:ea typeface="微软雅黑" panose="020B0503020204020204" pitchFamily="34" charset="-122"/>
                <a:cs typeface="+mn-lt"/>
                <a:sym typeface="+mn-ea"/>
              </a:rPr>
              <a:t>”</a:t>
            </a:r>
            <a:r>
              <a:rPr lang="zh-CN" altLang="en-US" sz="2700" b="1">
                <a:solidFill>
                  <a:schemeClr val="bg1"/>
                </a:solidFill>
                <a:ea typeface="微软雅黑" panose="020B0503020204020204" pitchFamily="34" charset="-122"/>
                <a:cs typeface="+mn-lt"/>
                <a:sym typeface="+mn-ea"/>
              </a:rPr>
              <a:t>动力学</a:t>
            </a:r>
            <a:r>
              <a:rPr lang="en-US" altLang="zh-CN" sz="2700" b="1">
                <a:solidFill>
                  <a:schemeClr val="bg1"/>
                </a:solidFill>
                <a:ea typeface="微软雅黑" panose="020B0503020204020204" pitchFamily="34" charset="-122"/>
                <a:cs typeface="+mn-lt"/>
                <a:sym typeface="+mn-ea"/>
              </a:rPr>
              <a:t>-2</a:t>
            </a:r>
            <a:r>
              <a:rPr lang="zh-CN" altLang="en-US" sz="2700" b="1">
                <a:solidFill>
                  <a:schemeClr val="bg1"/>
                </a:solidFill>
                <a:ea typeface="微软雅黑" panose="020B0503020204020204" pitchFamily="34" charset="-122"/>
                <a:cs typeface="+mn-lt"/>
                <a:sym typeface="+mn-ea"/>
              </a:rPr>
              <a:t>维</a:t>
            </a:r>
            <a:endParaRPr lang="zh-CN" altLang="en-US" sz="2700" b="1" dirty="0">
              <a:solidFill>
                <a:schemeClr val="bg1"/>
              </a:solidFill>
              <a:ea typeface="微软雅黑" panose="020B0503020204020204" pitchFamily="34" charset="-122"/>
              <a:cs typeface="+mn-lt"/>
            </a:endParaRPr>
          </a:p>
          <a:p>
            <a:endParaRPr lang="zh-CN" altLang="en-US" sz="2700" b="1" dirty="0">
              <a:ea typeface="微软雅黑" panose="020B0503020204020204" pitchFamily="34" charset="-122"/>
              <a:cs typeface="+mn-lt"/>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grpSp>
        <p:nvGrpSpPr>
          <p:cNvPr id="12" name="组合 11"/>
          <p:cNvGrpSpPr/>
          <p:nvPr/>
        </p:nvGrpSpPr>
        <p:grpSpPr>
          <a:xfrm>
            <a:off x="349250" y="730250"/>
            <a:ext cx="6544310" cy="1524635"/>
            <a:chOff x="2153" y="1445"/>
            <a:chExt cx="10306" cy="2401"/>
          </a:xfrm>
        </p:grpSpPr>
        <p:pic>
          <p:nvPicPr>
            <p:cNvPr id="22" name="图片 21"/>
            <p:cNvPicPr>
              <a:picLocks noChangeAspect="1"/>
            </p:cNvPicPr>
            <p:nvPr>
              <p:custDataLst>
                <p:tags r:id="rId1"/>
              </p:custDataLst>
            </p:nvPr>
          </p:nvPicPr>
          <p:blipFill>
            <a:blip r:embed="rId2"/>
            <a:stretch>
              <a:fillRect/>
            </a:stretch>
          </p:blipFill>
          <p:spPr>
            <a:xfrm>
              <a:off x="2266" y="1445"/>
              <a:ext cx="7246" cy="669"/>
            </a:xfrm>
            <a:prstGeom prst="rect">
              <a:avLst/>
            </a:prstGeom>
          </p:spPr>
        </p:pic>
        <p:pic>
          <p:nvPicPr>
            <p:cNvPr id="28" name="图片 27"/>
            <p:cNvPicPr>
              <a:picLocks noChangeAspect="1"/>
            </p:cNvPicPr>
            <p:nvPr>
              <p:custDataLst>
                <p:tags r:id="rId3"/>
              </p:custDataLst>
            </p:nvPr>
          </p:nvPicPr>
          <p:blipFill>
            <a:blip r:embed="rId4"/>
            <a:stretch>
              <a:fillRect/>
            </a:stretch>
          </p:blipFill>
          <p:spPr>
            <a:xfrm>
              <a:off x="2153" y="2225"/>
              <a:ext cx="10306" cy="971"/>
            </a:xfrm>
            <a:prstGeom prst="rect">
              <a:avLst/>
            </a:prstGeom>
          </p:spPr>
        </p:pic>
        <p:pic>
          <p:nvPicPr>
            <p:cNvPr id="32" name="图片 31"/>
            <p:cNvPicPr>
              <a:picLocks noChangeAspect="1"/>
            </p:cNvPicPr>
            <p:nvPr>
              <p:custDataLst>
                <p:tags r:id="rId5"/>
              </p:custDataLst>
            </p:nvPr>
          </p:nvPicPr>
          <p:blipFill>
            <a:blip r:embed="rId6"/>
            <a:stretch>
              <a:fillRect/>
            </a:stretch>
          </p:blipFill>
          <p:spPr>
            <a:xfrm>
              <a:off x="2266" y="3235"/>
              <a:ext cx="5408" cy="611"/>
            </a:xfrm>
            <a:prstGeom prst="rect">
              <a:avLst/>
            </a:prstGeom>
          </p:spPr>
        </p:pic>
      </p:grpSp>
      <p:grpSp>
        <p:nvGrpSpPr>
          <p:cNvPr id="11" name="组合 10"/>
          <p:cNvGrpSpPr/>
          <p:nvPr/>
        </p:nvGrpSpPr>
        <p:grpSpPr>
          <a:xfrm>
            <a:off x="8217535" y="688340"/>
            <a:ext cx="2858770" cy="1365885"/>
            <a:chOff x="12287" y="4855"/>
            <a:chExt cx="5967" cy="2988"/>
          </a:xfrm>
        </p:grpSpPr>
        <p:pic>
          <p:nvPicPr>
            <p:cNvPr id="16" name="图片 15"/>
            <p:cNvPicPr>
              <a:picLocks noChangeAspect="1"/>
            </p:cNvPicPr>
            <p:nvPr>
              <p:custDataLst>
                <p:tags r:id="rId7"/>
              </p:custDataLst>
            </p:nvPr>
          </p:nvPicPr>
          <p:blipFill>
            <a:blip r:embed="rId8"/>
            <a:stretch>
              <a:fillRect/>
            </a:stretch>
          </p:blipFill>
          <p:spPr>
            <a:xfrm>
              <a:off x="12287" y="4855"/>
              <a:ext cx="4860" cy="1335"/>
            </a:xfrm>
            <a:prstGeom prst="rect">
              <a:avLst/>
            </a:prstGeom>
          </p:spPr>
        </p:pic>
        <p:pic>
          <p:nvPicPr>
            <p:cNvPr id="17" name="图片 16"/>
            <p:cNvPicPr>
              <a:picLocks noChangeAspect="1"/>
            </p:cNvPicPr>
            <p:nvPr>
              <p:custDataLst>
                <p:tags r:id="rId9"/>
              </p:custDataLst>
            </p:nvPr>
          </p:nvPicPr>
          <p:blipFill>
            <a:blip r:embed="rId10"/>
            <a:stretch>
              <a:fillRect/>
            </a:stretch>
          </p:blipFill>
          <p:spPr>
            <a:xfrm>
              <a:off x="12287" y="6081"/>
              <a:ext cx="5219" cy="800"/>
            </a:xfrm>
            <a:prstGeom prst="rect">
              <a:avLst/>
            </a:prstGeom>
          </p:spPr>
        </p:pic>
        <p:grpSp>
          <p:nvGrpSpPr>
            <p:cNvPr id="25" name="组合 24"/>
            <p:cNvGrpSpPr/>
            <p:nvPr/>
          </p:nvGrpSpPr>
          <p:grpSpPr>
            <a:xfrm>
              <a:off x="12432" y="7079"/>
              <a:ext cx="5822" cy="764"/>
              <a:chOff x="4665" y="1354"/>
              <a:chExt cx="7176" cy="887"/>
            </a:xfrm>
          </p:grpSpPr>
          <p:pic>
            <p:nvPicPr>
              <p:cNvPr id="26" name="图片 25"/>
              <p:cNvPicPr>
                <a:picLocks noChangeAspect="1"/>
              </p:cNvPicPr>
              <p:nvPr>
                <p:custDataLst>
                  <p:tags r:id="rId11"/>
                </p:custDataLst>
              </p:nvPr>
            </p:nvPicPr>
            <p:blipFill>
              <a:blip r:embed="rId12"/>
              <a:stretch>
                <a:fillRect/>
              </a:stretch>
            </p:blipFill>
            <p:spPr>
              <a:xfrm>
                <a:off x="4665" y="1493"/>
                <a:ext cx="1793" cy="608"/>
              </a:xfrm>
              <a:prstGeom prst="rect">
                <a:avLst/>
              </a:prstGeom>
            </p:spPr>
          </p:pic>
          <p:pic>
            <p:nvPicPr>
              <p:cNvPr id="27" name="图片 26"/>
              <p:cNvPicPr>
                <a:picLocks noChangeAspect="1"/>
              </p:cNvPicPr>
              <p:nvPr>
                <p:custDataLst>
                  <p:tags r:id="rId13"/>
                </p:custDataLst>
              </p:nvPr>
            </p:nvPicPr>
            <p:blipFill>
              <a:blip r:embed="rId14"/>
              <a:stretch>
                <a:fillRect/>
              </a:stretch>
            </p:blipFill>
            <p:spPr>
              <a:xfrm>
                <a:off x="6319" y="1354"/>
                <a:ext cx="5522" cy="887"/>
              </a:xfrm>
              <a:prstGeom prst="rect">
                <a:avLst/>
              </a:prstGeom>
            </p:spPr>
          </p:pic>
        </p:grpSp>
      </p:grpSp>
      <p:sp>
        <p:nvSpPr>
          <p:cNvPr id="13" name="文本框 12"/>
          <p:cNvSpPr txBox="1"/>
          <p:nvPr/>
        </p:nvSpPr>
        <p:spPr>
          <a:xfrm>
            <a:off x="448310" y="2431415"/>
            <a:ext cx="10117455" cy="368300"/>
          </a:xfrm>
          <a:prstGeom prst="rect">
            <a:avLst/>
          </a:prstGeom>
          <a:noFill/>
        </p:spPr>
        <p:txBody>
          <a:bodyPr wrap="square" rtlCol="0">
            <a:spAutoFit/>
          </a:bodyPr>
          <a:p>
            <a:r>
              <a:rPr lang="zh-CN" altLang="en-US"/>
              <a:t>在长时和大尺度的限制条件下，做些</a:t>
            </a:r>
            <a:r>
              <a:rPr lang="zh-CN" altLang="en-US"/>
              <a:t>近似</a:t>
            </a:r>
            <a:endParaRPr lang="zh-CN" altLang="en-US"/>
          </a:p>
        </p:txBody>
      </p:sp>
      <p:grpSp>
        <p:nvGrpSpPr>
          <p:cNvPr id="34" name="组合 33"/>
          <p:cNvGrpSpPr/>
          <p:nvPr/>
        </p:nvGrpSpPr>
        <p:grpSpPr>
          <a:xfrm>
            <a:off x="1543050" y="3979545"/>
            <a:ext cx="1274445" cy="323215"/>
            <a:chOff x="7290" y="1467"/>
            <a:chExt cx="5841" cy="1320"/>
          </a:xfrm>
        </p:grpSpPr>
        <p:pic>
          <p:nvPicPr>
            <p:cNvPr id="35" name="图片 34"/>
            <p:cNvPicPr>
              <a:picLocks noChangeAspect="1"/>
            </p:cNvPicPr>
            <p:nvPr>
              <p:custDataLst>
                <p:tags r:id="rId15"/>
              </p:custDataLst>
            </p:nvPr>
          </p:nvPicPr>
          <p:blipFill>
            <a:blip r:embed="rId16"/>
            <a:stretch>
              <a:fillRect/>
            </a:stretch>
          </p:blipFill>
          <p:spPr>
            <a:xfrm>
              <a:off x="7290" y="1467"/>
              <a:ext cx="3270" cy="1320"/>
            </a:xfrm>
            <a:prstGeom prst="rect">
              <a:avLst/>
            </a:prstGeom>
          </p:spPr>
        </p:pic>
        <p:pic>
          <p:nvPicPr>
            <p:cNvPr id="36" name="图片 35"/>
            <p:cNvPicPr>
              <a:picLocks noChangeAspect="1"/>
            </p:cNvPicPr>
            <p:nvPr>
              <p:custDataLst>
                <p:tags r:id="rId17"/>
              </p:custDataLst>
            </p:nvPr>
          </p:nvPicPr>
          <p:blipFill>
            <a:blip r:embed="rId18"/>
            <a:stretch>
              <a:fillRect/>
            </a:stretch>
          </p:blipFill>
          <p:spPr>
            <a:xfrm>
              <a:off x="10057" y="1467"/>
              <a:ext cx="3075" cy="1275"/>
            </a:xfrm>
            <a:prstGeom prst="rect">
              <a:avLst/>
            </a:prstGeom>
          </p:spPr>
        </p:pic>
      </p:grpSp>
      <p:sp>
        <p:nvSpPr>
          <p:cNvPr id="37" name="文本框 36"/>
          <p:cNvSpPr txBox="1"/>
          <p:nvPr/>
        </p:nvSpPr>
        <p:spPr>
          <a:xfrm>
            <a:off x="3056890" y="3932555"/>
            <a:ext cx="2297430" cy="368300"/>
          </a:xfrm>
          <a:prstGeom prst="rect">
            <a:avLst/>
          </a:prstGeom>
          <a:noFill/>
        </p:spPr>
        <p:txBody>
          <a:bodyPr wrap="square" rtlCol="0">
            <a:spAutoFit/>
          </a:bodyPr>
          <a:p>
            <a:r>
              <a:rPr lang="zh-CN" altLang="en-US"/>
              <a:t>所有场在空间上</a:t>
            </a:r>
            <a:r>
              <a:rPr lang="zh-CN" altLang="en-US"/>
              <a:t>慢变</a:t>
            </a:r>
            <a:endParaRPr lang="zh-CN" altLang="en-US"/>
          </a:p>
        </p:txBody>
      </p:sp>
      <p:sp>
        <p:nvSpPr>
          <p:cNvPr id="39" name="文本框 38"/>
          <p:cNvSpPr txBox="1"/>
          <p:nvPr/>
        </p:nvSpPr>
        <p:spPr>
          <a:xfrm>
            <a:off x="448310" y="2903220"/>
            <a:ext cx="1569720" cy="368300"/>
          </a:xfrm>
          <a:prstGeom prst="rect">
            <a:avLst/>
          </a:prstGeom>
          <a:noFill/>
        </p:spPr>
        <p:txBody>
          <a:bodyPr wrap="square" rtlCol="0">
            <a:spAutoFit/>
          </a:bodyPr>
          <a:p>
            <a:r>
              <a:rPr lang="zh-CN" altLang="en-US"/>
              <a:t>时间</a:t>
            </a:r>
            <a:r>
              <a:rPr lang="zh-CN" altLang="en-US"/>
              <a:t>上：</a:t>
            </a:r>
            <a:endParaRPr lang="zh-CN" altLang="en-US"/>
          </a:p>
        </p:txBody>
      </p:sp>
      <p:sp>
        <p:nvSpPr>
          <p:cNvPr id="40" name="文本框 39"/>
          <p:cNvSpPr txBox="1"/>
          <p:nvPr/>
        </p:nvSpPr>
        <p:spPr>
          <a:xfrm>
            <a:off x="466725" y="3919855"/>
            <a:ext cx="911225" cy="368300"/>
          </a:xfrm>
          <a:prstGeom prst="rect">
            <a:avLst/>
          </a:prstGeom>
          <a:noFill/>
        </p:spPr>
        <p:txBody>
          <a:bodyPr wrap="square" rtlCol="0">
            <a:spAutoFit/>
          </a:bodyPr>
          <a:p>
            <a:r>
              <a:rPr lang="zh-CN" altLang="en-US"/>
              <a:t>空间</a:t>
            </a:r>
            <a:r>
              <a:rPr lang="zh-CN" altLang="en-US"/>
              <a:t>上：</a:t>
            </a:r>
            <a:endParaRPr lang="zh-CN" altLang="en-US"/>
          </a:p>
        </p:txBody>
      </p:sp>
      <p:grpSp>
        <p:nvGrpSpPr>
          <p:cNvPr id="5" name="组合 4"/>
          <p:cNvGrpSpPr/>
          <p:nvPr/>
        </p:nvGrpSpPr>
        <p:grpSpPr>
          <a:xfrm>
            <a:off x="1736090" y="2903855"/>
            <a:ext cx="8242935" cy="1002665"/>
            <a:chOff x="4009" y="5532"/>
            <a:chExt cx="12981" cy="1579"/>
          </a:xfrm>
        </p:grpSpPr>
        <p:grpSp>
          <p:nvGrpSpPr>
            <p:cNvPr id="38" name="组合 37"/>
            <p:cNvGrpSpPr/>
            <p:nvPr/>
          </p:nvGrpSpPr>
          <p:grpSpPr>
            <a:xfrm>
              <a:off x="4009" y="5532"/>
              <a:ext cx="11054" cy="1579"/>
              <a:chOff x="1899" y="5456"/>
              <a:chExt cx="11054" cy="1579"/>
            </a:xfrm>
          </p:grpSpPr>
          <p:sp>
            <p:nvSpPr>
              <p:cNvPr id="18" name="文本框 17"/>
              <p:cNvSpPr txBox="1"/>
              <p:nvPr/>
            </p:nvSpPr>
            <p:spPr>
              <a:xfrm>
                <a:off x="2651" y="5456"/>
                <a:ext cx="10302" cy="580"/>
              </a:xfrm>
              <a:prstGeom prst="rect">
                <a:avLst/>
              </a:prstGeom>
              <a:noFill/>
            </p:spPr>
            <p:txBody>
              <a:bodyPr wrap="square" rtlCol="0">
                <a:spAutoFit/>
              </a:bodyPr>
              <a:p>
                <a:r>
                  <a:rPr lang="zh-CN" altLang="en-US"/>
                  <a:t>是守恒场，弛豫时间在大尺度</a:t>
                </a:r>
                <a:r>
                  <a:rPr lang="en-US" altLang="zh-CN"/>
                  <a:t>                </a:t>
                </a:r>
                <a:r>
                  <a:rPr lang="zh-CN" altLang="en-US"/>
                  <a:t>下发散，是</a:t>
                </a:r>
                <a:r>
                  <a:rPr lang="zh-CN" altLang="en-US" b="1">
                    <a:solidFill>
                      <a:srgbClr val="C00000"/>
                    </a:solidFill>
                  </a:rPr>
                  <a:t>慢模</a:t>
                </a:r>
                <a:endParaRPr lang="zh-CN" altLang="en-US" b="1">
                  <a:solidFill>
                    <a:srgbClr val="C00000"/>
                  </a:solidFill>
                </a:endParaRPr>
              </a:p>
            </p:txBody>
          </p:sp>
          <p:pic>
            <p:nvPicPr>
              <p:cNvPr id="20" name="图片 19"/>
              <p:cNvPicPr>
                <a:picLocks noChangeAspect="1"/>
              </p:cNvPicPr>
              <p:nvPr>
                <p:custDataLst>
                  <p:tags r:id="rId19"/>
                </p:custDataLst>
              </p:nvPr>
            </p:nvPicPr>
            <p:blipFill>
              <a:blip r:embed="rId20"/>
              <a:stretch>
                <a:fillRect/>
              </a:stretch>
            </p:blipFill>
            <p:spPr>
              <a:xfrm>
                <a:off x="7597" y="5570"/>
                <a:ext cx="1066" cy="423"/>
              </a:xfrm>
              <a:prstGeom prst="rect">
                <a:avLst/>
              </a:prstGeom>
            </p:spPr>
          </p:pic>
          <p:pic>
            <p:nvPicPr>
              <p:cNvPr id="21" name="图片 20"/>
              <p:cNvPicPr>
                <a:picLocks noChangeAspect="1"/>
              </p:cNvPicPr>
              <p:nvPr>
                <p:custDataLst>
                  <p:tags r:id="rId21"/>
                </p:custDataLst>
              </p:nvPr>
            </p:nvPicPr>
            <p:blipFill>
              <a:blip r:embed="rId22"/>
              <a:stretch>
                <a:fillRect/>
              </a:stretch>
            </p:blipFill>
            <p:spPr>
              <a:xfrm>
                <a:off x="1916" y="6447"/>
                <a:ext cx="1070" cy="551"/>
              </a:xfrm>
              <a:prstGeom prst="rect">
                <a:avLst/>
              </a:prstGeom>
            </p:spPr>
          </p:pic>
          <p:pic>
            <p:nvPicPr>
              <p:cNvPr id="23" name="图片 22"/>
              <p:cNvPicPr>
                <a:picLocks noChangeAspect="1"/>
              </p:cNvPicPr>
              <p:nvPr>
                <p:custDataLst>
                  <p:tags r:id="rId23"/>
                </p:custDataLst>
              </p:nvPr>
            </p:nvPicPr>
            <p:blipFill>
              <a:blip r:embed="rId24"/>
              <a:stretch>
                <a:fillRect/>
              </a:stretch>
            </p:blipFill>
            <p:spPr>
              <a:xfrm>
                <a:off x="3514" y="6527"/>
                <a:ext cx="1047" cy="451"/>
              </a:xfrm>
              <a:prstGeom prst="rect">
                <a:avLst/>
              </a:prstGeom>
            </p:spPr>
          </p:pic>
          <p:sp>
            <p:nvSpPr>
              <p:cNvPr id="24" name="文本框 23"/>
              <p:cNvSpPr txBox="1"/>
              <p:nvPr/>
            </p:nvSpPr>
            <p:spPr>
              <a:xfrm>
                <a:off x="2965" y="6448"/>
                <a:ext cx="549" cy="580"/>
              </a:xfrm>
              <a:prstGeom prst="rect">
                <a:avLst/>
              </a:prstGeom>
              <a:noFill/>
            </p:spPr>
            <p:txBody>
              <a:bodyPr wrap="square" rtlCol="0">
                <a:spAutoFit/>
              </a:bodyPr>
              <a:p>
                <a:r>
                  <a:rPr lang="zh-CN" altLang="en-US"/>
                  <a:t>和</a:t>
                </a:r>
                <a:endParaRPr lang="zh-CN" altLang="en-US"/>
              </a:p>
            </p:txBody>
          </p:sp>
          <p:sp>
            <p:nvSpPr>
              <p:cNvPr id="29" name="文本框 28"/>
              <p:cNvSpPr txBox="1"/>
              <p:nvPr/>
            </p:nvSpPr>
            <p:spPr>
              <a:xfrm>
                <a:off x="4561" y="6448"/>
                <a:ext cx="3036" cy="580"/>
              </a:xfrm>
              <a:prstGeom prst="rect">
                <a:avLst/>
              </a:prstGeom>
              <a:noFill/>
            </p:spPr>
            <p:txBody>
              <a:bodyPr wrap="square" rtlCol="0">
                <a:spAutoFit/>
              </a:bodyPr>
              <a:p>
                <a:r>
                  <a:rPr lang="zh-CN" altLang="en-US"/>
                  <a:t>弛豫时间</a:t>
                </a:r>
                <a:r>
                  <a:rPr lang="zh-CN" altLang="en-US">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pic>
            <p:nvPicPr>
              <p:cNvPr id="30" name="图片 29"/>
              <p:cNvPicPr>
                <a:picLocks noChangeAspect="1"/>
              </p:cNvPicPr>
              <p:nvPr>
                <p:custDataLst>
                  <p:tags r:id="rId25"/>
                </p:custDataLst>
              </p:nvPr>
            </p:nvPicPr>
            <p:blipFill>
              <a:blip r:embed="rId26"/>
              <a:stretch>
                <a:fillRect/>
              </a:stretch>
            </p:blipFill>
            <p:spPr>
              <a:xfrm>
                <a:off x="6384" y="6510"/>
                <a:ext cx="641" cy="421"/>
              </a:xfrm>
              <a:prstGeom prst="rect">
                <a:avLst/>
              </a:prstGeom>
            </p:spPr>
          </p:pic>
          <p:sp>
            <p:nvSpPr>
              <p:cNvPr id="31" name="文本框 30"/>
              <p:cNvSpPr txBox="1"/>
              <p:nvPr/>
            </p:nvSpPr>
            <p:spPr>
              <a:xfrm>
                <a:off x="7181" y="6455"/>
                <a:ext cx="5372" cy="580"/>
              </a:xfrm>
              <a:prstGeom prst="rect">
                <a:avLst/>
              </a:prstGeom>
              <a:noFill/>
            </p:spPr>
            <p:txBody>
              <a:bodyPr wrap="square" rtlCol="0">
                <a:spAutoFit/>
              </a:bodyPr>
              <a:p>
                <a:r>
                  <a:rPr lang="zh-CN" altLang="en-US"/>
                  <a:t>大尺度下仍然有限，是</a:t>
                </a:r>
                <a:r>
                  <a:rPr lang="zh-CN" altLang="en-US" b="1">
                    <a:solidFill>
                      <a:srgbClr val="C00000"/>
                    </a:solidFill>
                  </a:rPr>
                  <a:t>快模</a:t>
                </a:r>
                <a:endParaRPr lang="zh-CN" altLang="en-US" b="1">
                  <a:solidFill>
                    <a:srgbClr val="C00000"/>
                  </a:solidFill>
                </a:endParaRPr>
              </a:p>
            </p:txBody>
          </p:sp>
          <p:pic>
            <p:nvPicPr>
              <p:cNvPr id="33" name="图片 32"/>
              <p:cNvPicPr>
                <a:picLocks noChangeAspect="1"/>
              </p:cNvPicPr>
              <p:nvPr>
                <p:custDataLst>
                  <p:tags r:id="rId27"/>
                </p:custDataLst>
              </p:nvPr>
            </p:nvPicPr>
            <p:blipFill>
              <a:blip r:embed="rId28"/>
              <a:stretch>
                <a:fillRect/>
              </a:stretch>
            </p:blipFill>
            <p:spPr>
              <a:xfrm>
                <a:off x="1899" y="5555"/>
                <a:ext cx="752" cy="474"/>
              </a:xfrm>
              <a:prstGeom prst="rect">
                <a:avLst/>
              </a:prstGeom>
            </p:spPr>
          </p:pic>
        </p:grpSp>
        <p:pic>
          <p:nvPicPr>
            <p:cNvPr id="41" name="图片 40"/>
            <p:cNvPicPr>
              <a:picLocks noChangeAspect="1"/>
            </p:cNvPicPr>
            <p:nvPr>
              <p:custDataLst>
                <p:tags r:id="rId29"/>
              </p:custDataLst>
            </p:nvPr>
          </p:nvPicPr>
          <p:blipFill>
            <a:blip r:embed="rId30"/>
            <a:stretch>
              <a:fillRect/>
            </a:stretch>
          </p:blipFill>
          <p:spPr>
            <a:xfrm>
              <a:off x="14647" y="6649"/>
              <a:ext cx="2343" cy="449"/>
            </a:xfrm>
            <a:prstGeom prst="rect">
              <a:avLst/>
            </a:prstGeom>
          </p:spPr>
        </p:pic>
        <p:sp>
          <p:nvSpPr>
            <p:cNvPr id="42" name="右箭头 41"/>
            <p:cNvSpPr/>
            <p:nvPr/>
          </p:nvSpPr>
          <p:spPr>
            <a:xfrm>
              <a:off x="13998" y="6642"/>
              <a:ext cx="524" cy="333"/>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3" name="文本框 42"/>
          <p:cNvSpPr txBox="1"/>
          <p:nvPr/>
        </p:nvSpPr>
        <p:spPr>
          <a:xfrm>
            <a:off x="5812790" y="3937635"/>
            <a:ext cx="3672205" cy="368300"/>
          </a:xfrm>
          <a:prstGeom prst="rect">
            <a:avLst/>
          </a:prstGeom>
          <a:noFill/>
        </p:spPr>
        <p:txBody>
          <a:bodyPr wrap="square" rtlCol="0">
            <a:spAutoFit/>
          </a:bodyPr>
          <a:p>
            <a:r>
              <a:rPr lang="zh-CN" altLang="en-US"/>
              <a:t>忽略高阶梯度项，只保留到</a:t>
            </a:r>
            <a:r>
              <a:rPr lang="zh-CN" altLang="en-US"/>
              <a:t>一阶</a:t>
            </a:r>
            <a:endParaRPr lang="zh-CN" altLang="en-US"/>
          </a:p>
        </p:txBody>
      </p:sp>
      <p:sp>
        <p:nvSpPr>
          <p:cNvPr id="44" name="右箭头 43"/>
          <p:cNvSpPr/>
          <p:nvPr>
            <p:custDataLst>
              <p:tags r:id="rId31"/>
            </p:custDataLst>
          </p:nvPr>
        </p:nvSpPr>
        <p:spPr>
          <a:xfrm>
            <a:off x="5354320" y="3970655"/>
            <a:ext cx="276225" cy="2152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5" name="图片 44"/>
          <p:cNvPicPr>
            <a:picLocks noChangeAspect="1"/>
          </p:cNvPicPr>
          <p:nvPr>
            <p:custDataLst>
              <p:tags r:id="rId32"/>
            </p:custDataLst>
          </p:nvPr>
        </p:nvPicPr>
        <p:blipFill>
          <a:blip r:embed="rId33"/>
          <a:stretch>
            <a:fillRect/>
          </a:stretch>
        </p:blipFill>
        <p:spPr>
          <a:xfrm>
            <a:off x="1911350" y="4435475"/>
            <a:ext cx="2508885" cy="344805"/>
          </a:xfrm>
          <a:prstGeom prst="rect">
            <a:avLst/>
          </a:prstGeom>
        </p:spPr>
      </p:pic>
      <p:sp>
        <p:nvSpPr>
          <p:cNvPr id="46" name="文本框 45"/>
          <p:cNvSpPr txBox="1"/>
          <p:nvPr/>
        </p:nvSpPr>
        <p:spPr>
          <a:xfrm>
            <a:off x="1543050" y="4392295"/>
            <a:ext cx="368300" cy="368300"/>
          </a:xfrm>
          <a:prstGeom prst="rect">
            <a:avLst/>
          </a:prstGeom>
          <a:noFill/>
        </p:spPr>
        <p:txBody>
          <a:bodyPr wrap="square" rtlCol="0">
            <a:spAutoFit/>
          </a:bodyPr>
          <a:p>
            <a:r>
              <a:rPr lang="zh-CN" altLang="en-US"/>
              <a:t>又</a:t>
            </a:r>
            <a:endParaRPr lang="zh-CN" altLang="en-US"/>
          </a:p>
        </p:txBody>
      </p:sp>
      <p:sp>
        <p:nvSpPr>
          <p:cNvPr id="47" name="文本框 46"/>
          <p:cNvSpPr txBox="1"/>
          <p:nvPr/>
        </p:nvSpPr>
        <p:spPr>
          <a:xfrm>
            <a:off x="466725" y="4936490"/>
            <a:ext cx="716280" cy="368300"/>
          </a:xfrm>
          <a:prstGeom prst="rect">
            <a:avLst/>
          </a:prstGeom>
          <a:noFill/>
        </p:spPr>
        <p:txBody>
          <a:bodyPr wrap="square" rtlCol="0">
            <a:spAutoFit/>
          </a:bodyPr>
          <a:p>
            <a:r>
              <a:rPr lang="zh-CN" altLang="en-US"/>
              <a:t>得到</a:t>
            </a:r>
            <a:endParaRPr lang="zh-CN" altLang="en-US"/>
          </a:p>
        </p:txBody>
      </p:sp>
      <p:pic>
        <p:nvPicPr>
          <p:cNvPr id="48" name="图片 47"/>
          <p:cNvPicPr>
            <a:picLocks noChangeAspect="1"/>
          </p:cNvPicPr>
          <p:nvPr>
            <p:custDataLst>
              <p:tags r:id="rId34"/>
            </p:custDataLst>
          </p:nvPr>
        </p:nvPicPr>
        <p:blipFill>
          <a:blip r:embed="rId35"/>
          <a:stretch>
            <a:fillRect/>
          </a:stretch>
        </p:blipFill>
        <p:spPr>
          <a:xfrm>
            <a:off x="1108710" y="4789170"/>
            <a:ext cx="3475355" cy="687705"/>
          </a:xfrm>
          <a:prstGeom prst="rect">
            <a:avLst/>
          </a:prstGeom>
        </p:spPr>
      </p:pic>
      <p:pic>
        <p:nvPicPr>
          <p:cNvPr id="49" name="图片 48"/>
          <p:cNvPicPr>
            <a:picLocks noChangeAspect="1"/>
          </p:cNvPicPr>
          <p:nvPr>
            <p:custDataLst>
              <p:tags r:id="rId36"/>
            </p:custDataLst>
          </p:nvPr>
        </p:nvPicPr>
        <p:blipFill>
          <a:blip r:embed="rId37"/>
          <a:stretch>
            <a:fillRect/>
          </a:stretch>
        </p:blipFill>
        <p:spPr>
          <a:xfrm>
            <a:off x="2413000" y="5485765"/>
            <a:ext cx="4191635" cy="605790"/>
          </a:xfrm>
          <a:prstGeom prst="rect">
            <a:avLst/>
          </a:prstGeom>
        </p:spPr>
      </p:pic>
      <p:sp>
        <p:nvSpPr>
          <p:cNvPr id="6" name="文本框 5"/>
          <p:cNvSpPr txBox="1"/>
          <p:nvPr/>
        </p:nvSpPr>
        <p:spPr>
          <a:xfrm>
            <a:off x="490220" y="5567045"/>
            <a:ext cx="2076450" cy="368300"/>
          </a:xfrm>
          <a:prstGeom prst="rect">
            <a:avLst/>
          </a:prstGeom>
          <a:noFill/>
        </p:spPr>
        <p:txBody>
          <a:bodyPr wrap="square" rtlCol="0">
            <a:spAutoFit/>
          </a:bodyPr>
          <a:p>
            <a:r>
              <a:rPr lang="zh-CN" altLang="en-US"/>
              <a:t>得到位置场</a:t>
            </a:r>
            <a:r>
              <a:rPr lang="zh-CN" altLang="en-US"/>
              <a:t>方程</a:t>
            </a:r>
            <a:endParaRPr lang="zh-CN" altLang="en-US"/>
          </a:p>
        </p:txBody>
      </p:sp>
      <p:grpSp>
        <p:nvGrpSpPr>
          <p:cNvPr id="8" name="组合 7"/>
          <p:cNvGrpSpPr/>
          <p:nvPr/>
        </p:nvGrpSpPr>
        <p:grpSpPr>
          <a:xfrm>
            <a:off x="7362190" y="5074920"/>
            <a:ext cx="4438650" cy="1414780"/>
            <a:chOff x="12037" y="7184"/>
            <a:chExt cx="6990" cy="2228"/>
          </a:xfrm>
        </p:grpSpPr>
        <p:grpSp>
          <p:nvGrpSpPr>
            <p:cNvPr id="62" name="组合 61"/>
            <p:cNvGrpSpPr/>
            <p:nvPr/>
          </p:nvGrpSpPr>
          <p:grpSpPr>
            <a:xfrm>
              <a:off x="12069" y="7184"/>
              <a:ext cx="6684" cy="1793"/>
              <a:chOff x="5068" y="-1405"/>
              <a:chExt cx="8989" cy="2761"/>
            </a:xfrm>
          </p:grpSpPr>
          <p:sp>
            <p:nvSpPr>
              <p:cNvPr id="63" name="文本框 62"/>
              <p:cNvSpPr txBox="1"/>
              <p:nvPr>
                <p:custDataLst>
                  <p:tags r:id="rId38"/>
                </p:custDataLst>
              </p:nvPr>
            </p:nvSpPr>
            <p:spPr>
              <a:xfrm>
                <a:off x="5068" y="-1042"/>
                <a:ext cx="3129" cy="893"/>
              </a:xfrm>
              <a:prstGeom prst="rect">
                <a:avLst/>
              </a:prstGeom>
              <a:noFill/>
            </p:spPr>
            <p:txBody>
              <a:bodyPr wrap="square" rtlCol="0">
                <a:spAutoFit/>
              </a:bodyPr>
              <a:p>
                <a:r>
                  <a:rPr lang="zh-CN" altLang="en-US"/>
                  <a:t>稳态</a:t>
                </a:r>
                <a:r>
                  <a:rPr lang="zh-CN" altLang="en-US"/>
                  <a:t>分布</a:t>
                </a:r>
                <a:endParaRPr lang="zh-CN" altLang="en-US"/>
              </a:p>
            </p:txBody>
          </p:sp>
          <p:pic>
            <p:nvPicPr>
              <p:cNvPr id="64" name="图片 63"/>
              <p:cNvPicPr>
                <a:picLocks noChangeAspect="1"/>
              </p:cNvPicPr>
              <p:nvPr>
                <p:custDataLst>
                  <p:tags r:id="rId39"/>
                </p:custDataLst>
              </p:nvPr>
            </p:nvPicPr>
            <p:blipFill>
              <a:blip r:embed="rId40"/>
              <a:stretch>
                <a:fillRect/>
              </a:stretch>
            </p:blipFill>
            <p:spPr>
              <a:xfrm>
                <a:off x="7366" y="-1405"/>
                <a:ext cx="3806" cy="1868"/>
              </a:xfrm>
              <a:prstGeom prst="rect">
                <a:avLst/>
              </a:prstGeom>
            </p:spPr>
          </p:pic>
          <p:pic>
            <p:nvPicPr>
              <p:cNvPr id="65" name="图片 64"/>
              <p:cNvPicPr>
                <a:picLocks noChangeAspect="1"/>
              </p:cNvPicPr>
              <p:nvPr>
                <p:custDataLst>
                  <p:tags r:id="rId41"/>
                </p:custDataLst>
              </p:nvPr>
            </p:nvPicPr>
            <p:blipFill>
              <a:blip r:embed="rId42"/>
              <a:stretch>
                <a:fillRect/>
              </a:stretch>
            </p:blipFill>
            <p:spPr>
              <a:xfrm>
                <a:off x="7577" y="462"/>
                <a:ext cx="2704" cy="710"/>
              </a:xfrm>
              <a:prstGeom prst="rect">
                <a:avLst/>
              </a:prstGeom>
            </p:spPr>
          </p:pic>
          <p:pic>
            <p:nvPicPr>
              <p:cNvPr id="66" name="图片 65"/>
              <p:cNvPicPr>
                <a:picLocks noChangeAspect="1"/>
              </p:cNvPicPr>
              <p:nvPr>
                <p:custDataLst>
                  <p:tags r:id="rId43"/>
                </p:custDataLst>
              </p:nvPr>
            </p:nvPicPr>
            <p:blipFill>
              <a:blip r:embed="rId44"/>
              <a:srcRect l="12192"/>
              <a:stretch>
                <a:fillRect/>
              </a:stretch>
            </p:blipFill>
            <p:spPr>
              <a:xfrm>
                <a:off x="11172" y="-853"/>
                <a:ext cx="2885" cy="727"/>
              </a:xfrm>
              <a:prstGeom prst="rect">
                <a:avLst/>
              </a:prstGeom>
            </p:spPr>
          </p:pic>
          <p:sp>
            <p:nvSpPr>
              <p:cNvPr id="67" name="文本框 66"/>
              <p:cNvSpPr txBox="1"/>
              <p:nvPr>
                <p:custDataLst>
                  <p:tags r:id="rId45"/>
                </p:custDataLst>
              </p:nvPr>
            </p:nvSpPr>
            <p:spPr>
              <a:xfrm>
                <a:off x="6079" y="463"/>
                <a:ext cx="1481" cy="893"/>
              </a:xfrm>
              <a:prstGeom prst="rect">
                <a:avLst/>
              </a:prstGeom>
              <a:noFill/>
            </p:spPr>
            <p:txBody>
              <a:bodyPr wrap="square" rtlCol="0">
                <a:spAutoFit/>
              </a:bodyPr>
              <a:p>
                <a:r>
                  <a:rPr lang="zh-CN" altLang="en-US"/>
                  <a:t>其中</a:t>
                </a:r>
                <a:endParaRPr lang="zh-CN" altLang="en-US"/>
              </a:p>
            </p:txBody>
          </p:sp>
        </p:grpSp>
        <p:sp>
          <p:nvSpPr>
            <p:cNvPr id="7" name="矩形 6"/>
            <p:cNvSpPr/>
            <p:nvPr/>
          </p:nvSpPr>
          <p:spPr>
            <a:xfrm>
              <a:off x="12037" y="7222"/>
              <a:ext cx="6990" cy="219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矩形 9"/>
          <p:cNvSpPr/>
          <p:nvPr/>
        </p:nvSpPr>
        <p:spPr>
          <a:xfrm>
            <a:off x="1023620" y="5490845"/>
            <a:ext cx="5772150" cy="67627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7364095" cy="537845"/>
          </a:xfrm>
          <a:prstGeom prst="rect">
            <a:avLst/>
          </a:prstGeom>
          <a:noFill/>
        </p:spPr>
        <p:txBody>
          <a:bodyPr wrap="square" rtlCol="0">
            <a:noAutofit/>
          </a:bodyPr>
          <a:lstStyle/>
          <a:p>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单粒子的</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有效</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动力学</a:t>
            </a:r>
            <a:r>
              <a:rPr lang="en-US" altLang="zh-CN"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维</a:t>
            </a:r>
            <a:endParaRPr lang="zh-CN" altLang="en-US" sz="27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grpSp>
        <p:nvGrpSpPr>
          <p:cNvPr id="6" name="组合 5"/>
          <p:cNvGrpSpPr/>
          <p:nvPr/>
        </p:nvGrpSpPr>
        <p:grpSpPr>
          <a:xfrm>
            <a:off x="807720" y="2033270"/>
            <a:ext cx="6911975" cy="3747135"/>
            <a:chOff x="852" y="1485"/>
            <a:chExt cx="10885" cy="5901"/>
          </a:xfrm>
        </p:grpSpPr>
        <p:sp>
          <p:nvSpPr>
            <p:cNvPr id="16" name="文本框 15"/>
            <p:cNvSpPr txBox="1"/>
            <p:nvPr/>
          </p:nvSpPr>
          <p:spPr>
            <a:xfrm>
              <a:off x="852" y="1485"/>
              <a:ext cx="4564" cy="580"/>
            </a:xfrm>
            <a:prstGeom prst="rect">
              <a:avLst/>
            </a:prstGeom>
            <a:noFill/>
          </p:spPr>
          <p:txBody>
            <a:bodyPr wrap="square" rtlCol="0">
              <a:spAutoFit/>
            </a:bodyPr>
            <a:p>
              <a:r>
                <a:rPr lang="zh-CN" altLang="en-US"/>
                <a:t>推广到</a:t>
              </a:r>
              <a:r>
                <a:rPr lang="en-US" altLang="zh-CN"/>
                <a:t>d</a:t>
              </a:r>
              <a:r>
                <a:rPr lang="zh-CN" altLang="en-US"/>
                <a:t>维</a:t>
              </a:r>
              <a:r>
                <a:rPr lang="zh-CN" altLang="en-US"/>
                <a:t>情形</a:t>
              </a:r>
              <a:endParaRPr lang="zh-CN" altLang="en-US"/>
            </a:p>
          </p:txBody>
        </p:sp>
        <p:pic>
          <p:nvPicPr>
            <p:cNvPr id="17" name="图片 16"/>
            <p:cNvPicPr>
              <a:picLocks noChangeAspect="1"/>
            </p:cNvPicPr>
            <p:nvPr>
              <p:custDataLst>
                <p:tags r:id="rId1"/>
              </p:custDataLst>
            </p:nvPr>
          </p:nvPicPr>
          <p:blipFill>
            <a:blip r:embed="rId2"/>
            <a:stretch>
              <a:fillRect/>
            </a:stretch>
          </p:blipFill>
          <p:spPr>
            <a:xfrm>
              <a:off x="4176" y="2249"/>
              <a:ext cx="7561" cy="864"/>
            </a:xfrm>
            <a:prstGeom prst="rect">
              <a:avLst/>
            </a:prstGeom>
          </p:spPr>
        </p:pic>
        <p:pic>
          <p:nvPicPr>
            <p:cNvPr id="18" name="图片 17"/>
            <p:cNvPicPr>
              <a:picLocks noChangeAspect="1"/>
            </p:cNvPicPr>
            <p:nvPr>
              <p:custDataLst>
                <p:tags r:id="rId3"/>
              </p:custDataLst>
            </p:nvPr>
          </p:nvPicPr>
          <p:blipFill>
            <a:blip r:embed="rId4"/>
            <a:stretch>
              <a:fillRect/>
            </a:stretch>
          </p:blipFill>
          <p:spPr>
            <a:xfrm>
              <a:off x="2256" y="3732"/>
              <a:ext cx="2927" cy="940"/>
            </a:xfrm>
            <a:prstGeom prst="rect">
              <a:avLst/>
            </a:prstGeom>
          </p:spPr>
        </p:pic>
        <p:pic>
          <p:nvPicPr>
            <p:cNvPr id="19" name="图片 18"/>
            <p:cNvPicPr>
              <a:picLocks noChangeAspect="1"/>
            </p:cNvPicPr>
            <p:nvPr>
              <p:custDataLst>
                <p:tags r:id="rId5"/>
              </p:custDataLst>
            </p:nvPr>
          </p:nvPicPr>
          <p:blipFill>
            <a:blip r:embed="rId6"/>
            <a:stretch>
              <a:fillRect/>
            </a:stretch>
          </p:blipFill>
          <p:spPr>
            <a:xfrm>
              <a:off x="5416" y="3841"/>
              <a:ext cx="3660" cy="954"/>
            </a:xfrm>
            <a:prstGeom prst="rect">
              <a:avLst/>
            </a:prstGeom>
          </p:spPr>
        </p:pic>
        <p:sp>
          <p:nvSpPr>
            <p:cNvPr id="20" name="文本框 19"/>
            <p:cNvSpPr txBox="1"/>
            <p:nvPr/>
          </p:nvSpPr>
          <p:spPr>
            <a:xfrm>
              <a:off x="867" y="4049"/>
              <a:ext cx="1389" cy="580"/>
            </a:xfrm>
            <a:prstGeom prst="rect">
              <a:avLst/>
            </a:prstGeom>
            <a:noFill/>
          </p:spPr>
          <p:txBody>
            <a:bodyPr wrap="square" rtlCol="0">
              <a:spAutoFit/>
            </a:bodyPr>
            <a:p>
              <a:r>
                <a:rPr lang="zh-CN" altLang="en-US"/>
                <a:t>其中</a:t>
              </a:r>
              <a:endParaRPr lang="zh-CN" altLang="en-US"/>
            </a:p>
          </p:txBody>
        </p:sp>
        <p:pic>
          <p:nvPicPr>
            <p:cNvPr id="21" name="图片 20"/>
            <p:cNvPicPr>
              <a:picLocks noChangeAspect="1"/>
            </p:cNvPicPr>
            <p:nvPr>
              <p:custDataLst>
                <p:tags r:id="rId7"/>
              </p:custDataLst>
            </p:nvPr>
          </p:nvPicPr>
          <p:blipFill>
            <a:blip r:embed="rId8"/>
            <a:stretch>
              <a:fillRect/>
            </a:stretch>
          </p:blipFill>
          <p:spPr>
            <a:xfrm>
              <a:off x="2396" y="5012"/>
              <a:ext cx="3555" cy="664"/>
            </a:xfrm>
            <a:prstGeom prst="rect">
              <a:avLst/>
            </a:prstGeom>
          </p:spPr>
        </p:pic>
        <p:pic>
          <p:nvPicPr>
            <p:cNvPr id="22" name="图片 21"/>
            <p:cNvPicPr>
              <a:picLocks noChangeAspect="1"/>
            </p:cNvPicPr>
            <p:nvPr>
              <p:custDataLst>
                <p:tags r:id="rId9"/>
              </p:custDataLst>
            </p:nvPr>
          </p:nvPicPr>
          <p:blipFill>
            <a:blip r:embed="rId10"/>
            <a:stretch>
              <a:fillRect/>
            </a:stretch>
          </p:blipFill>
          <p:spPr>
            <a:xfrm>
              <a:off x="4421" y="6571"/>
              <a:ext cx="3660" cy="815"/>
            </a:xfrm>
            <a:prstGeom prst="rect">
              <a:avLst/>
            </a:prstGeom>
          </p:spPr>
        </p:pic>
        <p:sp>
          <p:nvSpPr>
            <p:cNvPr id="5" name="文本框 4"/>
            <p:cNvSpPr txBox="1"/>
            <p:nvPr/>
          </p:nvSpPr>
          <p:spPr>
            <a:xfrm>
              <a:off x="867" y="6016"/>
              <a:ext cx="9600" cy="580"/>
            </a:xfrm>
            <a:prstGeom prst="rect">
              <a:avLst/>
            </a:prstGeom>
            <a:noFill/>
          </p:spPr>
          <p:txBody>
            <a:bodyPr wrap="square" rtlCol="0" anchor="t">
              <a:spAutoFit/>
            </a:bodyPr>
            <a:p>
              <a:r>
                <a:rPr lang="zh-CN" altLang="en-US"/>
                <a:t>此</a:t>
              </a:r>
              <a:r>
                <a:rPr lang="en-US" altLang="zh-CN"/>
                <a:t>Fokker-Planck</a:t>
              </a:r>
              <a:r>
                <a:rPr lang="zh-CN" altLang="en-US"/>
                <a:t>方程等效于于</a:t>
              </a:r>
              <a:r>
                <a:rPr lang="zh-CN" altLang="en-US"/>
                <a:t>布朗动力学</a:t>
              </a:r>
              <a:endParaRPr lang="zh-CN" altLang="en-US"/>
            </a:p>
          </p:txBody>
        </p:sp>
      </p:grpSp>
      <p:pic>
        <p:nvPicPr>
          <p:cNvPr id="49" name="图片 48"/>
          <p:cNvPicPr>
            <a:picLocks noChangeAspect="1"/>
          </p:cNvPicPr>
          <p:nvPr>
            <p:custDataLst>
              <p:tags r:id="rId11"/>
            </p:custDataLst>
          </p:nvPr>
        </p:nvPicPr>
        <p:blipFill>
          <a:blip r:embed="rId12"/>
          <a:stretch>
            <a:fillRect/>
          </a:stretch>
        </p:blipFill>
        <p:spPr>
          <a:xfrm>
            <a:off x="2997835" y="1126490"/>
            <a:ext cx="4643755" cy="671195"/>
          </a:xfrm>
          <a:prstGeom prst="rect">
            <a:avLst/>
          </a:prstGeom>
        </p:spPr>
      </p:pic>
      <p:sp>
        <p:nvSpPr>
          <p:cNvPr id="7" name="文本框 6"/>
          <p:cNvSpPr txBox="1"/>
          <p:nvPr/>
        </p:nvSpPr>
        <p:spPr>
          <a:xfrm>
            <a:off x="889635" y="758190"/>
            <a:ext cx="809625" cy="368300"/>
          </a:xfrm>
          <a:prstGeom prst="rect">
            <a:avLst/>
          </a:prstGeom>
          <a:noFill/>
        </p:spPr>
        <p:txBody>
          <a:bodyPr wrap="square" rtlCol="0">
            <a:spAutoFit/>
          </a:bodyPr>
          <a:p>
            <a:r>
              <a:rPr lang="en-US" altLang="zh-CN"/>
              <a:t>2</a:t>
            </a:r>
            <a:r>
              <a:rPr lang="zh-CN" altLang="en-US"/>
              <a:t>维</a:t>
            </a:r>
            <a:endParaRPr lang="zh-CN" altLang="en-US"/>
          </a:p>
        </p:txBody>
      </p:sp>
      <p:sp>
        <p:nvSpPr>
          <p:cNvPr id="9" name="文本框 8"/>
          <p:cNvSpPr txBox="1"/>
          <p:nvPr/>
        </p:nvSpPr>
        <p:spPr>
          <a:xfrm>
            <a:off x="4045585" y="5976620"/>
            <a:ext cx="4886325" cy="460375"/>
          </a:xfrm>
          <a:prstGeom prst="rect">
            <a:avLst/>
          </a:prstGeom>
          <a:noFill/>
        </p:spPr>
        <p:txBody>
          <a:bodyPr wrap="square" rtlCol="0">
            <a:spAutoFit/>
          </a:bodyPr>
          <a:p>
            <a:r>
              <a:rPr lang="zh-CN" altLang="en-US" sz="2400" b="1">
                <a:solidFill>
                  <a:srgbClr val="C00000"/>
                </a:solidFill>
              </a:rPr>
              <a:t>建立</a:t>
            </a:r>
            <a:r>
              <a:rPr lang="zh-CN" altLang="en-US" sz="2400" b="1">
                <a:solidFill>
                  <a:srgbClr val="C00000"/>
                </a:solidFill>
              </a:rPr>
              <a:t>出单粒子的有效动力学</a:t>
            </a:r>
            <a:endParaRPr lang="zh-CN" altLang="en-US" sz="2400" b="1">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7337425" cy="471805"/>
          </a:xfrm>
          <a:prstGeom prst="rect">
            <a:avLst/>
          </a:prstGeom>
          <a:noFill/>
        </p:spPr>
        <p:txBody>
          <a:bodyPr wrap="square" rtlCol="0">
            <a:noAutofit/>
          </a:bodyPr>
          <a:lstStyle/>
          <a:p>
            <a:r>
              <a:rPr lang="zh-CN" altLang="en-US" sz="2700" b="1">
                <a:solidFill>
                  <a:schemeClr val="bg1"/>
                </a:solidFill>
                <a:latin typeface="微软雅黑" panose="020B0503020204020204" pitchFamily="34" charset="-122"/>
                <a:ea typeface="微软雅黑" panose="020B0503020204020204" pitchFamily="34" charset="-122"/>
                <a:sym typeface="+mn-ea"/>
              </a:rPr>
              <a:t>多粒子的无相互作用密度场方程</a:t>
            </a:r>
            <a:r>
              <a:rPr lang="en-US" altLang="zh-CN" sz="2700" b="1">
                <a:solidFill>
                  <a:schemeClr val="bg1"/>
                </a:solidFill>
                <a:latin typeface="微软雅黑" panose="020B0503020204020204" pitchFamily="34" charset="-122"/>
                <a:ea typeface="微软雅黑" panose="020B0503020204020204" pitchFamily="34" charset="-122"/>
                <a:sym typeface="+mn-ea"/>
              </a:rPr>
              <a:t>-1</a:t>
            </a:r>
            <a:r>
              <a:rPr lang="zh-CN" altLang="en-US" sz="2700" b="1">
                <a:solidFill>
                  <a:schemeClr val="bg1"/>
                </a:solidFill>
                <a:latin typeface="微软雅黑" panose="020B0503020204020204" pitchFamily="34" charset="-122"/>
                <a:ea typeface="微软雅黑" panose="020B0503020204020204" pitchFamily="34" charset="-122"/>
                <a:sym typeface="+mn-ea"/>
              </a:rPr>
              <a:t>维</a:t>
            </a:r>
            <a:endParaRPr lang="zh-CN" altLang="en-US" sz="2700" b="1">
              <a:solidFill>
                <a:schemeClr val="bg1"/>
              </a:solidFill>
              <a:latin typeface="微软雅黑" panose="020B0503020204020204" pitchFamily="34" charset="-122"/>
              <a:ea typeface="微软雅黑" panose="020B0503020204020204" pitchFamily="34" charset="-122"/>
              <a:sym typeface="+mn-ea"/>
            </a:endParaRPr>
          </a:p>
          <a:p>
            <a:endParaRPr lang="zh-CN" altLang="en-US" sz="2700" b="1" dirty="0">
              <a:solidFill>
                <a:schemeClr val="bg1"/>
              </a:solidFill>
              <a:latin typeface="微软雅黑" panose="020B0503020204020204" pitchFamily="34" charset="-122"/>
              <a:ea typeface="微软雅黑" panose="020B0503020204020204" pitchFamily="34" charset="-122"/>
            </a:endParaRPr>
          </a:p>
          <a:p>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grpSp>
        <p:nvGrpSpPr>
          <p:cNvPr id="10" name="组合 9"/>
          <p:cNvGrpSpPr/>
          <p:nvPr/>
        </p:nvGrpSpPr>
        <p:grpSpPr>
          <a:xfrm>
            <a:off x="603250" y="849922"/>
            <a:ext cx="8917282" cy="5476757"/>
            <a:chOff x="950" y="1301"/>
            <a:chExt cx="12307" cy="7166"/>
          </a:xfrm>
        </p:grpSpPr>
        <p:sp>
          <p:nvSpPr>
            <p:cNvPr id="5" name="文本框 4"/>
            <p:cNvSpPr txBox="1"/>
            <p:nvPr/>
          </p:nvSpPr>
          <p:spPr>
            <a:xfrm>
              <a:off x="950" y="1301"/>
              <a:ext cx="3922" cy="482"/>
            </a:xfrm>
            <a:prstGeom prst="rect">
              <a:avLst/>
            </a:prstGeom>
            <a:noFill/>
          </p:spPr>
          <p:txBody>
            <a:bodyPr wrap="square" rtlCol="0">
              <a:spAutoFit/>
            </a:bodyPr>
            <a:p>
              <a:r>
                <a:rPr lang="zh-CN" altLang="en-US"/>
                <a:t>考虑</a:t>
              </a:r>
              <a:r>
                <a:rPr lang="en-US" altLang="zh-CN"/>
                <a:t>N</a:t>
              </a:r>
              <a:r>
                <a:rPr lang="zh-CN" altLang="en-US"/>
                <a:t>个</a:t>
              </a:r>
              <a:r>
                <a:rPr lang="zh-CN" altLang="en-US"/>
                <a:t>粒子</a:t>
              </a:r>
              <a:endParaRPr lang="zh-CN" altLang="en-US"/>
            </a:p>
          </p:txBody>
        </p:sp>
        <p:pic>
          <p:nvPicPr>
            <p:cNvPr id="7" name="图片 6"/>
            <p:cNvPicPr>
              <a:picLocks noChangeAspect="1"/>
            </p:cNvPicPr>
            <p:nvPr>
              <p:custDataLst>
                <p:tags r:id="rId1"/>
              </p:custDataLst>
            </p:nvPr>
          </p:nvPicPr>
          <p:blipFill>
            <a:blip r:embed="rId2"/>
            <a:stretch>
              <a:fillRect/>
            </a:stretch>
          </p:blipFill>
          <p:spPr>
            <a:xfrm>
              <a:off x="3314" y="1301"/>
              <a:ext cx="3425" cy="841"/>
            </a:xfrm>
            <a:prstGeom prst="rect">
              <a:avLst/>
            </a:prstGeom>
          </p:spPr>
        </p:pic>
        <p:grpSp>
          <p:nvGrpSpPr>
            <p:cNvPr id="19" name="组合 18"/>
            <p:cNvGrpSpPr/>
            <p:nvPr/>
          </p:nvGrpSpPr>
          <p:grpSpPr>
            <a:xfrm>
              <a:off x="992" y="2111"/>
              <a:ext cx="12265" cy="6356"/>
              <a:chOff x="363" y="-2584"/>
              <a:chExt cx="15379" cy="9294"/>
            </a:xfrm>
          </p:grpSpPr>
          <p:pic>
            <p:nvPicPr>
              <p:cNvPr id="6" name="图片 5"/>
              <p:cNvPicPr>
                <a:picLocks noChangeAspect="1"/>
              </p:cNvPicPr>
              <p:nvPr>
                <p:custDataLst>
                  <p:tags r:id="rId3"/>
                </p:custDataLst>
              </p:nvPr>
            </p:nvPicPr>
            <p:blipFill>
              <a:blip r:embed="rId4"/>
              <a:stretch>
                <a:fillRect/>
              </a:stretch>
            </p:blipFill>
            <p:spPr>
              <a:xfrm>
                <a:off x="3128" y="-2584"/>
                <a:ext cx="3991" cy="1069"/>
              </a:xfrm>
              <a:prstGeom prst="rect">
                <a:avLst/>
              </a:prstGeom>
            </p:spPr>
          </p:pic>
          <p:sp>
            <p:nvSpPr>
              <p:cNvPr id="11" name="文本框 10"/>
              <p:cNvSpPr txBox="1"/>
              <p:nvPr/>
            </p:nvSpPr>
            <p:spPr>
              <a:xfrm>
                <a:off x="363" y="-905"/>
                <a:ext cx="10998" cy="705"/>
              </a:xfrm>
              <a:prstGeom prst="rect">
                <a:avLst/>
              </a:prstGeom>
              <a:noFill/>
            </p:spPr>
            <p:txBody>
              <a:bodyPr wrap="square" rtlCol="0">
                <a:spAutoFit/>
              </a:bodyPr>
              <a:p>
                <a:r>
                  <a:rPr lang="zh-CN" altLang="en-US"/>
                  <a:t>根据伊藤引理可推出单个粒子的位置演化</a:t>
                </a:r>
                <a:r>
                  <a:rPr lang="zh-CN" altLang="en-US"/>
                  <a:t>方程</a:t>
                </a:r>
                <a:endParaRPr lang="zh-CN" altLang="en-US"/>
              </a:p>
            </p:txBody>
          </p:sp>
          <p:pic>
            <p:nvPicPr>
              <p:cNvPr id="12" name="图片 11"/>
              <p:cNvPicPr>
                <a:picLocks noChangeAspect="1"/>
              </p:cNvPicPr>
              <p:nvPr>
                <p:custDataLst>
                  <p:tags r:id="rId5"/>
                </p:custDataLst>
              </p:nvPr>
            </p:nvPicPr>
            <p:blipFill>
              <a:blip r:embed="rId6"/>
              <a:stretch>
                <a:fillRect/>
              </a:stretch>
            </p:blipFill>
            <p:spPr>
              <a:xfrm>
                <a:off x="1025" y="170"/>
                <a:ext cx="14717" cy="1086"/>
              </a:xfrm>
              <a:prstGeom prst="rect">
                <a:avLst/>
              </a:prstGeom>
            </p:spPr>
          </p:pic>
          <p:pic>
            <p:nvPicPr>
              <p:cNvPr id="13" name="图片 12"/>
              <p:cNvPicPr>
                <a:picLocks noChangeAspect="1"/>
              </p:cNvPicPr>
              <p:nvPr>
                <p:custDataLst>
                  <p:tags r:id="rId7"/>
                </p:custDataLst>
              </p:nvPr>
            </p:nvPicPr>
            <p:blipFill>
              <a:blip r:embed="rId8"/>
              <a:stretch>
                <a:fillRect/>
              </a:stretch>
            </p:blipFill>
            <p:spPr>
              <a:xfrm>
                <a:off x="1242" y="2759"/>
                <a:ext cx="13612" cy="854"/>
              </a:xfrm>
              <a:prstGeom prst="rect">
                <a:avLst/>
              </a:prstGeom>
            </p:spPr>
          </p:pic>
          <p:sp>
            <p:nvSpPr>
              <p:cNvPr id="14" name="文本框 13"/>
              <p:cNvSpPr txBox="1"/>
              <p:nvPr/>
            </p:nvSpPr>
            <p:spPr>
              <a:xfrm>
                <a:off x="395" y="1501"/>
                <a:ext cx="2732" cy="705"/>
              </a:xfrm>
              <a:prstGeom prst="rect">
                <a:avLst/>
              </a:prstGeom>
              <a:noFill/>
            </p:spPr>
            <p:txBody>
              <a:bodyPr wrap="square" rtlCol="0">
                <a:spAutoFit/>
              </a:bodyPr>
              <a:p>
                <a:r>
                  <a:rPr lang="zh-CN" altLang="en-US"/>
                  <a:t>对</a:t>
                </a:r>
                <a:r>
                  <a:rPr lang="en-US" altLang="zh-CN"/>
                  <a:t>i</a:t>
                </a:r>
                <a:r>
                  <a:rPr lang="zh-CN" altLang="en-US"/>
                  <a:t>求和</a:t>
                </a:r>
                <a:endParaRPr lang="zh-CN" altLang="en-US"/>
              </a:p>
            </p:txBody>
          </p:sp>
          <p:pic>
            <p:nvPicPr>
              <p:cNvPr id="15" name="图片 14"/>
              <p:cNvPicPr>
                <a:picLocks noChangeAspect="1"/>
              </p:cNvPicPr>
              <p:nvPr>
                <p:custDataLst>
                  <p:tags r:id="rId9"/>
                </p:custDataLst>
              </p:nvPr>
            </p:nvPicPr>
            <p:blipFill>
              <a:blip r:embed="rId10"/>
              <a:stretch>
                <a:fillRect/>
              </a:stretch>
            </p:blipFill>
            <p:spPr>
              <a:xfrm>
                <a:off x="1918" y="4235"/>
                <a:ext cx="1208" cy="662"/>
              </a:xfrm>
              <a:prstGeom prst="rect">
                <a:avLst/>
              </a:prstGeom>
            </p:spPr>
          </p:pic>
          <p:sp>
            <p:nvSpPr>
              <p:cNvPr id="16" name="文本框 15"/>
              <p:cNvSpPr txBox="1"/>
              <p:nvPr/>
            </p:nvSpPr>
            <p:spPr>
              <a:xfrm>
                <a:off x="3274" y="4203"/>
                <a:ext cx="9539" cy="705"/>
              </a:xfrm>
              <a:prstGeom prst="rect">
                <a:avLst/>
              </a:prstGeom>
              <a:noFill/>
            </p:spPr>
            <p:txBody>
              <a:bodyPr wrap="square" rtlCol="0">
                <a:spAutoFit/>
              </a:bodyPr>
              <a:p>
                <a:r>
                  <a:rPr lang="zh-CN" altLang="en-US"/>
                  <a:t>是高斯噪声场，均值为</a:t>
                </a:r>
                <a:r>
                  <a:rPr lang="en-US" altLang="zh-CN"/>
                  <a:t>0</a:t>
                </a:r>
                <a:r>
                  <a:rPr lang="zh-CN" altLang="en-US"/>
                  <a:t>，方差</a:t>
                </a:r>
                <a:r>
                  <a:rPr lang="zh-CN" altLang="en-US"/>
                  <a:t>满足</a:t>
                </a:r>
                <a:endParaRPr lang="zh-CN" altLang="en-US"/>
              </a:p>
            </p:txBody>
          </p:sp>
          <p:pic>
            <p:nvPicPr>
              <p:cNvPr id="17" name="图片 16"/>
              <p:cNvPicPr>
                <a:picLocks noChangeAspect="1"/>
              </p:cNvPicPr>
              <p:nvPr>
                <p:custDataLst>
                  <p:tags r:id="rId11"/>
                </p:custDataLst>
              </p:nvPr>
            </p:nvPicPr>
            <p:blipFill>
              <a:blip r:embed="rId12"/>
              <a:stretch>
                <a:fillRect/>
              </a:stretch>
            </p:blipFill>
            <p:spPr>
              <a:xfrm>
                <a:off x="3126" y="5377"/>
                <a:ext cx="12092" cy="1333"/>
              </a:xfrm>
              <a:prstGeom prst="rect">
                <a:avLst/>
              </a:prstGeom>
            </p:spPr>
          </p:pic>
        </p:grpSp>
        <p:sp>
          <p:nvSpPr>
            <p:cNvPr id="8" name="文本框 7"/>
            <p:cNvSpPr txBox="1"/>
            <p:nvPr/>
          </p:nvSpPr>
          <p:spPr>
            <a:xfrm>
              <a:off x="992" y="2255"/>
              <a:ext cx="2205" cy="482"/>
            </a:xfrm>
            <a:prstGeom prst="rect">
              <a:avLst/>
            </a:prstGeom>
            <a:noFill/>
          </p:spPr>
          <p:txBody>
            <a:bodyPr wrap="square" rtlCol="0">
              <a:spAutoFit/>
            </a:bodyPr>
            <a:p>
              <a:r>
                <a:rPr lang="zh-CN" altLang="en-US"/>
                <a:t>密度</a:t>
              </a:r>
              <a:r>
                <a:rPr lang="zh-CN" altLang="en-US"/>
                <a:t>场</a:t>
              </a:r>
              <a:endParaRPr lang="zh-CN" altLang="en-US"/>
            </a:p>
          </p:txBody>
        </p:sp>
      </p:grpSp>
      <p:sp>
        <p:nvSpPr>
          <p:cNvPr id="9" name="文本框 8"/>
          <p:cNvSpPr txBox="1"/>
          <p:nvPr/>
        </p:nvSpPr>
        <p:spPr>
          <a:xfrm>
            <a:off x="756920" y="5014595"/>
            <a:ext cx="781050" cy="368300"/>
          </a:xfrm>
          <a:prstGeom prst="rect">
            <a:avLst/>
          </a:prstGeom>
          <a:noFill/>
        </p:spPr>
        <p:txBody>
          <a:bodyPr wrap="square" rtlCol="0">
            <a:spAutoFit/>
          </a:bodyPr>
          <a:p>
            <a:r>
              <a:rPr lang="zh-CN" altLang="en-US"/>
              <a:t>其中</a:t>
            </a:r>
            <a:endParaRPr lang="zh-CN" altLang="en-US"/>
          </a:p>
        </p:txBody>
      </p:sp>
      <p:sp>
        <p:nvSpPr>
          <p:cNvPr id="18" name="矩形 17"/>
          <p:cNvSpPr/>
          <p:nvPr/>
        </p:nvSpPr>
        <p:spPr>
          <a:xfrm>
            <a:off x="1052195" y="4166870"/>
            <a:ext cx="8115300" cy="69532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sp>
        <p:nvSpPr>
          <p:cNvPr id="5" name="文本框 4"/>
          <p:cNvSpPr txBox="1"/>
          <p:nvPr>
            <p:custDataLst>
              <p:tags r:id="rId1"/>
            </p:custDataLst>
          </p:nvPr>
        </p:nvSpPr>
        <p:spPr>
          <a:xfrm>
            <a:off x="224790" y="50800"/>
            <a:ext cx="5871210" cy="537845"/>
          </a:xfrm>
          <a:prstGeom prst="rect">
            <a:avLst/>
          </a:prstGeom>
          <a:noFill/>
        </p:spPr>
        <p:txBody>
          <a:bodyPr wrap="square" rtlCol="0">
            <a:noAutofit/>
          </a:bodyPr>
          <a:p>
            <a:r>
              <a:rPr lang="zh-CN" altLang="en-US" sz="2700" b="1">
                <a:solidFill>
                  <a:schemeClr val="bg1"/>
                </a:solidFill>
                <a:ea typeface="微软雅黑" panose="020B0503020204020204" pitchFamily="34" charset="-122"/>
                <a:cs typeface="+mn-lt"/>
                <a:sym typeface="+mn-ea"/>
              </a:rPr>
              <a:t>多粒子的无相互作用密度场方程</a:t>
            </a:r>
            <a:r>
              <a:rPr lang="en-US" altLang="zh-CN" sz="2700" b="1">
                <a:solidFill>
                  <a:schemeClr val="bg1"/>
                </a:solidFill>
                <a:ea typeface="微软雅黑" panose="020B0503020204020204" pitchFamily="34" charset="-122"/>
                <a:cs typeface="+mn-lt"/>
                <a:sym typeface="+mn-ea"/>
              </a:rPr>
              <a:t>-d</a:t>
            </a:r>
            <a:r>
              <a:rPr lang="zh-CN" altLang="en-US" sz="2700" b="1">
                <a:solidFill>
                  <a:schemeClr val="bg1"/>
                </a:solidFill>
                <a:ea typeface="微软雅黑" panose="020B0503020204020204" pitchFamily="34" charset="-122"/>
                <a:cs typeface="+mn-lt"/>
                <a:sym typeface="+mn-ea"/>
              </a:rPr>
              <a:t>维</a:t>
            </a:r>
            <a:endParaRPr lang="zh-CN" altLang="en-US" sz="2700" b="1">
              <a:solidFill>
                <a:schemeClr val="bg1"/>
              </a:solidFill>
              <a:ea typeface="微软雅黑" panose="020B0503020204020204" pitchFamily="34" charset="-122"/>
              <a:cs typeface="+mn-lt"/>
              <a:sym typeface="+mn-ea"/>
            </a:endParaRPr>
          </a:p>
        </p:txBody>
      </p:sp>
      <p:sp>
        <p:nvSpPr>
          <p:cNvPr id="18" name="文本框 17"/>
          <p:cNvSpPr txBox="1"/>
          <p:nvPr>
            <p:custDataLst>
              <p:tags r:id="rId2"/>
            </p:custDataLst>
          </p:nvPr>
        </p:nvSpPr>
        <p:spPr>
          <a:xfrm>
            <a:off x="574675" y="1368425"/>
            <a:ext cx="4050665" cy="368300"/>
          </a:xfrm>
          <a:prstGeom prst="rect">
            <a:avLst/>
          </a:prstGeom>
          <a:noFill/>
        </p:spPr>
        <p:txBody>
          <a:bodyPr wrap="square" rtlCol="0">
            <a:spAutoFit/>
          </a:bodyPr>
          <a:p>
            <a:r>
              <a:rPr lang="zh-CN" altLang="en-US"/>
              <a:t>推广到</a:t>
            </a:r>
            <a:r>
              <a:rPr lang="en-US" altLang="zh-CN"/>
              <a:t>d</a:t>
            </a:r>
            <a:r>
              <a:rPr lang="zh-CN" altLang="en-US"/>
              <a:t>维</a:t>
            </a:r>
            <a:endParaRPr lang="zh-CN" altLang="en-US"/>
          </a:p>
        </p:txBody>
      </p:sp>
      <p:pic>
        <p:nvPicPr>
          <p:cNvPr id="20" name="图片 19"/>
          <p:cNvPicPr>
            <a:picLocks noChangeAspect="1"/>
          </p:cNvPicPr>
          <p:nvPr>
            <p:custDataLst>
              <p:tags r:id="rId3"/>
            </p:custDataLst>
          </p:nvPr>
        </p:nvPicPr>
        <p:blipFill>
          <a:blip r:embed="rId4"/>
          <a:stretch>
            <a:fillRect/>
          </a:stretch>
        </p:blipFill>
        <p:spPr>
          <a:xfrm>
            <a:off x="1840230" y="1701800"/>
            <a:ext cx="4676775" cy="630555"/>
          </a:xfrm>
          <a:prstGeom prst="rect">
            <a:avLst/>
          </a:prstGeom>
        </p:spPr>
      </p:pic>
      <p:pic>
        <p:nvPicPr>
          <p:cNvPr id="21" name="图片 20"/>
          <p:cNvPicPr>
            <a:picLocks noChangeAspect="1"/>
          </p:cNvPicPr>
          <p:nvPr>
            <p:custDataLst>
              <p:tags r:id="rId5"/>
            </p:custDataLst>
          </p:nvPr>
        </p:nvPicPr>
        <p:blipFill>
          <a:blip r:embed="rId6"/>
          <a:stretch>
            <a:fillRect/>
          </a:stretch>
        </p:blipFill>
        <p:spPr>
          <a:xfrm>
            <a:off x="3356610" y="2371725"/>
            <a:ext cx="2876550" cy="552450"/>
          </a:xfrm>
          <a:prstGeom prst="rect">
            <a:avLst/>
          </a:prstGeom>
        </p:spPr>
      </p:pic>
      <p:sp>
        <p:nvSpPr>
          <p:cNvPr id="22" name="文本框 21"/>
          <p:cNvSpPr txBox="1"/>
          <p:nvPr>
            <p:custDataLst>
              <p:tags r:id="rId7"/>
            </p:custDataLst>
          </p:nvPr>
        </p:nvSpPr>
        <p:spPr>
          <a:xfrm>
            <a:off x="603250" y="2446655"/>
            <a:ext cx="2468880" cy="368300"/>
          </a:xfrm>
          <a:prstGeom prst="rect">
            <a:avLst/>
          </a:prstGeom>
          <a:noFill/>
        </p:spPr>
        <p:txBody>
          <a:bodyPr wrap="none" rtlCol="0" anchor="t">
            <a:spAutoFit/>
          </a:bodyPr>
          <a:p>
            <a:r>
              <a:rPr lang="zh-CN" altLang="en-US">
                <a:latin typeface="宋体" panose="02010600030101010101" pitchFamily="2" charset="-122"/>
                <a:ea typeface="宋体" panose="02010600030101010101" pitchFamily="2" charset="-122"/>
              </a:rPr>
              <a:t>其中，μ是</a:t>
            </a:r>
            <a:r>
              <a:rPr lang="zh-CN" altLang="en-US">
                <a:latin typeface="宋体" panose="02010600030101010101" pitchFamily="2" charset="-122"/>
                <a:ea typeface="宋体" panose="02010600030101010101" pitchFamily="2" charset="-122"/>
              </a:rPr>
              <a:t>有效化学</a:t>
            </a:r>
            <a:r>
              <a:rPr lang="zh-CN" altLang="en-US">
                <a:latin typeface="宋体" panose="02010600030101010101" pitchFamily="2" charset="-122"/>
                <a:ea typeface="宋体" panose="02010600030101010101" pitchFamily="2" charset="-122"/>
              </a:rPr>
              <a:t>势</a:t>
            </a:r>
            <a:endParaRPr lang="zh-CN" altLang="en-US">
              <a:latin typeface="宋体" panose="02010600030101010101" pitchFamily="2" charset="-122"/>
              <a:ea typeface="宋体" panose="02010600030101010101" pitchFamily="2" charset="-122"/>
            </a:endParaRPr>
          </a:p>
        </p:txBody>
      </p:sp>
      <p:pic>
        <p:nvPicPr>
          <p:cNvPr id="23" name="图片 22"/>
          <p:cNvPicPr>
            <a:picLocks noChangeAspect="1"/>
          </p:cNvPicPr>
          <p:nvPr>
            <p:custDataLst>
              <p:tags r:id="rId8"/>
            </p:custDataLst>
          </p:nvPr>
        </p:nvPicPr>
        <p:blipFill>
          <a:blip r:embed="rId9"/>
          <a:stretch>
            <a:fillRect/>
          </a:stretch>
        </p:blipFill>
        <p:spPr>
          <a:xfrm>
            <a:off x="3356610" y="3016885"/>
            <a:ext cx="1810385" cy="403225"/>
          </a:xfrm>
          <a:prstGeom prst="rect">
            <a:avLst/>
          </a:prstGeom>
        </p:spPr>
      </p:pic>
      <p:sp>
        <p:nvSpPr>
          <p:cNvPr id="24" name="文本框 23"/>
          <p:cNvSpPr txBox="1"/>
          <p:nvPr>
            <p:custDataLst>
              <p:tags r:id="rId10"/>
            </p:custDataLst>
          </p:nvPr>
        </p:nvSpPr>
        <p:spPr>
          <a:xfrm>
            <a:off x="1637030" y="3013710"/>
            <a:ext cx="2258060" cy="368300"/>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rPr>
              <a:t>是集体</a:t>
            </a:r>
            <a:r>
              <a:rPr lang="zh-CN" altLang="en-US">
                <a:latin typeface="宋体" panose="02010600030101010101" pitchFamily="2" charset="-122"/>
                <a:ea typeface="宋体" panose="02010600030101010101" pitchFamily="2" charset="-122"/>
              </a:rPr>
              <a:t>迁移率</a:t>
            </a:r>
            <a:endParaRPr lang="zh-CN" altLang="en-US">
              <a:latin typeface="宋体" panose="02010600030101010101" pitchFamily="2" charset="-122"/>
              <a:ea typeface="宋体" panose="02010600030101010101" pitchFamily="2" charset="-122"/>
            </a:endParaRPr>
          </a:p>
        </p:txBody>
      </p:sp>
      <p:pic>
        <p:nvPicPr>
          <p:cNvPr id="25" name="图片 24"/>
          <p:cNvPicPr>
            <a:picLocks noChangeAspect="1"/>
          </p:cNvPicPr>
          <p:nvPr>
            <p:custDataLst>
              <p:tags r:id="rId11"/>
            </p:custDataLst>
          </p:nvPr>
        </p:nvPicPr>
        <p:blipFill>
          <a:blip r:embed="rId12"/>
          <a:stretch>
            <a:fillRect/>
          </a:stretch>
        </p:blipFill>
        <p:spPr>
          <a:xfrm>
            <a:off x="5388610" y="2908935"/>
            <a:ext cx="1767840" cy="621030"/>
          </a:xfrm>
          <a:prstGeom prst="rect">
            <a:avLst/>
          </a:prstGeom>
        </p:spPr>
      </p:pic>
      <p:grpSp>
        <p:nvGrpSpPr>
          <p:cNvPr id="11" name="组合 10"/>
          <p:cNvGrpSpPr/>
          <p:nvPr/>
        </p:nvGrpSpPr>
        <p:grpSpPr>
          <a:xfrm>
            <a:off x="6233160" y="2420620"/>
            <a:ext cx="3504565" cy="374650"/>
            <a:chOff x="13307" y="3842"/>
            <a:chExt cx="5519" cy="590"/>
          </a:xfrm>
        </p:grpSpPr>
        <p:pic>
          <p:nvPicPr>
            <p:cNvPr id="6" name="图片 5"/>
            <p:cNvPicPr>
              <a:picLocks noChangeAspect="1"/>
            </p:cNvPicPr>
            <p:nvPr>
              <p:custDataLst>
                <p:tags r:id="rId13"/>
              </p:custDataLst>
            </p:nvPr>
          </p:nvPicPr>
          <p:blipFill>
            <a:blip r:embed="rId14"/>
            <a:stretch>
              <a:fillRect/>
            </a:stretch>
          </p:blipFill>
          <p:spPr>
            <a:xfrm>
              <a:off x="13307" y="3842"/>
              <a:ext cx="494" cy="535"/>
            </a:xfrm>
            <a:prstGeom prst="rect">
              <a:avLst/>
            </a:prstGeom>
          </p:spPr>
        </p:pic>
        <p:sp>
          <p:nvSpPr>
            <p:cNvPr id="7" name="文本框 6"/>
            <p:cNvSpPr txBox="1"/>
            <p:nvPr/>
          </p:nvSpPr>
          <p:spPr>
            <a:xfrm>
              <a:off x="13676" y="3842"/>
              <a:ext cx="5150" cy="591"/>
            </a:xfrm>
            <a:prstGeom prst="rect">
              <a:avLst/>
            </a:prstGeom>
            <a:noFill/>
          </p:spPr>
          <p:txBody>
            <a:bodyPr wrap="square" rtlCol="0">
              <a:noAutofit/>
            </a:bodyPr>
            <a:p>
              <a:r>
                <a:rPr lang="zh-CN" altLang="en-US"/>
                <a:t>指化学势对密度场</a:t>
              </a:r>
              <a:r>
                <a:rPr lang="zh-CN" altLang="en-US"/>
                <a:t>的泛函</a:t>
              </a:r>
              <a:endParaRPr lang="zh-CN" altLang="en-US"/>
            </a:p>
          </p:txBody>
        </p:sp>
      </p:grpSp>
      <p:sp>
        <p:nvSpPr>
          <p:cNvPr id="8" name="文本框 7"/>
          <p:cNvSpPr txBox="1"/>
          <p:nvPr/>
        </p:nvSpPr>
        <p:spPr>
          <a:xfrm>
            <a:off x="669925" y="3642995"/>
            <a:ext cx="7132320" cy="368300"/>
          </a:xfrm>
          <a:prstGeom prst="rect">
            <a:avLst/>
          </a:prstGeom>
          <a:noFill/>
        </p:spPr>
        <p:txBody>
          <a:bodyPr wrap="square" rtlCol="0">
            <a:spAutoFit/>
          </a:bodyPr>
          <a:p>
            <a:r>
              <a:rPr lang="zh-CN" altLang="en-US"/>
              <a:t>后面会说明化学势满足可积性条件，因此</a:t>
            </a:r>
            <a:r>
              <a:rPr lang="zh-CN" altLang="en-US"/>
              <a:t>能够写出自由能</a:t>
            </a:r>
            <a:r>
              <a:rPr lang="zh-CN" altLang="en-US"/>
              <a:t>泛函</a:t>
            </a:r>
            <a:endParaRPr lang="zh-CN" altLang="en-US"/>
          </a:p>
        </p:txBody>
      </p:sp>
      <p:pic>
        <p:nvPicPr>
          <p:cNvPr id="9" name="图片 8"/>
          <p:cNvPicPr>
            <a:picLocks noChangeAspect="1"/>
          </p:cNvPicPr>
          <p:nvPr>
            <p:custDataLst>
              <p:tags r:id="rId15"/>
            </p:custDataLst>
          </p:nvPr>
        </p:nvPicPr>
        <p:blipFill>
          <a:blip r:embed="rId16"/>
          <a:stretch>
            <a:fillRect/>
          </a:stretch>
        </p:blipFill>
        <p:spPr>
          <a:xfrm>
            <a:off x="826135" y="4232910"/>
            <a:ext cx="1812925" cy="617855"/>
          </a:xfrm>
          <a:prstGeom prst="rect">
            <a:avLst/>
          </a:prstGeom>
        </p:spPr>
      </p:pic>
      <p:pic>
        <p:nvPicPr>
          <p:cNvPr id="10" name="图片 9"/>
          <p:cNvPicPr>
            <a:picLocks noChangeAspect="1"/>
          </p:cNvPicPr>
          <p:nvPr>
            <p:custDataLst>
              <p:tags r:id="rId17"/>
            </p:custDataLst>
          </p:nvPr>
        </p:nvPicPr>
        <p:blipFill>
          <a:blip r:embed="rId18"/>
          <a:stretch>
            <a:fillRect/>
          </a:stretch>
        </p:blipFill>
        <p:spPr>
          <a:xfrm>
            <a:off x="3158490" y="4234180"/>
            <a:ext cx="5165725" cy="575945"/>
          </a:xfrm>
          <a:prstGeom prst="rect">
            <a:avLst/>
          </a:prstGeom>
        </p:spPr>
      </p:pic>
      <p:sp>
        <p:nvSpPr>
          <p:cNvPr id="13" name="文本框 12"/>
          <p:cNvSpPr txBox="1"/>
          <p:nvPr/>
        </p:nvSpPr>
        <p:spPr>
          <a:xfrm>
            <a:off x="3895090" y="5113020"/>
            <a:ext cx="2200910" cy="337185"/>
          </a:xfrm>
          <a:prstGeom prst="rect">
            <a:avLst/>
          </a:prstGeom>
          <a:noFill/>
        </p:spPr>
        <p:txBody>
          <a:bodyPr wrap="square" rtlCol="0">
            <a:spAutoFit/>
          </a:bodyPr>
          <a:p>
            <a:r>
              <a:rPr lang="zh-CN" altLang="en-US" sz="1600"/>
              <a:t>有利于粒子均匀</a:t>
            </a:r>
            <a:r>
              <a:rPr lang="zh-CN" altLang="en-US" sz="1600"/>
              <a:t>分布</a:t>
            </a:r>
            <a:endParaRPr lang="zh-CN" altLang="en-US" sz="1600"/>
          </a:p>
        </p:txBody>
      </p:sp>
      <p:sp>
        <p:nvSpPr>
          <p:cNvPr id="14" name="文本框 13"/>
          <p:cNvSpPr txBox="1"/>
          <p:nvPr/>
        </p:nvSpPr>
        <p:spPr>
          <a:xfrm>
            <a:off x="6467475" y="5113020"/>
            <a:ext cx="2825115" cy="337185"/>
          </a:xfrm>
          <a:prstGeom prst="rect">
            <a:avLst/>
          </a:prstGeom>
          <a:noFill/>
        </p:spPr>
        <p:txBody>
          <a:bodyPr wrap="square" rtlCol="0">
            <a:spAutoFit/>
          </a:bodyPr>
          <a:p>
            <a:r>
              <a:rPr lang="zh-CN" altLang="en-US" sz="1600"/>
              <a:t>有利于在移动较慢的区域积累</a:t>
            </a:r>
            <a:endParaRPr lang="en-US" altLang="zh-CN" sz="1600"/>
          </a:p>
        </p:txBody>
      </p:sp>
      <p:sp>
        <p:nvSpPr>
          <p:cNvPr id="17" name="文本框 16"/>
          <p:cNvSpPr txBox="1"/>
          <p:nvPr/>
        </p:nvSpPr>
        <p:spPr>
          <a:xfrm>
            <a:off x="2188210" y="5917565"/>
            <a:ext cx="7937500" cy="460375"/>
          </a:xfrm>
          <a:prstGeom prst="rect">
            <a:avLst/>
          </a:prstGeom>
          <a:noFill/>
        </p:spPr>
        <p:txBody>
          <a:bodyPr wrap="square" rtlCol="0">
            <a:spAutoFit/>
          </a:bodyPr>
          <a:p>
            <a:r>
              <a:rPr lang="zh-CN" altLang="en-US" sz="2400" b="1">
                <a:solidFill>
                  <a:srgbClr val="C00000"/>
                </a:solidFill>
              </a:rPr>
              <a:t>建立起长时间，大规模，无相互作用的的密度场方程</a:t>
            </a:r>
            <a:endParaRPr lang="zh-CN" altLang="en-US" sz="2400" b="1">
              <a:solidFill>
                <a:srgbClr val="C00000"/>
              </a:solidFill>
            </a:endParaRPr>
          </a:p>
        </p:txBody>
      </p:sp>
      <p:pic>
        <p:nvPicPr>
          <p:cNvPr id="3" name="图片 2"/>
          <p:cNvPicPr>
            <a:picLocks noChangeAspect="1"/>
          </p:cNvPicPr>
          <p:nvPr>
            <p:custDataLst>
              <p:tags r:id="rId19"/>
            </p:custDataLst>
          </p:nvPr>
        </p:nvPicPr>
        <p:blipFill>
          <a:blip r:embed="rId20"/>
          <a:stretch>
            <a:fillRect/>
          </a:stretch>
        </p:blipFill>
        <p:spPr>
          <a:xfrm>
            <a:off x="1626870" y="668655"/>
            <a:ext cx="7865745" cy="445770"/>
          </a:xfrm>
          <a:prstGeom prst="rect">
            <a:avLst/>
          </a:prstGeom>
        </p:spPr>
      </p:pic>
      <p:pic>
        <p:nvPicPr>
          <p:cNvPr id="15" name="图片 14"/>
          <p:cNvPicPr>
            <a:picLocks noChangeAspect="1"/>
          </p:cNvPicPr>
          <p:nvPr>
            <p:custDataLst>
              <p:tags r:id="rId21"/>
            </p:custDataLst>
          </p:nvPr>
        </p:nvPicPr>
        <p:blipFill>
          <a:blip r:embed="rId22"/>
          <a:stretch>
            <a:fillRect/>
          </a:stretch>
        </p:blipFill>
        <p:spPr>
          <a:xfrm>
            <a:off x="8623300" y="3384550"/>
            <a:ext cx="3489325" cy="626110"/>
          </a:xfrm>
          <a:prstGeom prst="rect">
            <a:avLst/>
          </a:prstGeom>
        </p:spPr>
      </p:pic>
      <p:sp>
        <p:nvSpPr>
          <p:cNvPr id="19" name="文本框 18"/>
          <p:cNvSpPr txBox="1"/>
          <p:nvPr/>
        </p:nvSpPr>
        <p:spPr>
          <a:xfrm>
            <a:off x="8623300" y="3075305"/>
            <a:ext cx="2114550" cy="368300"/>
          </a:xfrm>
          <a:prstGeom prst="rect">
            <a:avLst/>
          </a:prstGeom>
          <a:noFill/>
        </p:spPr>
        <p:txBody>
          <a:bodyPr wrap="square" rtlCol="0">
            <a:spAutoFit/>
          </a:bodyPr>
          <a:p>
            <a:r>
              <a:rPr lang="en-US" altLang="zh-CN"/>
              <a:t>model </a:t>
            </a:r>
            <a:r>
              <a:rPr lang="en-US" altLang="zh-CN"/>
              <a:t>B</a:t>
            </a:r>
            <a:endParaRPr lang="en-US" altLang="zh-CN"/>
          </a:p>
        </p:txBody>
      </p:sp>
      <p:sp>
        <p:nvSpPr>
          <p:cNvPr id="26" name="矩形 25"/>
          <p:cNvSpPr/>
          <p:nvPr/>
        </p:nvSpPr>
        <p:spPr>
          <a:xfrm>
            <a:off x="8576945" y="3023870"/>
            <a:ext cx="3571875" cy="1190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右箭头 26"/>
          <p:cNvSpPr/>
          <p:nvPr/>
        </p:nvSpPr>
        <p:spPr>
          <a:xfrm rot="17520000">
            <a:off x="5030470" y="4756785"/>
            <a:ext cx="294640" cy="1860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片 27"/>
          <p:cNvPicPr>
            <a:picLocks noChangeAspect="1"/>
          </p:cNvPicPr>
          <p:nvPr>
            <p:custDataLst>
              <p:tags r:id="rId23"/>
            </p:custDataLst>
          </p:nvPr>
        </p:nvPicPr>
        <p:blipFill>
          <a:blip r:embed="rId9"/>
          <a:srcRect r="66363" b="6772"/>
          <a:stretch>
            <a:fillRect/>
          </a:stretch>
        </p:blipFill>
        <p:spPr>
          <a:xfrm>
            <a:off x="1140460" y="2999105"/>
            <a:ext cx="608965" cy="375920"/>
          </a:xfrm>
          <a:prstGeom prst="rect">
            <a:avLst/>
          </a:prstGeom>
        </p:spPr>
      </p:pic>
      <p:sp>
        <p:nvSpPr>
          <p:cNvPr id="29" name="右箭头 28"/>
          <p:cNvSpPr/>
          <p:nvPr>
            <p:custDataLst>
              <p:tags r:id="rId24"/>
            </p:custDataLst>
          </p:nvPr>
        </p:nvSpPr>
        <p:spPr>
          <a:xfrm rot="15840000">
            <a:off x="7150735" y="4769485"/>
            <a:ext cx="294640" cy="1860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6181090" cy="537845"/>
          </a:xfrm>
          <a:prstGeom prst="rect">
            <a:avLst/>
          </a:prstGeom>
          <a:noFill/>
        </p:spPr>
        <p:txBody>
          <a:bodyPr wrap="square" rtlCol="0">
            <a:noAutofit/>
          </a:bodyPr>
          <a:lstStyle/>
          <a:p>
            <a:r>
              <a:rPr lang="en-US" altLang="zh-CN" sz="2700" b="1" dirty="0">
                <a:solidFill>
                  <a:schemeClr val="bg1"/>
                </a:solidFill>
                <a:latin typeface="微软雅黑" panose="020B0503020204020204" pitchFamily="34" charset="-122"/>
                <a:ea typeface="微软雅黑" panose="020B0503020204020204" pitchFamily="34" charset="-122"/>
              </a:rPr>
              <a:t>3. </a:t>
            </a:r>
            <a:r>
              <a:rPr lang="zh-CN" altLang="en-US" sz="2700" b="1" dirty="0">
                <a:solidFill>
                  <a:schemeClr val="bg1"/>
                </a:solidFill>
                <a:latin typeface="微软雅黑" panose="020B0503020204020204" pitchFamily="34" charset="-122"/>
                <a:ea typeface="微软雅黑" panose="020B0503020204020204" pitchFamily="34" charset="-122"/>
              </a:rPr>
              <a:t>群体感应相互作用下的</a:t>
            </a:r>
            <a:r>
              <a:rPr lang="zh-CN" altLang="en-US" sz="2700" b="1">
                <a:solidFill>
                  <a:schemeClr val="bg1"/>
                </a:solidFill>
                <a:latin typeface="微软雅黑" panose="020B0503020204020204" pitchFamily="34" charset="-122"/>
                <a:ea typeface="微软雅黑" panose="020B0503020204020204" pitchFamily="34" charset="-122"/>
                <a:sym typeface="+mn-ea"/>
              </a:rPr>
              <a:t>密度场方程</a:t>
            </a:r>
            <a:endParaRPr lang="zh-CN" altLang="en-US" sz="2700" b="1" dirty="0">
              <a:solidFill>
                <a:schemeClr val="bg1"/>
              </a:solidFill>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5" name="图片 4"/>
          <p:cNvPicPr>
            <a:picLocks noChangeAspect="1"/>
          </p:cNvPicPr>
          <p:nvPr>
            <p:custDataLst>
              <p:tags r:id="rId1"/>
            </p:custDataLst>
          </p:nvPr>
        </p:nvPicPr>
        <p:blipFill>
          <a:blip r:embed="rId2"/>
          <a:stretch>
            <a:fillRect/>
          </a:stretch>
        </p:blipFill>
        <p:spPr>
          <a:xfrm>
            <a:off x="1961515" y="1633220"/>
            <a:ext cx="4912360" cy="56388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974725" y="1296035"/>
            <a:ext cx="454660" cy="306070"/>
          </a:xfrm>
          <a:prstGeom prst="rect">
            <a:avLst/>
          </a:prstGeom>
        </p:spPr>
      </p:pic>
      <p:sp>
        <p:nvSpPr>
          <p:cNvPr id="7" name="文本框 6"/>
          <p:cNvSpPr txBox="1"/>
          <p:nvPr/>
        </p:nvSpPr>
        <p:spPr>
          <a:xfrm>
            <a:off x="1429385" y="1242695"/>
            <a:ext cx="3921125" cy="368300"/>
          </a:xfrm>
          <a:prstGeom prst="rect">
            <a:avLst/>
          </a:prstGeom>
          <a:noFill/>
        </p:spPr>
        <p:txBody>
          <a:bodyPr wrap="square" rtlCol="0">
            <a:spAutoFit/>
          </a:bodyPr>
          <a:p>
            <a:r>
              <a:rPr lang="zh-CN" altLang="en-US"/>
              <a:t>是信号分子的浓度场，</a:t>
            </a:r>
            <a:r>
              <a:rPr lang="zh-CN" altLang="en-US"/>
              <a:t>满足</a:t>
            </a:r>
            <a:endParaRPr lang="zh-CN" altLang="en-US"/>
          </a:p>
        </p:txBody>
      </p:sp>
      <p:sp>
        <p:nvSpPr>
          <p:cNvPr id="8" name="文本框 7"/>
          <p:cNvSpPr txBox="1"/>
          <p:nvPr/>
        </p:nvSpPr>
        <p:spPr>
          <a:xfrm>
            <a:off x="854075" y="774700"/>
            <a:ext cx="6318885" cy="368300"/>
          </a:xfrm>
          <a:prstGeom prst="rect">
            <a:avLst/>
          </a:prstGeom>
          <a:noFill/>
        </p:spPr>
        <p:txBody>
          <a:bodyPr wrap="square" rtlCol="0">
            <a:spAutoFit/>
          </a:bodyPr>
          <a:p>
            <a:r>
              <a:rPr lang="zh-CN" altLang="en-US"/>
              <a:t>粒子释放出信号，其他粒子根据信号做出</a:t>
            </a:r>
            <a:r>
              <a:rPr lang="zh-CN" altLang="en-US"/>
              <a:t>反应</a:t>
            </a:r>
            <a:endParaRPr lang="zh-CN" altLang="en-US"/>
          </a:p>
        </p:txBody>
      </p:sp>
      <p:sp>
        <p:nvSpPr>
          <p:cNvPr id="9" name="文本框 8"/>
          <p:cNvSpPr txBox="1"/>
          <p:nvPr/>
        </p:nvSpPr>
        <p:spPr>
          <a:xfrm>
            <a:off x="854075" y="2310130"/>
            <a:ext cx="666750" cy="368300"/>
          </a:xfrm>
          <a:prstGeom prst="rect">
            <a:avLst/>
          </a:prstGeom>
          <a:noFill/>
        </p:spPr>
        <p:txBody>
          <a:bodyPr wrap="square" rtlCol="0">
            <a:spAutoFit/>
          </a:bodyPr>
          <a:p>
            <a:r>
              <a:rPr lang="zh-CN" altLang="en-US" b="1">
                <a:solidFill>
                  <a:srgbClr val="C00000"/>
                </a:solidFill>
              </a:rPr>
              <a:t>快模</a:t>
            </a:r>
            <a:endParaRPr lang="zh-CN" altLang="en-US" b="1">
              <a:solidFill>
                <a:srgbClr val="C00000"/>
              </a:solidFill>
            </a:endParaRPr>
          </a:p>
        </p:txBody>
      </p:sp>
      <p:pic>
        <p:nvPicPr>
          <p:cNvPr id="10" name="图片 9"/>
          <p:cNvPicPr>
            <a:picLocks noChangeAspect="1"/>
          </p:cNvPicPr>
          <p:nvPr>
            <p:custDataLst>
              <p:tags r:id="rId5"/>
            </p:custDataLst>
          </p:nvPr>
        </p:nvPicPr>
        <p:blipFill>
          <a:blip r:embed="rId6"/>
          <a:stretch>
            <a:fillRect/>
          </a:stretch>
        </p:blipFill>
        <p:spPr>
          <a:xfrm>
            <a:off x="1961515" y="2265680"/>
            <a:ext cx="2848610" cy="494030"/>
          </a:xfrm>
          <a:prstGeom prst="rect">
            <a:avLst/>
          </a:prstGeom>
        </p:spPr>
      </p:pic>
      <p:pic>
        <p:nvPicPr>
          <p:cNvPr id="11" name="图片 10"/>
          <p:cNvPicPr>
            <a:picLocks noChangeAspect="1"/>
          </p:cNvPicPr>
          <p:nvPr>
            <p:custDataLst>
              <p:tags r:id="rId7"/>
            </p:custDataLst>
          </p:nvPr>
        </p:nvPicPr>
        <p:blipFill>
          <a:blip r:embed="rId8"/>
          <a:stretch>
            <a:fillRect/>
          </a:stretch>
        </p:blipFill>
        <p:spPr>
          <a:xfrm>
            <a:off x="1961515" y="2735580"/>
            <a:ext cx="3209290" cy="733425"/>
          </a:xfrm>
          <a:prstGeom prst="rect">
            <a:avLst/>
          </a:prstGeom>
        </p:spPr>
      </p:pic>
      <p:pic>
        <p:nvPicPr>
          <p:cNvPr id="12" name="图片 11"/>
          <p:cNvPicPr>
            <a:picLocks noChangeAspect="1"/>
          </p:cNvPicPr>
          <p:nvPr>
            <p:custDataLst>
              <p:tags r:id="rId9"/>
            </p:custDataLst>
          </p:nvPr>
        </p:nvPicPr>
        <p:blipFill>
          <a:blip r:embed="rId10"/>
          <a:stretch>
            <a:fillRect/>
          </a:stretch>
        </p:blipFill>
        <p:spPr>
          <a:xfrm>
            <a:off x="5645785" y="2834005"/>
            <a:ext cx="2030095" cy="594995"/>
          </a:xfrm>
          <a:prstGeom prst="rect">
            <a:avLst/>
          </a:prstGeom>
        </p:spPr>
      </p:pic>
      <p:pic>
        <p:nvPicPr>
          <p:cNvPr id="13" name="图片 12"/>
          <p:cNvPicPr>
            <a:picLocks noChangeAspect="1"/>
          </p:cNvPicPr>
          <p:nvPr>
            <p:custDataLst>
              <p:tags r:id="rId11"/>
            </p:custDataLst>
          </p:nvPr>
        </p:nvPicPr>
        <p:blipFill>
          <a:blip r:embed="rId12"/>
          <a:stretch>
            <a:fillRect/>
          </a:stretch>
        </p:blipFill>
        <p:spPr>
          <a:xfrm>
            <a:off x="1816100" y="3952240"/>
            <a:ext cx="4953000" cy="509270"/>
          </a:xfrm>
          <a:prstGeom prst="rect">
            <a:avLst/>
          </a:prstGeom>
        </p:spPr>
      </p:pic>
      <p:sp>
        <p:nvSpPr>
          <p:cNvPr id="14" name="文本框 13"/>
          <p:cNvSpPr txBox="1"/>
          <p:nvPr/>
        </p:nvSpPr>
        <p:spPr>
          <a:xfrm>
            <a:off x="911225" y="3569335"/>
            <a:ext cx="2044700" cy="368300"/>
          </a:xfrm>
          <a:prstGeom prst="rect">
            <a:avLst/>
          </a:prstGeom>
          <a:noFill/>
        </p:spPr>
        <p:txBody>
          <a:bodyPr wrap="square" rtlCol="0">
            <a:spAutoFit/>
          </a:bodyPr>
          <a:p>
            <a:r>
              <a:rPr lang="zh-CN" altLang="en-US"/>
              <a:t>密度场</a:t>
            </a:r>
            <a:r>
              <a:rPr lang="zh-CN" altLang="en-US"/>
              <a:t>方程</a:t>
            </a:r>
            <a:endParaRPr lang="zh-CN" altLang="en-US"/>
          </a:p>
        </p:txBody>
      </p:sp>
      <p:sp>
        <p:nvSpPr>
          <p:cNvPr id="15" name="文本框 14"/>
          <p:cNvSpPr txBox="1"/>
          <p:nvPr/>
        </p:nvSpPr>
        <p:spPr>
          <a:xfrm>
            <a:off x="9122410" y="2512695"/>
            <a:ext cx="1792605" cy="368300"/>
          </a:xfrm>
          <a:prstGeom prst="rect">
            <a:avLst/>
          </a:prstGeom>
          <a:noFill/>
        </p:spPr>
        <p:txBody>
          <a:bodyPr wrap="square" rtlCol="0">
            <a:spAutoFit/>
          </a:bodyPr>
          <a:p>
            <a:r>
              <a:rPr lang="zh-CN" altLang="en-US"/>
              <a:t>做了。。。</a:t>
            </a:r>
            <a:r>
              <a:rPr lang="zh-CN" altLang="en-US"/>
              <a:t>近似</a:t>
            </a:r>
            <a:endParaRPr lang="zh-CN" altLang="en-US"/>
          </a:p>
        </p:txBody>
      </p:sp>
      <p:pic>
        <p:nvPicPr>
          <p:cNvPr id="16" name="图片 15"/>
          <p:cNvPicPr>
            <a:picLocks noChangeAspect="1"/>
          </p:cNvPicPr>
          <p:nvPr>
            <p:custDataLst>
              <p:tags r:id="rId13"/>
            </p:custDataLst>
          </p:nvPr>
        </p:nvPicPr>
        <p:blipFill>
          <a:blip r:embed="rId14"/>
          <a:stretch>
            <a:fillRect/>
          </a:stretch>
        </p:blipFill>
        <p:spPr>
          <a:xfrm>
            <a:off x="1816100" y="4747260"/>
            <a:ext cx="3171825" cy="583565"/>
          </a:xfrm>
          <a:prstGeom prst="rect">
            <a:avLst/>
          </a:prstGeom>
        </p:spPr>
      </p:pic>
      <p:pic>
        <p:nvPicPr>
          <p:cNvPr id="17" name="图片 16"/>
          <p:cNvPicPr>
            <a:picLocks noChangeAspect="1"/>
          </p:cNvPicPr>
          <p:nvPr>
            <p:custDataLst>
              <p:tags r:id="rId15"/>
            </p:custDataLst>
          </p:nvPr>
        </p:nvPicPr>
        <p:blipFill>
          <a:blip r:embed="rId16"/>
          <a:stretch>
            <a:fillRect/>
          </a:stretch>
        </p:blipFill>
        <p:spPr>
          <a:xfrm>
            <a:off x="5264785" y="4655820"/>
            <a:ext cx="2199005" cy="842010"/>
          </a:xfrm>
          <a:prstGeom prst="rect">
            <a:avLst/>
          </a:prstGeom>
        </p:spPr>
      </p:pic>
      <p:sp>
        <p:nvSpPr>
          <p:cNvPr id="18" name="文本框 17"/>
          <p:cNvSpPr txBox="1"/>
          <p:nvPr/>
        </p:nvSpPr>
        <p:spPr>
          <a:xfrm>
            <a:off x="2246630" y="5616575"/>
            <a:ext cx="8039100" cy="460375"/>
          </a:xfrm>
          <a:prstGeom prst="rect">
            <a:avLst/>
          </a:prstGeom>
          <a:noFill/>
        </p:spPr>
        <p:txBody>
          <a:bodyPr wrap="square" rtlCol="0" anchor="t">
            <a:spAutoFit/>
          </a:bodyPr>
          <a:p>
            <a:r>
              <a:rPr lang="zh-CN" altLang="en-US" sz="2400" b="1">
                <a:solidFill>
                  <a:srgbClr val="C00000"/>
                </a:solidFill>
                <a:sym typeface="+mn-ea"/>
              </a:rPr>
              <a:t>建立长时间，大规模，</a:t>
            </a:r>
            <a:r>
              <a:rPr lang="zh-CN" altLang="en-US" sz="2400" b="1">
                <a:solidFill>
                  <a:srgbClr val="C00000"/>
                </a:solidFill>
                <a:sym typeface="+mn-ea"/>
              </a:rPr>
              <a:t>群体感应相互作用的的密度场方程</a:t>
            </a:r>
            <a:endParaRPr lang="zh-CN" altLang="en-US" sz="2400" b="1">
              <a:solidFill>
                <a:srgbClr val="C00000"/>
              </a:solidFill>
              <a:sym typeface="+mn-ea"/>
            </a:endParaRPr>
          </a:p>
        </p:txBody>
      </p:sp>
      <p:pic>
        <p:nvPicPr>
          <p:cNvPr id="19" name="图片 18"/>
          <p:cNvPicPr>
            <a:picLocks noChangeAspect="1"/>
          </p:cNvPicPr>
          <p:nvPr>
            <p:custDataLst>
              <p:tags r:id="rId17"/>
            </p:custDataLst>
          </p:nvPr>
        </p:nvPicPr>
        <p:blipFill>
          <a:blip r:embed="rId18"/>
          <a:stretch>
            <a:fillRect/>
          </a:stretch>
        </p:blipFill>
        <p:spPr>
          <a:xfrm>
            <a:off x="6873875" y="1035050"/>
            <a:ext cx="5114925" cy="1064895"/>
          </a:xfrm>
          <a:prstGeom prst="rect">
            <a:avLst/>
          </a:prstGeom>
        </p:spPr>
      </p:pic>
      <p:sp>
        <p:nvSpPr>
          <p:cNvPr id="21" name="右箭头 20"/>
          <p:cNvSpPr/>
          <p:nvPr/>
        </p:nvSpPr>
        <p:spPr>
          <a:xfrm>
            <a:off x="1520825" y="2414905"/>
            <a:ext cx="409575" cy="1422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911225" y="2891155"/>
            <a:ext cx="904875" cy="368300"/>
          </a:xfrm>
          <a:prstGeom prst="rect">
            <a:avLst/>
          </a:prstGeom>
          <a:noFill/>
        </p:spPr>
        <p:txBody>
          <a:bodyPr wrap="square" rtlCol="0">
            <a:spAutoFit/>
          </a:bodyPr>
          <a:p>
            <a:r>
              <a:rPr lang="zh-CN" altLang="en-US"/>
              <a:t>解得</a:t>
            </a:r>
            <a:endParaRPr lang="zh-CN" altLang="en-US"/>
          </a:p>
        </p:txBody>
      </p:sp>
      <p:sp>
        <p:nvSpPr>
          <p:cNvPr id="23" name="右箭头 22"/>
          <p:cNvSpPr/>
          <p:nvPr/>
        </p:nvSpPr>
        <p:spPr>
          <a:xfrm rot="6660000">
            <a:off x="6948170" y="2379980"/>
            <a:ext cx="647700" cy="3714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4557395" y="3947795"/>
            <a:ext cx="352425" cy="5334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custDataLst>
              <p:tags r:id="rId19"/>
            </p:custDataLst>
          </p:nvPr>
        </p:nvSpPr>
        <p:spPr>
          <a:xfrm>
            <a:off x="6873875" y="4744720"/>
            <a:ext cx="299720" cy="37909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custDataLst>
              <p:tags r:id="rId20"/>
            </p:custDataLst>
          </p:nvPr>
        </p:nvSpPr>
        <p:spPr>
          <a:xfrm>
            <a:off x="4392295" y="4744720"/>
            <a:ext cx="352425" cy="5334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6127750" cy="537845"/>
          </a:xfrm>
          <a:prstGeom prst="rect">
            <a:avLst/>
          </a:prstGeom>
          <a:noFill/>
        </p:spPr>
        <p:txBody>
          <a:bodyPr wrap="square" rtlCol="0">
            <a:noAutofit/>
          </a:bodyPr>
          <a:lstStyle/>
          <a:p>
            <a:r>
              <a:rPr lang="en-US" altLang="zh-CN" sz="2700" b="1" dirty="0">
                <a:solidFill>
                  <a:schemeClr val="bg1"/>
                </a:solidFill>
                <a:latin typeface="微软雅黑" panose="020B0503020204020204" pitchFamily="34" charset="-122"/>
                <a:ea typeface="微软雅黑" panose="020B0503020204020204" pitchFamily="34" charset="-122"/>
              </a:rPr>
              <a:t>1. </a:t>
            </a:r>
            <a:r>
              <a:rPr lang="zh-CN" altLang="en-US" sz="2700" b="1" dirty="0">
                <a:solidFill>
                  <a:schemeClr val="bg1"/>
                </a:solidFill>
                <a:latin typeface="微软雅黑" panose="020B0503020204020204" pitchFamily="34" charset="-122"/>
                <a:ea typeface="微软雅黑" panose="020B0503020204020204" pitchFamily="34" charset="-122"/>
              </a:rPr>
              <a:t>广义热力学</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rPr>
              <a:t>有效</a:t>
            </a:r>
            <a:r>
              <a:rPr lang="zh-CN" altLang="en-US" sz="2700" b="1" dirty="0">
                <a:solidFill>
                  <a:schemeClr val="bg1"/>
                </a:solidFill>
                <a:latin typeface="微软雅黑" panose="020B0503020204020204" pitchFamily="34" charset="-122"/>
                <a:ea typeface="微软雅黑" panose="020B0503020204020204" pitchFamily="34" charset="-122"/>
              </a:rPr>
              <a:t>自由能</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13" name="图片 12"/>
          <p:cNvPicPr>
            <a:picLocks noChangeAspect="1"/>
          </p:cNvPicPr>
          <p:nvPr>
            <p:custDataLst>
              <p:tags r:id="rId1"/>
            </p:custDataLst>
          </p:nvPr>
        </p:nvPicPr>
        <p:blipFill>
          <a:blip r:embed="rId2"/>
          <a:stretch>
            <a:fillRect/>
          </a:stretch>
        </p:blipFill>
        <p:spPr>
          <a:xfrm>
            <a:off x="2480310" y="831215"/>
            <a:ext cx="4738370" cy="487045"/>
          </a:xfrm>
          <a:prstGeom prst="rect">
            <a:avLst/>
          </a:prstGeom>
        </p:spPr>
      </p:pic>
      <p:pic>
        <p:nvPicPr>
          <p:cNvPr id="16" name="图片 15"/>
          <p:cNvPicPr>
            <a:picLocks noChangeAspect="1"/>
          </p:cNvPicPr>
          <p:nvPr>
            <p:custDataLst>
              <p:tags r:id="rId3"/>
            </p:custDataLst>
          </p:nvPr>
        </p:nvPicPr>
        <p:blipFill>
          <a:blip r:embed="rId4"/>
          <a:stretch>
            <a:fillRect/>
          </a:stretch>
        </p:blipFill>
        <p:spPr>
          <a:xfrm>
            <a:off x="2582545" y="1461770"/>
            <a:ext cx="2572385" cy="473075"/>
          </a:xfrm>
          <a:prstGeom prst="rect">
            <a:avLst/>
          </a:prstGeom>
        </p:spPr>
      </p:pic>
      <p:pic>
        <p:nvPicPr>
          <p:cNvPr id="17" name="图片 16"/>
          <p:cNvPicPr>
            <a:picLocks noChangeAspect="1"/>
          </p:cNvPicPr>
          <p:nvPr>
            <p:custDataLst>
              <p:tags r:id="rId5"/>
            </p:custDataLst>
          </p:nvPr>
        </p:nvPicPr>
        <p:blipFill>
          <a:blip r:embed="rId6"/>
          <a:stretch>
            <a:fillRect/>
          </a:stretch>
        </p:blipFill>
        <p:spPr>
          <a:xfrm>
            <a:off x="6096635" y="1251585"/>
            <a:ext cx="2338070" cy="1009650"/>
          </a:xfrm>
          <a:prstGeom prst="rect">
            <a:avLst/>
          </a:prstGeom>
        </p:spPr>
      </p:pic>
      <p:sp>
        <p:nvSpPr>
          <p:cNvPr id="5" name="文本框 4"/>
          <p:cNvSpPr txBox="1"/>
          <p:nvPr/>
        </p:nvSpPr>
        <p:spPr>
          <a:xfrm>
            <a:off x="445135" y="2098040"/>
            <a:ext cx="8556625" cy="368300"/>
          </a:xfrm>
          <a:prstGeom prst="rect">
            <a:avLst/>
          </a:prstGeom>
          <a:noFill/>
        </p:spPr>
        <p:txBody>
          <a:bodyPr wrap="square" rtlCol="0">
            <a:spAutoFit/>
          </a:bodyPr>
          <a:p>
            <a:r>
              <a:rPr lang="zh-CN" altLang="en-US"/>
              <a:t>形式上满足广义</a:t>
            </a:r>
            <a:r>
              <a:rPr lang="zh-CN"/>
              <a:t>斯托克斯</a:t>
            </a:r>
            <a:r>
              <a:rPr lang="en-US" altLang="zh-CN"/>
              <a:t>-</a:t>
            </a:r>
            <a:r>
              <a:rPr lang="zh-CN" altLang="en-US"/>
              <a:t>爱因斯坦</a:t>
            </a:r>
            <a:r>
              <a:rPr lang="zh-CN" altLang="en-US"/>
              <a:t>关系，系统的非平衡不是由于</a:t>
            </a:r>
            <a:r>
              <a:rPr lang="zh-CN" altLang="en-US"/>
              <a:t>噪声</a:t>
            </a:r>
            <a:endParaRPr lang="zh-CN" altLang="en-US"/>
          </a:p>
        </p:txBody>
      </p:sp>
      <p:sp>
        <p:nvSpPr>
          <p:cNvPr id="6" name="文本框 5"/>
          <p:cNvSpPr txBox="1"/>
          <p:nvPr/>
        </p:nvSpPr>
        <p:spPr>
          <a:xfrm>
            <a:off x="445135" y="2558415"/>
            <a:ext cx="4525645" cy="368300"/>
          </a:xfrm>
          <a:prstGeom prst="rect">
            <a:avLst/>
          </a:prstGeom>
          <a:noFill/>
        </p:spPr>
        <p:txBody>
          <a:bodyPr wrap="square" rtlCol="0">
            <a:spAutoFit/>
          </a:bodyPr>
          <a:p>
            <a:r>
              <a:rPr lang="zh-CN" altLang="en-US"/>
              <a:t>有效化学势</a:t>
            </a:r>
            <a:endParaRPr lang="zh-CN" altLang="en-US"/>
          </a:p>
        </p:txBody>
      </p:sp>
      <p:pic>
        <p:nvPicPr>
          <p:cNvPr id="7" name="图片 6"/>
          <p:cNvPicPr>
            <a:picLocks noChangeAspect="1"/>
          </p:cNvPicPr>
          <p:nvPr>
            <p:custDataLst>
              <p:tags r:id="rId7"/>
            </p:custDataLst>
          </p:nvPr>
        </p:nvPicPr>
        <p:blipFill>
          <a:blip r:embed="rId8"/>
          <a:stretch>
            <a:fillRect/>
          </a:stretch>
        </p:blipFill>
        <p:spPr>
          <a:xfrm>
            <a:off x="1827530" y="2558415"/>
            <a:ext cx="878840" cy="361950"/>
          </a:xfrm>
          <a:prstGeom prst="rect">
            <a:avLst/>
          </a:prstGeom>
        </p:spPr>
      </p:pic>
      <p:sp>
        <p:nvSpPr>
          <p:cNvPr id="8" name="文本框 7"/>
          <p:cNvSpPr txBox="1"/>
          <p:nvPr/>
        </p:nvSpPr>
        <p:spPr>
          <a:xfrm>
            <a:off x="2905125" y="2558415"/>
            <a:ext cx="8092440" cy="368300"/>
          </a:xfrm>
          <a:prstGeom prst="rect">
            <a:avLst/>
          </a:prstGeom>
          <a:noFill/>
        </p:spPr>
        <p:txBody>
          <a:bodyPr wrap="square" rtlCol="0">
            <a:spAutoFit/>
          </a:bodyPr>
          <a:p>
            <a:r>
              <a:rPr lang="zh-CN" altLang="en-US"/>
              <a:t>如果想要写成自由能泛函对密度的变分，需要满足</a:t>
            </a:r>
            <a:r>
              <a:rPr lang="zh-CN" altLang="en-US" b="1">
                <a:solidFill>
                  <a:srgbClr val="C00000"/>
                </a:solidFill>
              </a:rPr>
              <a:t>施瓦茨条件（可积性条件）</a:t>
            </a:r>
            <a:endParaRPr lang="zh-CN" altLang="en-US" b="1">
              <a:solidFill>
                <a:srgbClr val="C00000"/>
              </a:solidFill>
            </a:endParaRPr>
          </a:p>
        </p:txBody>
      </p:sp>
      <p:pic>
        <p:nvPicPr>
          <p:cNvPr id="9" name="图片 8"/>
          <p:cNvPicPr>
            <a:picLocks noChangeAspect="1"/>
          </p:cNvPicPr>
          <p:nvPr>
            <p:custDataLst>
              <p:tags r:id="rId9"/>
            </p:custDataLst>
          </p:nvPr>
        </p:nvPicPr>
        <p:blipFill>
          <a:blip r:embed="rId10"/>
          <a:stretch>
            <a:fillRect/>
          </a:stretch>
        </p:blipFill>
        <p:spPr>
          <a:xfrm>
            <a:off x="3447415" y="2992755"/>
            <a:ext cx="3991610" cy="647700"/>
          </a:xfrm>
          <a:prstGeom prst="rect">
            <a:avLst/>
          </a:prstGeom>
        </p:spPr>
      </p:pic>
      <p:pic>
        <p:nvPicPr>
          <p:cNvPr id="10" name="图片 9"/>
          <p:cNvPicPr>
            <a:picLocks noChangeAspect="1"/>
          </p:cNvPicPr>
          <p:nvPr>
            <p:custDataLst>
              <p:tags r:id="rId11"/>
            </p:custDataLst>
          </p:nvPr>
        </p:nvPicPr>
        <p:blipFill>
          <a:blip r:embed="rId12"/>
          <a:stretch>
            <a:fillRect/>
          </a:stretch>
        </p:blipFill>
        <p:spPr>
          <a:xfrm>
            <a:off x="3752850" y="3876040"/>
            <a:ext cx="2866390" cy="727710"/>
          </a:xfrm>
          <a:prstGeom prst="rect">
            <a:avLst/>
          </a:prstGeom>
        </p:spPr>
      </p:pic>
      <p:sp>
        <p:nvSpPr>
          <p:cNvPr id="11" name="文本框 10"/>
          <p:cNvSpPr txBox="1"/>
          <p:nvPr/>
        </p:nvSpPr>
        <p:spPr>
          <a:xfrm>
            <a:off x="532130" y="3598545"/>
            <a:ext cx="5467350" cy="368300"/>
          </a:xfrm>
          <a:prstGeom prst="rect">
            <a:avLst/>
          </a:prstGeom>
          <a:noFill/>
        </p:spPr>
        <p:txBody>
          <a:bodyPr wrap="square" rtlCol="0">
            <a:spAutoFit/>
          </a:bodyPr>
          <a:p>
            <a:r>
              <a:rPr lang="zh-CN" altLang="en-US"/>
              <a:t>要从积分上理解</a:t>
            </a:r>
            <a:r>
              <a:rPr lang="zh-CN" altLang="en-US"/>
              <a:t>，对任意两个函数</a:t>
            </a:r>
            <a:r>
              <a:rPr lang="en-US" altLang="zh-CN"/>
              <a:t>            </a:t>
            </a:r>
            <a:r>
              <a:rPr lang="zh-CN" altLang="en-US"/>
              <a:t>，</a:t>
            </a:r>
            <a:r>
              <a:rPr lang="zh-CN" altLang="en-US"/>
              <a:t>满足</a:t>
            </a:r>
            <a:endParaRPr lang="zh-CN" altLang="en-US"/>
          </a:p>
        </p:txBody>
      </p:sp>
      <p:pic>
        <p:nvPicPr>
          <p:cNvPr id="12" name="图片 11"/>
          <p:cNvPicPr>
            <a:picLocks noChangeAspect="1"/>
          </p:cNvPicPr>
          <p:nvPr>
            <p:custDataLst>
              <p:tags r:id="rId13"/>
            </p:custDataLst>
          </p:nvPr>
        </p:nvPicPr>
        <p:blipFill>
          <a:blip r:embed="rId14"/>
          <a:stretch>
            <a:fillRect/>
          </a:stretch>
        </p:blipFill>
        <p:spPr>
          <a:xfrm>
            <a:off x="4120515" y="3655695"/>
            <a:ext cx="415925" cy="277495"/>
          </a:xfrm>
          <a:prstGeom prst="rect">
            <a:avLst/>
          </a:prstGeom>
        </p:spPr>
      </p:pic>
      <p:sp>
        <p:nvSpPr>
          <p:cNvPr id="14" name="文本框 13"/>
          <p:cNvSpPr txBox="1"/>
          <p:nvPr/>
        </p:nvSpPr>
        <p:spPr>
          <a:xfrm>
            <a:off x="532130" y="4495800"/>
            <a:ext cx="3420110" cy="368300"/>
          </a:xfrm>
          <a:prstGeom prst="rect">
            <a:avLst/>
          </a:prstGeom>
          <a:noFill/>
        </p:spPr>
        <p:txBody>
          <a:bodyPr wrap="square" rtlCol="0">
            <a:spAutoFit/>
          </a:bodyPr>
          <a:p>
            <a:r>
              <a:rPr lang="zh-CN" altLang="en-US"/>
              <a:t>比如，有效</a:t>
            </a:r>
            <a:r>
              <a:rPr lang="zh-CN" altLang="en-US">
                <a:sym typeface="+mn-ea"/>
              </a:rPr>
              <a:t>化学势的形式</a:t>
            </a:r>
            <a:r>
              <a:rPr lang="zh-CN" altLang="en-US">
                <a:sym typeface="+mn-ea"/>
              </a:rPr>
              <a:t>是</a:t>
            </a:r>
            <a:endParaRPr lang="zh-CN" altLang="en-US">
              <a:sym typeface="+mn-ea"/>
            </a:endParaRPr>
          </a:p>
        </p:txBody>
      </p:sp>
      <p:pic>
        <p:nvPicPr>
          <p:cNvPr id="15" name="图片 14"/>
          <p:cNvPicPr>
            <a:picLocks noChangeAspect="1"/>
          </p:cNvPicPr>
          <p:nvPr>
            <p:custDataLst>
              <p:tags r:id="rId15"/>
            </p:custDataLst>
          </p:nvPr>
        </p:nvPicPr>
        <p:blipFill>
          <a:blip r:embed="rId16"/>
          <a:stretch>
            <a:fillRect/>
          </a:stretch>
        </p:blipFill>
        <p:spPr>
          <a:xfrm>
            <a:off x="3529965" y="4514850"/>
            <a:ext cx="1788160" cy="306070"/>
          </a:xfrm>
          <a:prstGeom prst="rect">
            <a:avLst/>
          </a:prstGeom>
        </p:spPr>
      </p:pic>
      <p:grpSp>
        <p:nvGrpSpPr>
          <p:cNvPr id="22" name="组合 21"/>
          <p:cNvGrpSpPr/>
          <p:nvPr/>
        </p:nvGrpSpPr>
        <p:grpSpPr>
          <a:xfrm>
            <a:off x="6481445" y="4497070"/>
            <a:ext cx="2754630" cy="387350"/>
            <a:chOff x="10858" y="7049"/>
            <a:chExt cx="4338" cy="610"/>
          </a:xfrm>
        </p:grpSpPr>
        <p:pic>
          <p:nvPicPr>
            <p:cNvPr id="18" name="图片 17"/>
            <p:cNvPicPr>
              <a:picLocks noChangeAspect="1"/>
            </p:cNvPicPr>
            <p:nvPr>
              <p:custDataLst>
                <p:tags r:id="rId17"/>
              </p:custDataLst>
            </p:nvPr>
          </p:nvPicPr>
          <p:blipFill>
            <a:blip r:embed="rId18"/>
            <a:stretch>
              <a:fillRect/>
            </a:stretch>
          </p:blipFill>
          <p:spPr>
            <a:xfrm>
              <a:off x="10858" y="7082"/>
              <a:ext cx="1530" cy="485"/>
            </a:xfrm>
            <a:prstGeom prst="rect">
              <a:avLst/>
            </a:prstGeom>
          </p:spPr>
        </p:pic>
        <p:pic>
          <p:nvPicPr>
            <p:cNvPr id="19" name="图片 18"/>
            <p:cNvPicPr>
              <a:picLocks noChangeAspect="1"/>
            </p:cNvPicPr>
            <p:nvPr>
              <p:custDataLst>
                <p:tags r:id="rId19"/>
              </p:custDataLst>
            </p:nvPr>
          </p:nvPicPr>
          <p:blipFill>
            <a:blip r:embed="rId20"/>
            <a:stretch>
              <a:fillRect/>
            </a:stretch>
          </p:blipFill>
          <p:spPr>
            <a:xfrm>
              <a:off x="12388" y="7049"/>
              <a:ext cx="2808" cy="611"/>
            </a:xfrm>
            <a:prstGeom prst="rect">
              <a:avLst/>
            </a:prstGeom>
          </p:spPr>
        </p:pic>
      </p:grpSp>
      <p:pic>
        <p:nvPicPr>
          <p:cNvPr id="20" name="图片 19"/>
          <p:cNvPicPr>
            <a:picLocks noChangeAspect="1"/>
          </p:cNvPicPr>
          <p:nvPr>
            <p:custDataLst>
              <p:tags r:id="rId21"/>
            </p:custDataLst>
          </p:nvPr>
        </p:nvPicPr>
        <p:blipFill>
          <a:blip r:embed="rId22"/>
          <a:stretch>
            <a:fillRect/>
          </a:stretch>
        </p:blipFill>
        <p:spPr>
          <a:xfrm>
            <a:off x="2582545" y="4989830"/>
            <a:ext cx="6538595" cy="617220"/>
          </a:xfrm>
          <a:prstGeom prst="rect">
            <a:avLst/>
          </a:prstGeom>
        </p:spPr>
      </p:pic>
      <p:sp>
        <p:nvSpPr>
          <p:cNvPr id="21" name="文本框 20"/>
          <p:cNvSpPr txBox="1"/>
          <p:nvPr>
            <p:custDataLst>
              <p:tags r:id="rId23"/>
            </p:custDataLst>
          </p:nvPr>
        </p:nvSpPr>
        <p:spPr>
          <a:xfrm>
            <a:off x="358775" y="894080"/>
            <a:ext cx="2044700" cy="368300"/>
          </a:xfrm>
          <a:prstGeom prst="rect">
            <a:avLst/>
          </a:prstGeom>
          <a:noFill/>
        </p:spPr>
        <p:txBody>
          <a:bodyPr wrap="square" rtlCol="0">
            <a:spAutoFit/>
          </a:bodyPr>
          <a:p>
            <a:r>
              <a:rPr lang="zh-CN" altLang="en-US"/>
              <a:t>密度场</a:t>
            </a:r>
            <a:r>
              <a:rPr lang="zh-CN" altLang="en-US"/>
              <a:t>方程</a:t>
            </a:r>
            <a:endParaRPr lang="zh-CN" altLang="en-US"/>
          </a:p>
        </p:txBody>
      </p:sp>
      <p:sp>
        <p:nvSpPr>
          <p:cNvPr id="23" name="文本框 22"/>
          <p:cNvSpPr txBox="1"/>
          <p:nvPr/>
        </p:nvSpPr>
        <p:spPr>
          <a:xfrm>
            <a:off x="5709920" y="4490720"/>
            <a:ext cx="771525" cy="368300"/>
          </a:xfrm>
          <a:prstGeom prst="rect">
            <a:avLst/>
          </a:prstGeom>
          <a:noFill/>
        </p:spPr>
        <p:txBody>
          <a:bodyPr wrap="square" rtlCol="0">
            <a:spAutoFit/>
          </a:bodyPr>
          <a:p>
            <a:r>
              <a:rPr lang="zh-CN" altLang="en-US"/>
              <a:t>那么</a:t>
            </a:r>
            <a:endParaRPr lang="zh-CN" altLang="en-US"/>
          </a:p>
        </p:txBody>
      </p:sp>
      <p:sp>
        <p:nvSpPr>
          <p:cNvPr id="24" name="文本框 23"/>
          <p:cNvSpPr txBox="1"/>
          <p:nvPr/>
        </p:nvSpPr>
        <p:spPr>
          <a:xfrm>
            <a:off x="604520" y="5719445"/>
            <a:ext cx="4952365" cy="368300"/>
          </a:xfrm>
          <a:prstGeom prst="rect">
            <a:avLst/>
          </a:prstGeom>
          <a:noFill/>
        </p:spPr>
        <p:txBody>
          <a:bodyPr wrap="square" rtlCol="0">
            <a:spAutoFit/>
          </a:bodyPr>
          <a:p>
            <a:r>
              <a:rPr lang="en-US" altLang="zh-CN"/>
              <a:t>k</a:t>
            </a:r>
            <a:r>
              <a:rPr lang="zh-CN" altLang="en-US"/>
              <a:t>为偶，满足</a:t>
            </a:r>
            <a:r>
              <a:rPr lang="zh-CN" altLang="en-US"/>
              <a:t>可积性条件</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5052060"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sym typeface="+mn-ea"/>
              </a:rPr>
              <a:t>广义热力学</a:t>
            </a:r>
            <a:r>
              <a:rPr lang="en-US" altLang="zh-CN" sz="2700" b="1" dirty="0">
                <a:solidFill>
                  <a:schemeClr val="bg1"/>
                </a:solidFill>
                <a:latin typeface="微软雅黑" panose="020B0503020204020204" pitchFamily="34" charset="-122"/>
                <a:ea typeface="微软雅黑" panose="020B0503020204020204" pitchFamily="34" charset="-122"/>
                <a:sym typeface="+mn-ea"/>
              </a:rPr>
              <a:t>-</a:t>
            </a:r>
            <a:r>
              <a:rPr lang="zh-CN" altLang="en-US" sz="2700" b="1" dirty="0">
                <a:solidFill>
                  <a:schemeClr val="bg1"/>
                </a:solidFill>
                <a:latin typeface="微软雅黑" panose="020B0503020204020204" pitchFamily="34" charset="-122"/>
                <a:ea typeface="微软雅黑" panose="020B0503020204020204" pitchFamily="34" charset="-122"/>
                <a:sym typeface="+mn-ea"/>
              </a:rPr>
              <a:t>信号场做</a:t>
            </a:r>
            <a:r>
              <a:rPr lang="zh-CN" altLang="en-US" sz="2700" b="1" dirty="0">
                <a:solidFill>
                  <a:schemeClr val="bg1"/>
                </a:solidFill>
                <a:latin typeface="微软雅黑" panose="020B0503020204020204" pitchFamily="34" charset="-122"/>
                <a:ea typeface="微软雅黑" panose="020B0503020204020204" pitchFamily="34" charset="-122"/>
                <a:sym typeface="+mn-ea"/>
              </a:rPr>
              <a:t>梯度展开</a:t>
            </a:r>
            <a:endParaRPr lang="zh-CN" altLang="en-US" sz="2700" b="1" dirty="0">
              <a:solidFill>
                <a:schemeClr val="bg1"/>
              </a:solidFill>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5" name="图片 4"/>
          <p:cNvPicPr>
            <a:picLocks noChangeAspect="1"/>
          </p:cNvPicPr>
          <p:nvPr>
            <p:custDataLst>
              <p:tags r:id="rId1"/>
            </p:custDataLst>
          </p:nvPr>
        </p:nvPicPr>
        <p:blipFill>
          <a:blip r:embed="rId2"/>
          <a:stretch>
            <a:fillRect/>
          </a:stretch>
        </p:blipFill>
        <p:spPr>
          <a:xfrm>
            <a:off x="596265" y="791845"/>
            <a:ext cx="768985" cy="361950"/>
          </a:xfrm>
          <a:prstGeom prst="rect">
            <a:avLst/>
          </a:prstGeom>
        </p:spPr>
      </p:pic>
      <p:sp>
        <p:nvSpPr>
          <p:cNvPr id="6" name="文本框 5"/>
          <p:cNvSpPr txBox="1"/>
          <p:nvPr/>
        </p:nvSpPr>
        <p:spPr>
          <a:xfrm>
            <a:off x="1365250" y="786130"/>
            <a:ext cx="5097145" cy="368300"/>
          </a:xfrm>
          <a:prstGeom prst="rect">
            <a:avLst/>
          </a:prstGeom>
          <a:noFill/>
        </p:spPr>
        <p:txBody>
          <a:bodyPr wrap="square" rtlCol="0">
            <a:spAutoFit/>
          </a:bodyPr>
          <a:p>
            <a:r>
              <a:rPr lang="zh-CN" altLang="en-US"/>
              <a:t>取决于密度场释放出的信号</a:t>
            </a:r>
            <a:endParaRPr lang="zh-CN" altLang="en-US"/>
          </a:p>
        </p:txBody>
      </p:sp>
      <p:pic>
        <p:nvPicPr>
          <p:cNvPr id="7" name="图片 6"/>
          <p:cNvPicPr>
            <a:picLocks noChangeAspect="1"/>
          </p:cNvPicPr>
          <p:nvPr>
            <p:custDataLst>
              <p:tags r:id="rId3"/>
            </p:custDataLst>
          </p:nvPr>
        </p:nvPicPr>
        <p:blipFill>
          <a:blip r:embed="rId4"/>
          <a:stretch>
            <a:fillRect/>
          </a:stretch>
        </p:blipFill>
        <p:spPr>
          <a:xfrm>
            <a:off x="1223645" y="1435735"/>
            <a:ext cx="2019935" cy="511810"/>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4163060" y="1480185"/>
            <a:ext cx="2610485" cy="467360"/>
          </a:xfrm>
          <a:prstGeom prst="rect">
            <a:avLst/>
          </a:prstGeom>
        </p:spPr>
      </p:pic>
      <p:sp>
        <p:nvSpPr>
          <p:cNvPr id="9" name="文本框 8"/>
          <p:cNvSpPr txBox="1"/>
          <p:nvPr/>
        </p:nvSpPr>
        <p:spPr>
          <a:xfrm>
            <a:off x="3585210" y="1507490"/>
            <a:ext cx="1036955" cy="368300"/>
          </a:xfrm>
          <a:prstGeom prst="rect">
            <a:avLst/>
          </a:prstGeom>
          <a:noFill/>
        </p:spPr>
        <p:txBody>
          <a:bodyPr wrap="square" rtlCol="0">
            <a:spAutoFit/>
          </a:bodyPr>
          <a:p>
            <a:r>
              <a:rPr lang="zh-CN" altLang="en-US"/>
              <a:t>其中</a:t>
            </a:r>
            <a:endParaRPr lang="zh-CN" altLang="en-US"/>
          </a:p>
        </p:txBody>
      </p:sp>
      <p:pic>
        <p:nvPicPr>
          <p:cNvPr id="12" name="图片 11"/>
          <p:cNvPicPr>
            <a:picLocks noChangeAspect="1"/>
          </p:cNvPicPr>
          <p:nvPr>
            <p:custDataLst>
              <p:tags r:id="rId7"/>
            </p:custDataLst>
          </p:nvPr>
        </p:nvPicPr>
        <p:blipFill>
          <a:blip r:embed="rId8"/>
          <a:stretch>
            <a:fillRect/>
          </a:stretch>
        </p:blipFill>
        <p:spPr>
          <a:xfrm>
            <a:off x="9577070" y="786130"/>
            <a:ext cx="1986280" cy="643255"/>
          </a:xfrm>
          <a:prstGeom prst="rect">
            <a:avLst/>
          </a:prstGeom>
        </p:spPr>
      </p:pic>
      <p:sp>
        <p:nvSpPr>
          <p:cNvPr id="10" name="文本框 9"/>
          <p:cNvSpPr txBox="1"/>
          <p:nvPr/>
        </p:nvSpPr>
        <p:spPr>
          <a:xfrm>
            <a:off x="522605" y="2134870"/>
            <a:ext cx="3304540" cy="368300"/>
          </a:xfrm>
          <a:prstGeom prst="rect">
            <a:avLst/>
          </a:prstGeom>
          <a:noFill/>
        </p:spPr>
        <p:txBody>
          <a:bodyPr wrap="square" rtlCol="0">
            <a:spAutoFit/>
          </a:bodyPr>
          <a:p>
            <a:r>
              <a:rPr lang="en-US" altLang="zh-CN"/>
              <a:t>            </a:t>
            </a:r>
            <a:r>
              <a:rPr lang="zh-CN" altLang="en-US"/>
              <a:t>各向同性</a:t>
            </a:r>
            <a:endParaRPr lang="zh-CN" altLang="en-US"/>
          </a:p>
        </p:txBody>
      </p:sp>
      <p:pic>
        <p:nvPicPr>
          <p:cNvPr id="11" name="图片 10"/>
          <p:cNvPicPr>
            <a:picLocks noChangeAspect="1"/>
          </p:cNvPicPr>
          <p:nvPr>
            <p:custDataLst>
              <p:tags r:id="rId9"/>
            </p:custDataLst>
          </p:nvPr>
        </p:nvPicPr>
        <p:blipFill>
          <a:blip r:embed="rId10"/>
          <a:stretch>
            <a:fillRect/>
          </a:stretch>
        </p:blipFill>
        <p:spPr>
          <a:xfrm>
            <a:off x="694690" y="2219325"/>
            <a:ext cx="445770" cy="281940"/>
          </a:xfrm>
          <a:prstGeom prst="rect">
            <a:avLst/>
          </a:prstGeom>
        </p:spPr>
      </p:pic>
      <p:pic>
        <p:nvPicPr>
          <p:cNvPr id="13" name="图片 12"/>
          <p:cNvPicPr>
            <a:picLocks noChangeAspect="1"/>
          </p:cNvPicPr>
          <p:nvPr>
            <p:custDataLst>
              <p:tags r:id="rId11"/>
            </p:custDataLst>
          </p:nvPr>
        </p:nvPicPr>
        <p:blipFill>
          <a:blip r:embed="rId12"/>
          <a:stretch>
            <a:fillRect/>
          </a:stretch>
        </p:blipFill>
        <p:spPr>
          <a:xfrm>
            <a:off x="3438525" y="2175510"/>
            <a:ext cx="1647825" cy="304800"/>
          </a:xfrm>
          <a:prstGeom prst="rect">
            <a:avLst/>
          </a:prstGeom>
        </p:spPr>
      </p:pic>
      <p:pic>
        <p:nvPicPr>
          <p:cNvPr id="14" name="图片 13"/>
          <p:cNvPicPr>
            <a:picLocks noChangeAspect="1"/>
          </p:cNvPicPr>
          <p:nvPr>
            <p:custDataLst>
              <p:tags r:id="rId13"/>
            </p:custDataLst>
          </p:nvPr>
        </p:nvPicPr>
        <p:blipFill>
          <a:blip r:embed="rId14"/>
          <a:stretch>
            <a:fillRect/>
          </a:stretch>
        </p:blipFill>
        <p:spPr>
          <a:xfrm>
            <a:off x="5579110" y="2149475"/>
            <a:ext cx="2430145" cy="366395"/>
          </a:xfrm>
          <a:prstGeom prst="rect">
            <a:avLst/>
          </a:prstGeom>
        </p:spPr>
      </p:pic>
      <p:pic>
        <p:nvPicPr>
          <p:cNvPr id="15" name="图片 14"/>
          <p:cNvPicPr>
            <a:picLocks noChangeAspect="1"/>
          </p:cNvPicPr>
          <p:nvPr>
            <p:custDataLst>
              <p:tags r:id="rId15"/>
            </p:custDataLst>
          </p:nvPr>
        </p:nvPicPr>
        <p:blipFill>
          <a:blip r:embed="rId16"/>
          <a:stretch>
            <a:fillRect/>
          </a:stretch>
        </p:blipFill>
        <p:spPr>
          <a:xfrm>
            <a:off x="8586470" y="2083435"/>
            <a:ext cx="1562100" cy="419735"/>
          </a:xfrm>
          <a:prstGeom prst="rect">
            <a:avLst/>
          </a:prstGeom>
        </p:spPr>
      </p:pic>
      <p:pic>
        <p:nvPicPr>
          <p:cNvPr id="16" name="图片 15"/>
          <p:cNvPicPr>
            <a:picLocks noChangeAspect="1"/>
          </p:cNvPicPr>
          <p:nvPr>
            <p:custDataLst>
              <p:tags r:id="rId17"/>
            </p:custDataLst>
          </p:nvPr>
        </p:nvPicPr>
        <p:blipFill>
          <a:blip r:embed="rId18"/>
          <a:stretch>
            <a:fillRect/>
          </a:stretch>
        </p:blipFill>
        <p:spPr>
          <a:xfrm>
            <a:off x="2432050" y="3305810"/>
            <a:ext cx="5195570" cy="626745"/>
          </a:xfrm>
          <a:prstGeom prst="rect">
            <a:avLst/>
          </a:prstGeom>
        </p:spPr>
      </p:pic>
      <p:sp>
        <p:nvSpPr>
          <p:cNvPr id="20" name="文本框 19"/>
          <p:cNvSpPr txBox="1"/>
          <p:nvPr/>
        </p:nvSpPr>
        <p:spPr>
          <a:xfrm>
            <a:off x="596265" y="2795270"/>
            <a:ext cx="2752090" cy="233045"/>
          </a:xfrm>
          <a:prstGeom prst="rect">
            <a:avLst/>
          </a:prstGeom>
          <a:noFill/>
        </p:spPr>
        <p:txBody>
          <a:bodyPr wrap="square" rtlCol="0">
            <a:noAutofit/>
          </a:bodyPr>
          <a:p>
            <a:r>
              <a:rPr lang="zh-CN" altLang="en-US"/>
              <a:t>在</a:t>
            </a:r>
            <a:r>
              <a:rPr lang="en-US" altLang="zh-CN"/>
              <a:t>            </a:t>
            </a:r>
            <a:r>
              <a:rPr lang="zh-CN" altLang="en-US"/>
              <a:t>附近做</a:t>
            </a:r>
            <a:r>
              <a:rPr lang="zh-CN" altLang="en-US"/>
              <a:t>展开</a:t>
            </a:r>
            <a:endParaRPr lang="zh-CN" altLang="en-US"/>
          </a:p>
        </p:txBody>
      </p:sp>
      <p:pic>
        <p:nvPicPr>
          <p:cNvPr id="21" name="图片 20"/>
          <p:cNvPicPr>
            <a:picLocks noChangeAspect="1"/>
          </p:cNvPicPr>
          <p:nvPr>
            <p:custDataLst>
              <p:tags r:id="rId19"/>
            </p:custDataLst>
          </p:nvPr>
        </p:nvPicPr>
        <p:blipFill>
          <a:blip r:embed="rId20"/>
          <a:stretch>
            <a:fillRect/>
          </a:stretch>
        </p:blipFill>
        <p:spPr>
          <a:xfrm>
            <a:off x="992505" y="2844165"/>
            <a:ext cx="498475" cy="319405"/>
          </a:xfrm>
          <a:prstGeom prst="rect">
            <a:avLst/>
          </a:prstGeom>
        </p:spPr>
      </p:pic>
      <p:pic>
        <p:nvPicPr>
          <p:cNvPr id="22" name="图片 21"/>
          <p:cNvPicPr>
            <a:picLocks noChangeAspect="1"/>
          </p:cNvPicPr>
          <p:nvPr>
            <p:custDataLst>
              <p:tags r:id="rId21"/>
            </p:custDataLst>
          </p:nvPr>
        </p:nvPicPr>
        <p:blipFill>
          <a:blip r:embed="rId22"/>
          <a:stretch>
            <a:fillRect/>
          </a:stretch>
        </p:blipFill>
        <p:spPr>
          <a:xfrm>
            <a:off x="1626870" y="4132580"/>
            <a:ext cx="1214120" cy="339725"/>
          </a:xfrm>
          <a:prstGeom prst="rect">
            <a:avLst/>
          </a:prstGeom>
        </p:spPr>
      </p:pic>
      <p:sp>
        <p:nvSpPr>
          <p:cNvPr id="23" name="文本框 22"/>
          <p:cNvSpPr txBox="1"/>
          <p:nvPr/>
        </p:nvSpPr>
        <p:spPr>
          <a:xfrm>
            <a:off x="844550" y="4132580"/>
            <a:ext cx="794385" cy="368300"/>
          </a:xfrm>
          <a:prstGeom prst="rect">
            <a:avLst/>
          </a:prstGeom>
          <a:noFill/>
        </p:spPr>
        <p:txBody>
          <a:bodyPr wrap="square" rtlCol="0">
            <a:spAutoFit/>
          </a:bodyPr>
          <a:p>
            <a:r>
              <a:rPr lang="zh-CN" altLang="en-US"/>
              <a:t>其中</a:t>
            </a:r>
            <a:endParaRPr lang="zh-CN" altLang="en-US"/>
          </a:p>
        </p:txBody>
      </p:sp>
      <p:pic>
        <p:nvPicPr>
          <p:cNvPr id="24" name="图片 23"/>
          <p:cNvPicPr>
            <a:picLocks noChangeAspect="1"/>
          </p:cNvPicPr>
          <p:nvPr>
            <p:custDataLst>
              <p:tags r:id="rId23"/>
            </p:custDataLst>
          </p:nvPr>
        </p:nvPicPr>
        <p:blipFill>
          <a:blip r:embed="rId24"/>
          <a:stretch>
            <a:fillRect/>
          </a:stretch>
        </p:blipFill>
        <p:spPr>
          <a:xfrm>
            <a:off x="2432050" y="4584065"/>
            <a:ext cx="2552065" cy="600710"/>
          </a:xfrm>
          <a:prstGeom prst="rect">
            <a:avLst/>
          </a:prstGeom>
        </p:spPr>
      </p:pic>
      <p:pic>
        <p:nvPicPr>
          <p:cNvPr id="26" name="图片 25"/>
          <p:cNvPicPr>
            <a:picLocks noChangeAspect="1"/>
          </p:cNvPicPr>
          <p:nvPr>
            <p:custDataLst>
              <p:tags r:id="rId25"/>
            </p:custDataLst>
          </p:nvPr>
        </p:nvPicPr>
        <p:blipFill>
          <a:blip r:embed="rId26"/>
          <a:stretch>
            <a:fillRect/>
          </a:stretch>
        </p:blipFill>
        <p:spPr>
          <a:xfrm>
            <a:off x="6744970" y="1379855"/>
            <a:ext cx="2613025" cy="644525"/>
          </a:xfrm>
          <a:prstGeom prst="rect">
            <a:avLst/>
          </a:prstGeom>
        </p:spPr>
      </p:pic>
      <p:sp>
        <p:nvSpPr>
          <p:cNvPr id="27" name="文本框 26"/>
          <p:cNvSpPr txBox="1"/>
          <p:nvPr/>
        </p:nvSpPr>
        <p:spPr>
          <a:xfrm>
            <a:off x="3003550" y="4111625"/>
            <a:ext cx="2277745" cy="368300"/>
          </a:xfrm>
          <a:prstGeom prst="rect">
            <a:avLst/>
          </a:prstGeom>
          <a:noFill/>
        </p:spPr>
        <p:txBody>
          <a:bodyPr wrap="square" rtlCol="0">
            <a:spAutoFit/>
          </a:bodyPr>
          <a:p>
            <a:r>
              <a:rPr lang="zh-CN" altLang="en-US"/>
              <a:t>，</a:t>
            </a:r>
            <a:r>
              <a:rPr lang="zh-CN" altLang="en-US"/>
              <a:t>得到</a:t>
            </a:r>
            <a:endParaRPr lang="zh-CN" altLang="en-US"/>
          </a:p>
        </p:txBody>
      </p:sp>
      <p:sp>
        <p:nvSpPr>
          <p:cNvPr id="17" name="文本框 16"/>
          <p:cNvSpPr txBox="1"/>
          <p:nvPr/>
        </p:nvSpPr>
        <p:spPr>
          <a:xfrm>
            <a:off x="522605" y="1507490"/>
            <a:ext cx="790575" cy="368300"/>
          </a:xfrm>
          <a:prstGeom prst="rect">
            <a:avLst/>
          </a:prstGeom>
          <a:noFill/>
        </p:spPr>
        <p:txBody>
          <a:bodyPr wrap="square" rtlCol="0">
            <a:spAutoFit/>
          </a:bodyPr>
          <a:p>
            <a:r>
              <a:rPr lang="zh-CN" altLang="en-US"/>
              <a:t>得到</a:t>
            </a:r>
            <a:endParaRPr lang="zh-CN" altLang="en-US"/>
          </a:p>
        </p:txBody>
      </p:sp>
      <p:sp>
        <p:nvSpPr>
          <p:cNvPr id="18" name="文本框 17"/>
          <p:cNvSpPr txBox="1"/>
          <p:nvPr>
            <p:custDataLst>
              <p:tags r:id="rId27"/>
            </p:custDataLst>
          </p:nvPr>
        </p:nvSpPr>
        <p:spPr>
          <a:xfrm>
            <a:off x="2557780" y="2149475"/>
            <a:ext cx="790575" cy="368300"/>
          </a:xfrm>
          <a:prstGeom prst="rect">
            <a:avLst/>
          </a:prstGeom>
          <a:noFill/>
        </p:spPr>
        <p:txBody>
          <a:bodyPr wrap="square" rtlCol="0">
            <a:spAutoFit/>
          </a:bodyPr>
          <a:p>
            <a:r>
              <a:rPr lang="zh-CN" altLang="en-US"/>
              <a:t>得到</a:t>
            </a:r>
            <a:endParaRPr lang="zh-CN" altLang="en-US"/>
          </a:p>
        </p:txBody>
      </p:sp>
      <p:sp>
        <p:nvSpPr>
          <p:cNvPr id="19" name="文本框 18"/>
          <p:cNvSpPr txBox="1"/>
          <p:nvPr/>
        </p:nvSpPr>
        <p:spPr>
          <a:xfrm>
            <a:off x="5281295" y="2147570"/>
            <a:ext cx="247650" cy="368300"/>
          </a:xfrm>
          <a:prstGeom prst="rect">
            <a:avLst/>
          </a:prstGeom>
          <a:noFill/>
        </p:spPr>
        <p:txBody>
          <a:bodyPr wrap="square" rtlCol="0">
            <a:spAutoFit/>
          </a:bodyPr>
          <a:p>
            <a:r>
              <a:rPr lang="en-US" altLang="zh-CN"/>
              <a:t>;</a:t>
            </a:r>
            <a:endParaRPr lang="en-US" altLang="zh-CN"/>
          </a:p>
        </p:txBody>
      </p:sp>
      <p:sp>
        <p:nvSpPr>
          <p:cNvPr id="25" name="文本框 24"/>
          <p:cNvSpPr txBox="1"/>
          <p:nvPr/>
        </p:nvSpPr>
        <p:spPr>
          <a:xfrm>
            <a:off x="8205470" y="2214245"/>
            <a:ext cx="381000" cy="368300"/>
          </a:xfrm>
          <a:prstGeom prst="rect">
            <a:avLst/>
          </a:prstGeom>
          <a:noFill/>
        </p:spPr>
        <p:txBody>
          <a:bodyPr wrap="square" rtlCol="0">
            <a:spAutoFit/>
          </a:bodyPr>
          <a:p>
            <a:r>
              <a:rPr lang="en-US" altLang="zh-CN"/>
              <a:t>,</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rPr>
              <a:t>零级近似</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sym typeface="+mn-ea"/>
              </a:rPr>
              <a:t>局部近似</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17" name="图片 16"/>
          <p:cNvPicPr>
            <a:picLocks noChangeAspect="1"/>
          </p:cNvPicPr>
          <p:nvPr>
            <p:custDataLst>
              <p:tags r:id="rId1"/>
            </p:custDataLst>
          </p:nvPr>
        </p:nvPicPr>
        <p:blipFill>
          <a:blip r:embed="rId2"/>
          <a:stretch>
            <a:fillRect/>
          </a:stretch>
        </p:blipFill>
        <p:spPr>
          <a:xfrm>
            <a:off x="2955925" y="875030"/>
            <a:ext cx="1264285" cy="323850"/>
          </a:xfrm>
          <a:prstGeom prst="rect">
            <a:avLst/>
          </a:prstGeom>
        </p:spPr>
      </p:pic>
      <p:sp>
        <p:nvSpPr>
          <p:cNvPr id="25" name="文本框 24"/>
          <p:cNvSpPr txBox="1"/>
          <p:nvPr/>
        </p:nvSpPr>
        <p:spPr>
          <a:xfrm>
            <a:off x="474345" y="875030"/>
            <a:ext cx="3414395" cy="368300"/>
          </a:xfrm>
          <a:prstGeom prst="rect">
            <a:avLst/>
          </a:prstGeom>
          <a:noFill/>
        </p:spPr>
        <p:txBody>
          <a:bodyPr wrap="square" rtlCol="0">
            <a:spAutoFit/>
          </a:bodyPr>
          <a:p>
            <a:r>
              <a:rPr lang="zh-CN" altLang="en-US"/>
              <a:t>取梯度</a:t>
            </a:r>
            <a:r>
              <a:rPr lang="zh-CN" altLang="en-US"/>
              <a:t>展开零级</a:t>
            </a:r>
            <a:r>
              <a:rPr lang="zh-CN" altLang="en-US"/>
              <a:t>近似</a:t>
            </a:r>
            <a:endParaRPr lang="zh-CN" altLang="en-US"/>
          </a:p>
        </p:txBody>
      </p:sp>
      <p:pic>
        <p:nvPicPr>
          <p:cNvPr id="30" name="图片 29"/>
          <p:cNvPicPr>
            <a:picLocks noChangeAspect="1"/>
          </p:cNvPicPr>
          <p:nvPr>
            <p:custDataLst>
              <p:tags r:id="rId3"/>
            </p:custDataLst>
          </p:nvPr>
        </p:nvPicPr>
        <p:blipFill>
          <a:blip r:embed="rId4"/>
          <a:stretch>
            <a:fillRect/>
          </a:stretch>
        </p:blipFill>
        <p:spPr>
          <a:xfrm>
            <a:off x="659130" y="1530350"/>
            <a:ext cx="893445" cy="327660"/>
          </a:xfrm>
          <a:prstGeom prst="rect">
            <a:avLst/>
          </a:prstGeom>
        </p:spPr>
      </p:pic>
      <p:sp>
        <p:nvSpPr>
          <p:cNvPr id="31" name="文本框 30"/>
          <p:cNvSpPr txBox="1"/>
          <p:nvPr/>
        </p:nvSpPr>
        <p:spPr>
          <a:xfrm>
            <a:off x="1629410" y="1535430"/>
            <a:ext cx="7927340" cy="368300"/>
          </a:xfrm>
          <a:prstGeom prst="rect">
            <a:avLst/>
          </a:prstGeom>
          <a:noFill/>
        </p:spPr>
        <p:txBody>
          <a:bodyPr wrap="square" rtlCol="0">
            <a:spAutoFit/>
          </a:bodyPr>
          <a:p>
            <a:r>
              <a:rPr lang="zh-CN" altLang="en-US"/>
              <a:t>不再是密度场的泛函，仅和局部密度</a:t>
            </a:r>
            <a:r>
              <a:rPr lang="en-US" altLang="zh-CN"/>
              <a:t>           </a:t>
            </a:r>
            <a:r>
              <a:rPr lang="zh-CN" altLang="en-US"/>
              <a:t>有关</a:t>
            </a:r>
            <a:endParaRPr lang="zh-CN" altLang="en-US"/>
          </a:p>
        </p:txBody>
      </p:sp>
      <p:pic>
        <p:nvPicPr>
          <p:cNvPr id="32" name="图片 31"/>
          <p:cNvPicPr>
            <a:picLocks noChangeAspect="1"/>
          </p:cNvPicPr>
          <p:nvPr>
            <p:custDataLst>
              <p:tags r:id="rId5"/>
            </p:custDataLst>
          </p:nvPr>
        </p:nvPicPr>
        <p:blipFill>
          <a:blip r:embed="rId6"/>
          <a:stretch>
            <a:fillRect/>
          </a:stretch>
        </p:blipFill>
        <p:spPr>
          <a:xfrm>
            <a:off x="5440680" y="1574165"/>
            <a:ext cx="431165" cy="276225"/>
          </a:xfrm>
          <a:prstGeom prst="rect">
            <a:avLst/>
          </a:prstGeom>
        </p:spPr>
      </p:pic>
      <p:pic>
        <p:nvPicPr>
          <p:cNvPr id="37" name="图片 36"/>
          <p:cNvPicPr>
            <a:picLocks noChangeAspect="1"/>
          </p:cNvPicPr>
          <p:nvPr>
            <p:custDataLst>
              <p:tags r:id="rId7"/>
            </p:custDataLst>
          </p:nvPr>
        </p:nvPicPr>
        <p:blipFill>
          <a:blip r:embed="rId8"/>
          <a:stretch>
            <a:fillRect/>
          </a:stretch>
        </p:blipFill>
        <p:spPr>
          <a:xfrm>
            <a:off x="2955925" y="2044700"/>
            <a:ext cx="2485390" cy="352425"/>
          </a:xfrm>
          <a:prstGeom prst="rect">
            <a:avLst/>
          </a:prstGeom>
        </p:spPr>
      </p:pic>
      <p:sp>
        <p:nvSpPr>
          <p:cNvPr id="38" name="文本框 37"/>
          <p:cNvSpPr txBox="1"/>
          <p:nvPr/>
        </p:nvSpPr>
        <p:spPr>
          <a:xfrm>
            <a:off x="638810" y="2506345"/>
            <a:ext cx="2820035" cy="368300"/>
          </a:xfrm>
          <a:prstGeom prst="rect">
            <a:avLst/>
          </a:prstGeom>
          <a:noFill/>
        </p:spPr>
        <p:txBody>
          <a:bodyPr wrap="square" rtlCol="0">
            <a:spAutoFit/>
          </a:bodyPr>
          <a:p>
            <a:r>
              <a:rPr lang="zh-CN" altLang="en-US"/>
              <a:t>检查是否</a:t>
            </a:r>
            <a:r>
              <a:rPr lang="zh-CN" altLang="en-US"/>
              <a:t>满足可积性</a:t>
            </a:r>
            <a:r>
              <a:rPr lang="zh-CN" altLang="en-US"/>
              <a:t>条件</a:t>
            </a:r>
            <a:endParaRPr lang="zh-CN" altLang="en-US"/>
          </a:p>
        </p:txBody>
      </p:sp>
      <p:pic>
        <p:nvPicPr>
          <p:cNvPr id="39" name="图片 38"/>
          <p:cNvPicPr>
            <a:picLocks noChangeAspect="1"/>
          </p:cNvPicPr>
          <p:nvPr>
            <p:custDataLst>
              <p:tags r:id="rId9"/>
            </p:custDataLst>
          </p:nvPr>
        </p:nvPicPr>
        <p:blipFill>
          <a:blip r:embed="rId10"/>
          <a:stretch>
            <a:fillRect/>
          </a:stretch>
        </p:blipFill>
        <p:spPr>
          <a:xfrm>
            <a:off x="2096135" y="2964815"/>
            <a:ext cx="6861175" cy="669925"/>
          </a:xfrm>
          <a:prstGeom prst="rect">
            <a:avLst/>
          </a:prstGeom>
        </p:spPr>
      </p:pic>
      <p:sp>
        <p:nvSpPr>
          <p:cNvPr id="40" name="文本框 39"/>
          <p:cNvSpPr txBox="1"/>
          <p:nvPr/>
        </p:nvSpPr>
        <p:spPr>
          <a:xfrm>
            <a:off x="714375" y="4314825"/>
            <a:ext cx="2241550" cy="368300"/>
          </a:xfrm>
          <a:prstGeom prst="rect">
            <a:avLst/>
          </a:prstGeom>
          <a:noFill/>
        </p:spPr>
        <p:txBody>
          <a:bodyPr wrap="square" rtlCol="0">
            <a:spAutoFit/>
          </a:bodyPr>
          <a:p>
            <a:r>
              <a:rPr lang="zh-CN" altLang="en-US"/>
              <a:t>可写出</a:t>
            </a:r>
            <a:r>
              <a:rPr lang="zh-CN" altLang="en-US"/>
              <a:t>有效自由能</a:t>
            </a:r>
            <a:endParaRPr lang="zh-CN" altLang="en-US"/>
          </a:p>
        </p:txBody>
      </p:sp>
      <p:pic>
        <p:nvPicPr>
          <p:cNvPr id="42" name="图片 41"/>
          <p:cNvPicPr>
            <a:picLocks noChangeAspect="1"/>
          </p:cNvPicPr>
          <p:nvPr>
            <p:custDataLst>
              <p:tags r:id="rId11"/>
            </p:custDataLst>
          </p:nvPr>
        </p:nvPicPr>
        <p:blipFill>
          <a:blip r:embed="rId12"/>
          <a:stretch>
            <a:fillRect/>
          </a:stretch>
        </p:blipFill>
        <p:spPr>
          <a:xfrm>
            <a:off x="2752090" y="4138295"/>
            <a:ext cx="2555240" cy="704850"/>
          </a:xfrm>
          <a:prstGeom prst="rect">
            <a:avLst/>
          </a:prstGeom>
        </p:spPr>
      </p:pic>
      <p:grpSp>
        <p:nvGrpSpPr>
          <p:cNvPr id="6" name="组合 5"/>
          <p:cNvGrpSpPr/>
          <p:nvPr/>
        </p:nvGrpSpPr>
        <p:grpSpPr>
          <a:xfrm>
            <a:off x="786130" y="5025390"/>
            <a:ext cx="6364605" cy="673100"/>
            <a:chOff x="1343" y="7479"/>
            <a:chExt cx="10023" cy="1060"/>
          </a:xfrm>
        </p:grpSpPr>
        <p:pic>
          <p:nvPicPr>
            <p:cNvPr id="43" name="图片 42"/>
            <p:cNvPicPr>
              <a:picLocks noChangeAspect="1"/>
            </p:cNvPicPr>
            <p:nvPr>
              <p:custDataLst>
                <p:tags r:id="rId13"/>
              </p:custDataLst>
            </p:nvPr>
          </p:nvPicPr>
          <p:blipFill>
            <a:blip r:embed="rId14"/>
            <a:stretch>
              <a:fillRect/>
            </a:stretch>
          </p:blipFill>
          <p:spPr>
            <a:xfrm>
              <a:off x="5680" y="7479"/>
              <a:ext cx="5686" cy="1061"/>
            </a:xfrm>
            <a:prstGeom prst="rect">
              <a:avLst/>
            </a:prstGeom>
          </p:spPr>
        </p:pic>
        <p:sp>
          <p:nvSpPr>
            <p:cNvPr id="44" name="文本框 43"/>
            <p:cNvSpPr txBox="1"/>
            <p:nvPr/>
          </p:nvSpPr>
          <p:spPr>
            <a:xfrm>
              <a:off x="2290" y="7635"/>
              <a:ext cx="3390" cy="580"/>
            </a:xfrm>
            <a:prstGeom prst="rect">
              <a:avLst/>
            </a:prstGeom>
            <a:noFill/>
          </p:spPr>
          <p:txBody>
            <a:bodyPr wrap="square" rtlCol="0">
              <a:spAutoFit/>
            </a:bodyPr>
            <a:p>
              <a:r>
                <a:rPr lang="zh-CN" altLang="en-US"/>
                <a:t>是</a:t>
              </a:r>
              <a:r>
                <a:rPr lang="zh-CN" altLang="en-US"/>
                <a:t>有效自由能</a:t>
              </a:r>
              <a:r>
                <a:rPr lang="zh-CN" altLang="en-US"/>
                <a:t>密度</a:t>
              </a:r>
              <a:endParaRPr lang="zh-CN" altLang="en-US"/>
            </a:p>
          </p:txBody>
        </p:sp>
        <p:pic>
          <p:nvPicPr>
            <p:cNvPr id="45" name="图片 44"/>
            <p:cNvPicPr>
              <a:picLocks noChangeAspect="1"/>
            </p:cNvPicPr>
            <p:nvPr>
              <p:custDataLst>
                <p:tags r:id="rId15"/>
              </p:custDataLst>
            </p:nvPr>
          </p:nvPicPr>
          <p:blipFill>
            <a:blip r:embed="rId16"/>
            <a:stretch>
              <a:fillRect/>
            </a:stretch>
          </p:blipFill>
          <p:spPr>
            <a:xfrm>
              <a:off x="1343" y="7627"/>
              <a:ext cx="947" cy="600"/>
            </a:xfrm>
            <a:prstGeom prst="rect">
              <a:avLst/>
            </a:prstGeom>
          </p:spPr>
        </p:pic>
      </p:grpSp>
      <p:sp>
        <p:nvSpPr>
          <p:cNvPr id="5" name="文本框 4"/>
          <p:cNvSpPr txBox="1"/>
          <p:nvPr/>
        </p:nvSpPr>
        <p:spPr>
          <a:xfrm>
            <a:off x="717550" y="3724910"/>
            <a:ext cx="1743075" cy="368300"/>
          </a:xfrm>
          <a:prstGeom prst="rect">
            <a:avLst/>
          </a:prstGeom>
          <a:noFill/>
        </p:spPr>
        <p:txBody>
          <a:bodyPr wrap="square" rtlCol="0">
            <a:spAutoFit/>
          </a:bodyPr>
          <a:p>
            <a:r>
              <a:rPr lang="zh-CN" altLang="en-US"/>
              <a:t>恒成立</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rPr>
              <a:t>零级近似</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rPr>
              <a:t>局部</a:t>
            </a:r>
            <a:r>
              <a:rPr lang="zh-CN" altLang="en-US" sz="2700" b="1" dirty="0">
                <a:solidFill>
                  <a:schemeClr val="bg1"/>
                </a:solidFill>
                <a:latin typeface="微软雅黑" panose="020B0503020204020204" pitchFamily="34" charset="-122"/>
                <a:ea typeface="微软雅黑" panose="020B0503020204020204" pitchFamily="34" charset="-122"/>
              </a:rPr>
              <a:t>近似</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43" name="图片 42"/>
          <p:cNvPicPr>
            <a:picLocks noChangeAspect="1"/>
          </p:cNvPicPr>
          <p:nvPr>
            <p:custDataLst>
              <p:tags r:id="rId1"/>
            </p:custDataLst>
          </p:nvPr>
        </p:nvPicPr>
        <p:blipFill>
          <a:blip r:embed="rId2"/>
          <a:stretch>
            <a:fillRect/>
          </a:stretch>
        </p:blipFill>
        <p:spPr>
          <a:xfrm>
            <a:off x="574675" y="800100"/>
            <a:ext cx="4286250" cy="800100"/>
          </a:xfrm>
          <a:prstGeom prst="rect">
            <a:avLst/>
          </a:prstGeom>
        </p:spPr>
      </p:pic>
      <p:sp>
        <p:nvSpPr>
          <p:cNvPr id="5" name="文本框 4"/>
          <p:cNvSpPr txBox="1"/>
          <p:nvPr/>
        </p:nvSpPr>
        <p:spPr>
          <a:xfrm>
            <a:off x="590550" y="1600200"/>
            <a:ext cx="7452360" cy="368300"/>
          </a:xfrm>
          <a:prstGeom prst="rect">
            <a:avLst/>
          </a:prstGeom>
          <a:noFill/>
        </p:spPr>
        <p:txBody>
          <a:bodyPr wrap="square" rtlCol="0">
            <a:spAutoFit/>
          </a:bodyPr>
          <a:p>
            <a:r>
              <a:rPr lang="zh-CN" altLang="en-US"/>
              <a:t>自此可以建立广义热力学，用分析气液相分离的方法去表征</a:t>
            </a:r>
            <a:r>
              <a:rPr lang="en-US" altLang="zh-CN"/>
              <a:t>MIPS</a:t>
            </a:r>
            <a:endParaRPr lang="en-US" altLang="zh-CN"/>
          </a:p>
        </p:txBody>
      </p:sp>
      <p:pic>
        <p:nvPicPr>
          <p:cNvPr id="7" name="图片 6"/>
          <p:cNvPicPr>
            <a:picLocks noChangeAspect="1"/>
          </p:cNvPicPr>
          <p:nvPr>
            <p:custDataLst>
              <p:tags r:id="rId3"/>
            </p:custDataLst>
          </p:nvPr>
        </p:nvPicPr>
        <p:blipFill>
          <a:blip r:embed="rId4"/>
          <a:stretch>
            <a:fillRect/>
          </a:stretch>
        </p:blipFill>
        <p:spPr>
          <a:xfrm>
            <a:off x="331470" y="2073910"/>
            <a:ext cx="6214110" cy="4352925"/>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6973570" y="2625725"/>
            <a:ext cx="4779645" cy="422275"/>
          </a:xfrm>
          <a:prstGeom prst="rect">
            <a:avLst/>
          </a:prstGeom>
        </p:spPr>
      </p:pic>
      <p:sp>
        <p:nvSpPr>
          <p:cNvPr id="9" name="文本框 8"/>
          <p:cNvSpPr txBox="1"/>
          <p:nvPr/>
        </p:nvSpPr>
        <p:spPr>
          <a:xfrm>
            <a:off x="6820535" y="5000625"/>
            <a:ext cx="5086350" cy="1322070"/>
          </a:xfrm>
          <a:prstGeom prst="rect">
            <a:avLst/>
          </a:prstGeom>
          <a:noFill/>
        </p:spPr>
        <p:txBody>
          <a:bodyPr wrap="square" rtlCol="0">
            <a:spAutoFit/>
          </a:bodyPr>
          <a:p>
            <a:r>
              <a:rPr lang="en-US" altLang="zh-CN" sz="1600"/>
              <a:t>a)</a:t>
            </a:r>
            <a:r>
              <a:rPr lang="zh-CN" altLang="en-US" sz="1600"/>
              <a:t>凸曲线，无</a:t>
            </a:r>
            <a:r>
              <a:rPr lang="zh-CN" altLang="en-US" sz="1600"/>
              <a:t>相分离</a:t>
            </a:r>
            <a:endParaRPr lang="zh-CN" altLang="en-US" sz="1600"/>
          </a:p>
          <a:p>
            <a:r>
              <a:rPr lang="en-US" altLang="zh-CN" sz="1600"/>
              <a:t>b)</a:t>
            </a:r>
            <a:r>
              <a:rPr lang="zh-CN" altLang="en-US" sz="1600"/>
              <a:t>可发生相分离</a:t>
            </a:r>
            <a:endParaRPr lang="zh-CN" altLang="en-US" sz="1600"/>
          </a:p>
          <a:p>
            <a:r>
              <a:rPr lang="en-US" altLang="zh-CN" sz="1600"/>
              <a:t>c)</a:t>
            </a:r>
            <a:r>
              <a:rPr lang="zh-CN" altLang="en-US" sz="1600"/>
              <a:t>最有利于发生相分离，共切线</a:t>
            </a:r>
            <a:r>
              <a:rPr lang="zh-CN" altLang="en-US" sz="1600"/>
              <a:t>方法</a:t>
            </a:r>
            <a:endParaRPr lang="zh-CN" altLang="en-US" sz="1600"/>
          </a:p>
          <a:p>
            <a:r>
              <a:rPr lang="en-US" altLang="zh-CN" sz="1600"/>
              <a:t>d)</a:t>
            </a:r>
            <a:r>
              <a:rPr lang="zh-CN" altLang="en-US" sz="1600"/>
              <a:t>局部凸函数，相分离不稳定，需要先成核，即旋节</a:t>
            </a:r>
            <a:r>
              <a:rPr lang="zh-CN" altLang="en-US" sz="1600"/>
              <a:t>分解</a:t>
            </a:r>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rPr>
              <a:t>一级近似</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rPr>
              <a:t>准局部</a:t>
            </a:r>
            <a:r>
              <a:rPr lang="zh-CN" altLang="en-US" sz="2700" b="1" dirty="0">
                <a:solidFill>
                  <a:schemeClr val="bg1"/>
                </a:solidFill>
                <a:latin typeface="微软雅黑" panose="020B0503020204020204" pitchFamily="34" charset="-122"/>
                <a:ea typeface="微软雅黑" panose="020B0503020204020204" pitchFamily="34" charset="-122"/>
              </a:rPr>
              <a:t>近似</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pic>
        <p:nvPicPr>
          <p:cNvPr id="5" name="图片 4"/>
          <p:cNvPicPr>
            <a:picLocks noChangeAspect="1"/>
          </p:cNvPicPr>
          <p:nvPr>
            <p:custDataLst>
              <p:tags r:id="rId1"/>
            </p:custDataLst>
          </p:nvPr>
        </p:nvPicPr>
        <p:blipFill>
          <a:blip r:embed="rId2"/>
          <a:stretch>
            <a:fillRect/>
          </a:stretch>
        </p:blipFill>
        <p:spPr>
          <a:xfrm>
            <a:off x="2847975" y="823595"/>
            <a:ext cx="1464310" cy="40005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1456055" y="1330325"/>
            <a:ext cx="3228975" cy="556260"/>
          </a:xfrm>
          <a:prstGeom prst="rect">
            <a:avLst/>
          </a:prstGeom>
        </p:spPr>
      </p:pic>
      <p:sp>
        <p:nvSpPr>
          <p:cNvPr id="7" name="文本框 6"/>
          <p:cNvSpPr txBox="1"/>
          <p:nvPr/>
        </p:nvSpPr>
        <p:spPr>
          <a:xfrm>
            <a:off x="309245" y="855345"/>
            <a:ext cx="2615565" cy="368300"/>
          </a:xfrm>
          <a:prstGeom prst="rect">
            <a:avLst/>
          </a:prstGeom>
          <a:noFill/>
        </p:spPr>
        <p:txBody>
          <a:bodyPr wrap="square" rtlCol="0">
            <a:spAutoFit/>
          </a:bodyPr>
          <a:p>
            <a:r>
              <a:rPr lang="zh-CN" altLang="en-US"/>
              <a:t>取</a:t>
            </a:r>
            <a:r>
              <a:rPr lang="zh-CN" altLang="en-US"/>
              <a:t>梯度展开一级近似</a:t>
            </a:r>
            <a:endParaRPr lang="zh-CN" altLang="en-US"/>
          </a:p>
        </p:txBody>
      </p:sp>
      <p:sp>
        <p:nvSpPr>
          <p:cNvPr id="8" name="文本框 7"/>
          <p:cNvSpPr txBox="1"/>
          <p:nvPr/>
        </p:nvSpPr>
        <p:spPr>
          <a:xfrm>
            <a:off x="400050" y="1412240"/>
            <a:ext cx="1182370" cy="368300"/>
          </a:xfrm>
          <a:prstGeom prst="rect">
            <a:avLst/>
          </a:prstGeom>
          <a:noFill/>
        </p:spPr>
        <p:txBody>
          <a:bodyPr wrap="square" rtlCol="0">
            <a:spAutoFit/>
          </a:bodyPr>
          <a:p>
            <a:r>
              <a:rPr lang="zh-CN" altLang="en-US"/>
              <a:t>则有</a:t>
            </a:r>
            <a:endParaRPr lang="zh-CN" altLang="en-US"/>
          </a:p>
        </p:txBody>
      </p:sp>
      <p:pic>
        <p:nvPicPr>
          <p:cNvPr id="9" name="图片 8"/>
          <p:cNvPicPr>
            <a:picLocks noChangeAspect="1"/>
          </p:cNvPicPr>
          <p:nvPr>
            <p:custDataLst>
              <p:tags r:id="rId5"/>
            </p:custDataLst>
          </p:nvPr>
        </p:nvPicPr>
        <p:blipFill>
          <a:blip r:embed="rId6"/>
          <a:stretch>
            <a:fillRect/>
          </a:stretch>
        </p:blipFill>
        <p:spPr>
          <a:xfrm>
            <a:off x="1524635" y="1884680"/>
            <a:ext cx="4081145" cy="426720"/>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6634480" y="1881505"/>
            <a:ext cx="1846580" cy="584200"/>
          </a:xfrm>
          <a:prstGeom prst="rect">
            <a:avLst/>
          </a:prstGeom>
        </p:spPr>
      </p:pic>
      <p:sp>
        <p:nvSpPr>
          <p:cNvPr id="11" name="文本框 10"/>
          <p:cNvSpPr txBox="1"/>
          <p:nvPr/>
        </p:nvSpPr>
        <p:spPr>
          <a:xfrm>
            <a:off x="5969000" y="1924685"/>
            <a:ext cx="784860" cy="368300"/>
          </a:xfrm>
          <a:prstGeom prst="rect">
            <a:avLst/>
          </a:prstGeom>
          <a:noFill/>
        </p:spPr>
        <p:txBody>
          <a:bodyPr wrap="square" rtlCol="0">
            <a:spAutoFit/>
          </a:bodyPr>
          <a:p>
            <a:r>
              <a:rPr lang="zh-CN" altLang="en-US"/>
              <a:t>其中</a:t>
            </a:r>
            <a:endParaRPr lang="zh-CN" altLang="en-US"/>
          </a:p>
        </p:txBody>
      </p:sp>
      <p:sp>
        <p:nvSpPr>
          <p:cNvPr id="12" name="文本框 11"/>
          <p:cNvSpPr txBox="1"/>
          <p:nvPr/>
        </p:nvSpPr>
        <p:spPr>
          <a:xfrm>
            <a:off x="400050" y="2459355"/>
            <a:ext cx="3780155" cy="368300"/>
          </a:xfrm>
          <a:prstGeom prst="rect">
            <a:avLst/>
          </a:prstGeom>
          <a:noFill/>
        </p:spPr>
        <p:txBody>
          <a:bodyPr wrap="square" rtlCol="0">
            <a:spAutoFit/>
          </a:bodyPr>
          <a:p>
            <a:r>
              <a:rPr lang="zh-CN" altLang="en-US"/>
              <a:t>检查是否满足可积性</a:t>
            </a:r>
            <a:r>
              <a:rPr lang="zh-CN" altLang="en-US"/>
              <a:t>条件</a:t>
            </a:r>
            <a:endParaRPr lang="zh-CN" altLang="en-US"/>
          </a:p>
        </p:txBody>
      </p:sp>
      <p:pic>
        <p:nvPicPr>
          <p:cNvPr id="13" name="图片 12"/>
          <p:cNvPicPr>
            <a:picLocks noChangeAspect="1"/>
          </p:cNvPicPr>
          <p:nvPr>
            <p:custDataLst>
              <p:tags r:id="rId9"/>
            </p:custDataLst>
          </p:nvPr>
        </p:nvPicPr>
        <p:blipFill>
          <a:blip r:embed="rId10"/>
          <a:stretch>
            <a:fillRect/>
          </a:stretch>
        </p:blipFill>
        <p:spPr>
          <a:xfrm>
            <a:off x="1582420" y="2975610"/>
            <a:ext cx="6038850" cy="542925"/>
          </a:xfrm>
          <a:prstGeom prst="rect">
            <a:avLst/>
          </a:prstGeom>
        </p:spPr>
      </p:pic>
      <p:pic>
        <p:nvPicPr>
          <p:cNvPr id="14" name="图片 13"/>
          <p:cNvPicPr>
            <a:picLocks noChangeAspect="1"/>
          </p:cNvPicPr>
          <p:nvPr>
            <p:custDataLst>
              <p:tags r:id="rId11"/>
            </p:custDataLst>
          </p:nvPr>
        </p:nvPicPr>
        <p:blipFill>
          <a:blip r:embed="rId12"/>
          <a:stretch>
            <a:fillRect/>
          </a:stretch>
        </p:blipFill>
        <p:spPr>
          <a:xfrm>
            <a:off x="1744980" y="3451225"/>
            <a:ext cx="8172450" cy="752475"/>
          </a:xfrm>
          <a:prstGeom prst="rect">
            <a:avLst/>
          </a:prstGeom>
        </p:spPr>
      </p:pic>
      <p:sp>
        <p:nvSpPr>
          <p:cNvPr id="15" name="文本框 14"/>
          <p:cNvSpPr txBox="1"/>
          <p:nvPr/>
        </p:nvSpPr>
        <p:spPr>
          <a:xfrm>
            <a:off x="494665" y="3575050"/>
            <a:ext cx="1560195" cy="368300"/>
          </a:xfrm>
          <a:prstGeom prst="rect">
            <a:avLst/>
          </a:prstGeom>
          <a:noFill/>
        </p:spPr>
        <p:txBody>
          <a:bodyPr wrap="square" rtlCol="0">
            <a:spAutoFit/>
          </a:bodyPr>
          <a:p>
            <a:r>
              <a:rPr lang="zh-CN" altLang="en-US"/>
              <a:t>积分意义</a:t>
            </a:r>
            <a:r>
              <a:rPr lang="zh-CN" altLang="en-US"/>
              <a:t>下</a:t>
            </a:r>
            <a:endParaRPr lang="zh-CN" altLang="en-US"/>
          </a:p>
        </p:txBody>
      </p:sp>
      <p:pic>
        <p:nvPicPr>
          <p:cNvPr id="16" name="图片 15"/>
          <p:cNvPicPr>
            <a:picLocks noChangeAspect="1"/>
          </p:cNvPicPr>
          <p:nvPr>
            <p:custDataLst>
              <p:tags r:id="rId13"/>
            </p:custDataLst>
          </p:nvPr>
        </p:nvPicPr>
        <p:blipFill>
          <a:blip r:embed="rId14"/>
          <a:stretch>
            <a:fillRect/>
          </a:stretch>
        </p:blipFill>
        <p:spPr>
          <a:xfrm>
            <a:off x="3231515" y="4425315"/>
            <a:ext cx="1080770" cy="321310"/>
          </a:xfrm>
          <a:prstGeom prst="rect">
            <a:avLst/>
          </a:prstGeom>
        </p:spPr>
      </p:pic>
      <p:sp>
        <p:nvSpPr>
          <p:cNvPr id="17" name="文本框 16"/>
          <p:cNvSpPr txBox="1"/>
          <p:nvPr/>
        </p:nvSpPr>
        <p:spPr>
          <a:xfrm>
            <a:off x="517525" y="4425315"/>
            <a:ext cx="2722880" cy="368300"/>
          </a:xfrm>
          <a:prstGeom prst="rect">
            <a:avLst/>
          </a:prstGeom>
          <a:noFill/>
        </p:spPr>
        <p:txBody>
          <a:bodyPr wrap="square" rtlCol="0">
            <a:spAutoFit/>
          </a:bodyPr>
          <a:p>
            <a:r>
              <a:rPr lang="zh-CN" altLang="en-US"/>
              <a:t>满足可积性</a:t>
            </a:r>
            <a:r>
              <a:rPr lang="zh-CN" altLang="en-US"/>
              <a:t>条件当且仅当</a:t>
            </a:r>
            <a:endParaRPr lang="zh-CN" altLang="en-US"/>
          </a:p>
        </p:txBody>
      </p:sp>
      <p:pic>
        <p:nvPicPr>
          <p:cNvPr id="18" name="图片 17"/>
          <p:cNvPicPr>
            <a:picLocks noChangeAspect="1"/>
          </p:cNvPicPr>
          <p:nvPr>
            <p:custDataLst>
              <p:tags r:id="rId15"/>
            </p:custDataLst>
          </p:nvPr>
        </p:nvPicPr>
        <p:blipFill>
          <a:blip r:embed="rId16"/>
          <a:stretch>
            <a:fillRect/>
          </a:stretch>
        </p:blipFill>
        <p:spPr>
          <a:xfrm>
            <a:off x="5868670" y="4336415"/>
            <a:ext cx="2305050" cy="457200"/>
          </a:xfrm>
          <a:prstGeom prst="rect">
            <a:avLst/>
          </a:prstGeom>
        </p:spPr>
      </p:pic>
      <p:sp>
        <p:nvSpPr>
          <p:cNvPr id="19" name="文本框 18"/>
          <p:cNvSpPr txBox="1"/>
          <p:nvPr/>
        </p:nvSpPr>
        <p:spPr>
          <a:xfrm>
            <a:off x="4312285" y="4399915"/>
            <a:ext cx="1996440" cy="368300"/>
          </a:xfrm>
          <a:prstGeom prst="rect">
            <a:avLst/>
          </a:prstGeom>
          <a:noFill/>
        </p:spPr>
        <p:txBody>
          <a:bodyPr wrap="square" rtlCol="0">
            <a:spAutoFit/>
          </a:bodyPr>
          <a:p>
            <a:r>
              <a:rPr lang="zh-CN" altLang="en-US"/>
              <a:t>，即当且</a:t>
            </a:r>
            <a:r>
              <a:rPr lang="zh-CN" altLang="en-US"/>
              <a:t>仅当</a:t>
            </a:r>
            <a:endParaRPr lang="zh-CN" altLang="en-US"/>
          </a:p>
        </p:txBody>
      </p:sp>
      <p:pic>
        <p:nvPicPr>
          <p:cNvPr id="20" name="图片 19"/>
          <p:cNvPicPr>
            <a:picLocks noChangeAspect="1"/>
          </p:cNvPicPr>
          <p:nvPr>
            <p:custDataLst>
              <p:tags r:id="rId17"/>
            </p:custDataLst>
          </p:nvPr>
        </p:nvPicPr>
        <p:blipFill>
          <a:blip r:embed="rId18"/>
          <a:stretch>
            <a:fillRect/>
          </a:stretch>
        </p:blipFill>
        <p:spPr>
          <a:xfrm>
            <a:off x="2433955" y="4790440"/>
            <a:ext cx="4867910" cy="694055"/>
          </a:xfrm>
          <a:prstGeom prst="rect">
            <a:avLst/>
          </a:prstGeom>
        </p:spPr>
      </p:pic>
      <p:pic>
        <p:nvPicPr>
          <p:cNvPr id="22" name="图片 21"/>
          <p:cNvPicPr>
            <a:picLocks noChangeAspect="1"/>
          </p:cNvPicPr>
          <p:nvPr>
            <p:custDataLst>
              <p:tags r:id="rId19"/>
            </p:custDataLst>
          </p:nvPr>
        </p:nvPicPr>
        <p:blipFill>
          <a:blip r:embed="rId20"/>
          <a:stretch>
            <a:fillRect/>
          </a:stretch>
        </p:blipFill>
        <p:spPr>
          <a:xfrm>
            <a:off x="590550" y="4845050"/>
            <a:ext cx="639445" cy="303530"/>
          </a:xfrm>
          <a:prstGeom prst="rect">
            <a:avLst/>
          </a:prstGeom>
        </p:spPr>
      </p:pic>
      <p:sp>
        <p:nvSpPr>
          <p:cNvPr id="23" name="文本框 22"/>
          <p:cNvSpPr txBox="1"/>
          <p:nvPr/>
        </p:nvSpPr>
        <p:spPr>
          <a:xfrm>
            <a:off x="1357630" y="4850765"/>
            <a:ext cx="1229995" cy="368300"/>
          </a:xfrm>
          <a:prstGeom prst="rect">
            <a:avLst/>
          </a:prstGeom>
          <a:noFill/>
        </p:spPr>
        <p:txBody>
          <a:bodyPr wrap="square" rtlCol="0">
            <a:spAutoFit/>
          </a:bodyPr>
          <a:p>
            <a:r>
              <a:rPr lang="zh-CN" altLang="en-US"/>
              <a:t>，</a:t>
            </a:r>
            <a:r>
              <a:rPr lang="zh-CN" altLang="en-US"/>
              <a:t>自由能</a:t>
            </a:r>
            <a:endParaRPr lang="zh-CN" altLang="en-US"/>
          </a:p>
        </p:txBody>
      </p:sp>
      <p:sp>
        <p:nvSpPr>
          <p:cNvPr id="24" name="文本框 23"/>
          <p:cNvSpPr txBox="1"/>
          <p:nvPr/>
        </p:nvSpPr>
        <p:spPr>
          <a:xfrm>
            <a:off x="517525" y="5506720"/>
            <a:ext cx="10947400" cy="922020"/>
          </a:xfrm>
          <a:prstGeom prst="rect">
            <a:avLst/>
          </a:prstGeom>
          <a:noFill/>
        </p:spPr>
        <p:txBody>
          <a:bodyPr wrap="square" rtlCol="0">
            <a:spAutoFit/>
          </a:bodyPr>
          <a:p>
            <a:r>
              <a:rPr lang="zh-CN" altLang="en-US"/>
              <a:t>根据有效自由能形式，得出</a:t>
            </a:r>
            <a:endParaRPr lang="zh-CN" altLang="en-US"/>
          </a:p>
          <a:p>
            <a:r>
              <a:rPr lang="en-US" altLang="zh-CN"/>
              <a:t>1</a:t>
            </a:r>
            <a:r>
              <a:rPr lang="zh-CN" altLang="en-US"/>
              <a:t>、自由能无下界，密度梯度越大，自由能越低。倾向于有限空间的凝聚，而非有限密度的</a:t>
            </a:r>
            <a:r>
              <a:rPr lang="zh-CN" altLang="en-US"/>
              <a:t>相分离</a:t>
            </a:r>
            <a:endParaRPr lang="zh-CN" altLang="en-US"/>
          </a:p>
          <a:p>
            <a:r>
              <a:rPr lang="en-US" altLang="zh-CN"/>
              <a:t>2</a:t>
            </a:r>
            <a:r>
              <a:rPr lang="zh-CN" altLang="en-US"/>
              <a:t>、共切线消失，</a:t>
            </a:r>
            <a:r>
              <a:rPr lang="zh-CN" altLang="en-US"/>
              <a:t>有效压力不是一个可以简单定义的</a:t>
            </a:r>
            <a:r>
              <a:rPr lang="zh-CN" altLang="en-US"/>
              <a:t>量</a:t>
            </a:r>
            <a:endParaRPr lang="zh-CN" altLang="en-US"/>
          </a:p>
        </p:txBody>
      </p:sp>
      <p:cxnSp>
        <p:nvCxnSpPr>
          <p:cNvPr id="25" name="直接连接符 24"/>
          <p:cNvCxnSpPr/>
          <p:nvPr/>
        </p:nvCxnSpPr>
        <p:spPr>
          <a:xfrm flipH="1">
            <a:off x="5873115" y="5024755"/>
            <a:ext cx="4445" cy="170815"/>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590550" y="6431280"/>
            <a:ext cx="8335010" cy="321310"/>
          </a:xfrm>
          <a:prstGeom prst="rect">
            <a:avLst/>
          </a:prstGeom>
          <a:noFill/>
        </p:spPr>
        <p:txBody>
          <a:bodyPr wrap="square" rtlCol="0">
            <a:noAutofit/>
          </a:bodyPr>
          <a:p>
            <a:r>
              <a:rPr lang="zh-CN" altLang="en-US"/>
              <a:t>对于大量不满足此形式的情形，</a:t>
            </a:r>
            <a:r>
              <a:rPr lang="zh-CN" altLang="en-US"/>
              <a:t>可以用平均场近似去得到广义热力学，见文献</a:t>
            </a:r>
            <a:r>
              <a:rPr lang="en-US" altLang="zh-CN"/>
              <a:t>P21</a:t>
            </a:r>
            <a:endParaRPr lang="en-US" altLang="zh-CN"/>
          </a:p>
        </p:txBody>
      </p:sp>
      <p:sp>
        <p:nvSpPr>
          <p:cNvPr id="21" name="文本框 20"/>
          <p:cNvSpPr txBox="1"/>
          <p:nvPr/>
        </p:nvSpPr>
        <p:spPr>
          <a:xfrm>
            <a:off x="8925560" y="6209665"/>
            <a:ext cx="3210560" cy="645160"/>
          </a:xfrm>
          <a:prstGeom prst="rect">
            <a:avLst/>
          </a:prstGeom>
          <a:noFill/>
        </p:spPr>
        <p:txBody>
          <a:bodyPr wrap="square" rtlCol="0" anchor="t">
            <a:spAutoFit/>
          </a:bodyPr>
          <a:p>
            <a:r>
              <a:rPr lang="zh-CN" altLang="en-US" sz="1200"/>
              <a:t>O'Byrne J, Solon A, Tailleur J, et al. An introduction to motility-induced phase separation[J]. 2023</a:t>
            </a:r>
            <a:endParaRPr lang="zh-CN" alt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rPr>
              <a:t>一级近似</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rPr>
              <a:t>准局部</a:t>
            </a:r>
            <a:r>
              <a:rPr lang="zh-CN" altLang="en-US" sz="2700" b="1" dirty="0">
                <a:solidFill>
                  <a:schemeClr val="bg1"/>
                </a:solidFill>
                <a:latin typeface="微软雅黑" panose="020B0503020204020204" pitchFamily="34" charset="-122"/>
                <a:ea typeface="微软雅黑" panose="020B0503020204020204" pitchFamily="34" charset="-122"/>
              </a:rPr>
              <a:t>近似</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cxnSp>
        <p:nvCxnSpPr>
          <p:cNvPr id="25" name="直接连接符 24"/>
          <p:cNvCxnSpPr/>
          <p:nvPr/>
        </p:nvCxnSpPr>
        <p:spPr>
          <a:xfrm flipH="1">
            <a:off x="5873115" y="5024755"/>
            <a:ext cx="4445" cy="170815"/>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pic>
        <p:nvPicPr>
          <p:cNvPr id="21" name="图片 20"/>
          <p:cNvPicPr>
            <a:picLocks noChangeAspect="1"/>
          </p:cNvPicPr>
          <p:nvPr>
            <p:custDataLst>
              <p:tags r:id="rId1"/>
            </p:custDataLst>
          </p:nvPr>
        </p:nvPicPr>
        <p:blipFill>
          <a:blip r:embed="rId2"/>
          <a:srcRect t="13265"/>
          <a:stretch>
            <a:fillRect/>
          </a:stretch>
        </p:blipFill>
        <p:spPr>
          <a:xfrm>
            <a:off x="1134110" y="1190625"/>
            <a:ext cx="8559165" cy="762635"/>
          </a:xfrm>
          <a:prstGeom prst="rect">
            <a:avLst/>
          </a:prstGeom>
        </p:spPr>
      </p:pic>
      <p:sp>
        <p:nvSpPr>
          <p:cNvPr id="27" name="文本框 26"/>
          <p:cNvSpPr txBox="1"/>
          <p:nvPr/>
        </p:nvSpPr>
        <p:spPr>
          <a:xfrm>
            <a:off x="327025" y="6178550"/>
            <a:ext cx="11252200" cy="521970"/>
          </a:xfrm>
          <a:prstGeom prst="rect">
            <a:avLst/>
          </a:prstGeom>
          <a:noFill/>
        </p:spPr>
        <p:txBody>
          <a:bodyPr wrap="square" rtlCol="0">
            <a:spAutoFit/>
          </a:bodyPr>
          <a:p>
            <a:r>
              <a:rPr lang="zh-CN" altLang="en-US" sz="1400"/>
              <a:t>Nardini C, Fodor É, Tjhung E, et al. Entropy production in field theories without time-reversal symmetry: quantifying the non-equilibrium character of active matter[J]. Physical Review X, 2017, 7(2): 021007.</a:t>
            </a:r>
            <a:endParaRPr lang="zh-CN" altLang="en-US" sz="1400"/>
          </a:p>
        </p:txBody>
      </p:sp>
      <p:sp>
        <p:nvSpPr>
          <p:cNvPr id="28" name="文本框 27"/>
          <p:cNvSpPr txBox="1"/>
          <p:nvPr/>
        </p:nvSpPr>
        <p:spPr>
          <a:xfrm>
            <a:off x="621030" y="768985"/>
            <a:ext cx="6096000" cy="368300"/>
          </a:xfrm>
          <a:prstGeom prst="rect">
            <a:avLst/>
          </a:prstGeom>
          <a:noFill/>
        </p:spPr>
        <p:txBody>
          <a:bodyPr wrap="square" rtlCol="0" anchor="t">
            <a:spAutoFit/>
          </a:bodyPr>
          <a:p>
            <a:r>
              <a:rPr lang="zh-CN" altLang="en-US">
                <a:sym typeface="+mn-ea"/>
              </a:rPr>
              <a:t>计算熵产生</a:t>
            </a:r>
            <a:endParaRPr lang="zh-CN" altLang="en-US">
              <a:sym typeface="+mn-ea"/>
            </a:endParaRPr>
          </a:p>
        </p:txBody>
      </p:sp>
      <p:sp>
        <p:nvSpPr>
          <p:cNvPr id="29" name="文本框 28"/>
          <p:cNvSpPr txBox="1"/>
          <p:nvPr/>
        </p:nvSpPr>
        <p:spPr>
          <a:xfrm>
            <a:off x="621030" y="2006600"/>
            <a:ext cx="8032115" cy="368300"/>
          </a:xfrm>
          <a:prstGeom prst="rect">
            <a:avLst/>
          </a:prstGeom>
          <a:noFill/>
        </p:spPr>
        <p:txBody>
          <a:bodyPr wrap="square" rtlCol="0">
            <a:spAutoFit/>
          </a:bodyPr>
          <a:p>
            <a:r>
              <a:rPr lang="zh-CN" altLang="en-US">
                <a:solidFill>
                  <a:srgbClr val="C00000"/>
                </a:solidFill>
              </a:rPr>
              <a:t>梯度项</a:t>
            </a:r>
            <a:r>
              <a:rPr lang="zh-CN" altLang="en-US"/>
              <a:t>使得熵产生不为</a:t>
            </a:r>
            <a:r>
              <a:rPr lang="en-US" altLang="zh-CN"/>
              <a:t>0</a:t>
            </a:r>
            <a:r>
              <a:rPr lang="zh-CN" altLang="en-US"/>
              <a:t>，时间反转对称性被</a:t>
            </a:r>
            <a:r>
              <a:rPr lang="zh-CN" altLang="en-US"/>
              <a:t>打破</a:t>
            </a:r>
            <a:endParaRPr lang="zh-CN" altLang="en-US"/>
          </a:p>
        </p:txBody>
      </p:sp>
      <p:pic>
        <p:nvPicPr>
          <p:cNvPr id="30" name="图片 29"/>
          <p:cNvPicPr>
            <a:picLocks noChangeAspect="1"/>
          </p:cNvPicPr>
          <p:nvPr>
            <p:custDataLst>
              <p:tags r:id="rId3"/>
            </p:custDataLst>
          </p:nvPr>
        </p:nvPicPr>
        <p:blipFill>
          <a:blip r:embed="rId4"/>
          <a:stretch>
            <a:fillRect/>
          </a:stretch>
        </p:blipFill>
        <p:spPr>
          <a:xfrm>
            <a:off x="1447165" y="2506345"/>
            <a:ext cx="3519805" cy="3126740"/>
          </a:xfrm>
          <a:prstGeom prst="rect">
            <a:avLst/>
          </a:prstGeom>
        </p:spPr>
      </p:pic>
      <p:pic>
        <p:nvPicPr>
          <p:cNvPr id="31" name="图片 30"/>
          <p:cNvPicPr>
            <a:picLocks noChangeAspect="1"/>
          </p:cNvPicPr>
          <p:nvPr>
            <p:custDataLst>
              <p:tags r:id="rId5"/>
            </p:custDataLst>
          </p:nvPr>
        </p:nvPicPr>
        <p:blipFill>
          <a:blip r:embed="rId6"/>
          <a:stretch>
            <a:fillRect/>
          </a:stretch>
        </p:blipFill>
        <p:spPr>
          <a:xfrm>
            <a:off x="5706110" y="2520315"/>
            <a:ext cx="3671570" cy="3162300"/>
          </a:xfrm>
          <a:prstGeom prst="rect">
            <a:avLst/>
          </a:prstGeom>
        </p:spPr>
      </p:pic>
      <p:sp>
        <p:nvSpPr>
          <p:cNvPr id="32" name="文本框 31"/>
          <p:cNvSpPr txBox="1"/>
          <p:nvPr/>
        </p:nvSpPr>
        <p:spPr>
          <a:xfrm>
            <a:off x="2051685" y="5763895"/>
            <a:ext cx="2205355" cy="306705"/>
          </a:xfrm>
          <a:prstGeom prst="rect">
            <a:avLst/>
          </a:prstGeom>
          <a:noFill/>
        </p:spPr>
        <p:txBody>
          <a:bodyPr wrap="square" rtlCol="0">
            <a:spAutoFit/>
          </a:bodyPr>
          <a:p>
            <a:r>
              <a:rPr lang="zh-CN" altLang="en-US" sz="1400"/>
              <a:t>归一化后的密度</a:t>
            </a:r>
            <a:r>
              <a:rPr lang="zh-CN" altLang="en-US" sz="1400"/>
              <a:t>分布</a:t>
            </a:r>
            <a:endParaRPr lang="zh-CN" altLang="en-US" sz="1400"/>
          </a:p>
        </p:txBody>
      </p:sp>
      <p:sp>
        <p:nvSpPr>
          <p:cNvPr id="33" name="文本框 32"/>
          <p:cNvSpPr txBox="1"/>
          <p:nvPr/>
        </p:nvSpPr>
        <p:spPr>
          <a:xfrm>
            <a:off x="6717030" y="5744210"/>
            <a:ext cx="1429385" cy="306705"/>
          </a:xfrm>
          <a:prstGeom prst="rect">
            <a:avLst/>
          </a:prstGeom>
          <a:noFill/>
        </p:spPr>
        <p:txBody>
          <a:bodyPr wrap="square" rtlCol="0">
            <a:spAutoFit/>
          </a:bodyPr>
          <a:p>
            <a:r>
              <a:rPr lang="zh-CN" altLang="en-US" sz="1400"/>
              <a:t>熵产生分布</a:t>
            </a:r>
            <a:endParaRPr lang="zh-CN"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sp>
        <p:nvSpPr>
          <p:cNvPr id="7" name="文本框 6"/>
          <p:cNvSpPr txBox="1"/>
          <p:nvPr>
            <p:custDataLst>
              <p:tags r:id="rId1"/>
            </p:custDataLst>
          </p:nvPr>
        </p:nvSpPr>
        <p:spPr>
          <a:xfrm>
            <a:off x="215265" y="50800"/>
            <a:ext cx="3632835" cy="537845"/>
          </a:xfrm>
          <a:prstGeom prst="rect">
            <a:avLst/>
          </a:prstGeom>
          <a:noFill/>
        </p:spPr>
        <p:txBody>
          <a:bodyPr wrap="square" rtlCol="0">
            <a:noAutofit/>
          </a:bodyPr>
          <a:p>
            <a:r>
              <a:rPr lang="zh-CN" altLang="en-US" sz="2700" b="1" dirty="0">
                <a:solidFill>
                  <a:schemeClr val="bg1"/>
                </a:solidFill>
                <a:latin typeface="微软雅黑" panose="020B0503020204020204" pitchFamily="34" charset="-122"/>
                <a:ea typeface="微软雅黑" panose="020B0503020204020204" pitchFamily="34" charset="-122"/>
              </a:rPr>
              <a:t>一般形式</a:t>
            </a:r>
            <a:r>
              <a:rPr lang="en-US" altLang="zh-CN" sz="2700" b="1" dirty="0">
                <a:solidFill>
                  <a:schemeClr val="bg1"/>
                </a:solidFill>
                <a:latin typeface="微软雅黑" panose="020B0503020204020204" pitchFamily="34" charset="-122"/>
                <a:ea typeface="微软雅黑" panose="020B0503020204020204" pitchFamily="34" charset="-122"/>
              </a:rPr>
              <a:t>-</a:t>
            </a:r>
            <a:r>
              <a:rPr lang="zh-CN" altLang="en-US" sz="2700" b="1" dirty="0">
                <a:solidFill>
                  <a:schemeClr val="bg1"/>
                </a:solidFill>
                <a:latin typeface="微软雅黑" panose="020B0503020204020204" pitchFamily="34" charset="-122"/>
                <a:ea typeface="微软雅黑" panose="020B0503020204020204" pitchFamily="34" charset="-122"/>
              </a:rPr>
              <a:t>非局部</a:t>
            </a:r>
            <a:r>
              <a:rPr lang="zh-CN" altLang="en-US" sz="2700" b="1" dirty="0">
                <a:solidFill>
                  <a:schemeClr val="bg1"/>
                </a:solidFill>
                <a:latin typeface="微软雅黑" panose="020B0503020204020204" pitchFamily="34" charset="-122"/>
                <a:ea typeface="微软雅黑" panose="020B0503020204020204" pitchFamily="34" charset="-122"/>
              </a:rPr>
              <a:t>近似</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custDataLst>
              <p:tags r:id="rId2"/>
            </p:custDataLst>
          </p:nvPr>
        </p:nvPicPr>
        <p:blipFill>
          <a:blip r:embed="rId3"/>
          <a:stretch>
            <a:fillRect/>
          </a:stretch>
        </p:blipFill>
        <p:spPr>
          <a:xfrm>
            <a:off x="2811780" y="916305"/>
            <a:ext cx="2479675" cy="329565"/>
          </a:xfrm>
          <a:prstGeom prst="rect">
            <a:avLst/>
          </a:prstGeom>
        </p:spPr>
      </p:pic>
      <p:sp>
        <p:nvSpPr>
          <p:cNvPr id="12" name="文本框 11"/>
          <p:cNvSpPr txBox="1"/>
          <p:nvPr>
            <p:custDataLst>
              <p:tags r:id="rId4"/>
            </p:custDataLst>
          </p:nvPr>
        </p:nvSpPr>
        <p:spPr>
          <a:xfrm>
            <a:off x="658495" y="1473200"/>
            <a:ext cx="3780155" cy="368300"/>
          </a:xfrm>
          <a:prstGeom prst="rect">
            <a:avLst/>
          </a:prstGeom>
          <a:noFill/>
        </p:spPr>
        <p:txBody>
          <a:bodyPr wrap="square" rtlCol="0">
            <a:spAutoFit/>
          </a:bodyPr>
          <a:p>
            <a:r>
              <a:rPr lang="zh-CN" altLang="en-US"/>
              <a:t>检查化学势是否满足可积性</a:t>
            </a:r>
            <a:r>
              <a:rPr lang="zh-CN" altLang="en-US"/>
              <a:t>条件</a:t>
            </a:r>
            <a:endParaRPr lang="zh-CN" altLang="en-US"/>
          </a:p>
        </p:txBody>
      </p:sp>
      <p:pic>
        <p:nvPicPr>
          <p:cNvPr id="9" name="图片 8"/>
          <p:cNvPicPr>
            <a:picLocks noChangeAspect="1"/>
          </p:cNvPicPr>
          <p:nvPr>
            <p:custDataLst>
              <p:tags r:id="rId5"/>
            </p:custDataLst>
          </p:nvPr>
        </p:nvPicPr>
        <p:blipFill>
          <a:blip r:embed="rId6"/>
          <a:stretch>
            <a:fillRect/>
          </a:stretch>
        </p:blipFill>
        <p:spPr>
          <a:xfrm>
            <a:off x="1769110" y="1842770"/>
            <a:ext cx="4565015" cy="597535"/>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6534150" y="1900555"/>
            <a:ext cx="3263900" cy="539750"/>
          </a:xfrm>
          <a:prstGeom prst="rect">
            <a:avLst/>
          </a:prstGeom>
        </p:spPr>
      </p:pic>
      <p:sp>
        <p:nvSpPr>
          <p:cNvPr id="11" name="文本框 10"/>
          <p:cNvSpPr txBox="1"/>
          <p:nvPr/>
        </p:nvSpPr>
        <p:spPr>
          <a:xfrm>
            <a:off x="716915" y="2577465"/>
            <a:ext cx="3973830" cy="368300"/>
          </a:xfrm>
          <a:prstGeom prst="rect">
            <a:avLst/>
          </a:prstGeom>
          <a:noFill/>
        </p:spPr>
        <p:txBody>
          <a:bodyPr wrap="square" rtlCol="0">
            <a:spAutoFit/>
          </a:bodyPr>
          <a:p>
            <a:r>
              <a:rPr lang="zh-CN" altLang="en-US"/>
              <a:t>满足可积性条件，当且</a:t>
            </a:r>
            <a:r>
              <a:rPr lang="zh-CN" altLang="en-US"/>
              <a:t>仅当</a:t>
            </a:r>
            <a:endParaRPr lang="zh-CN" altLang="en-US"/>
          </a:p>
        </p:txBody>
      </p:sp>
      <p:pic>
        <p:nvPicPr>
          <p:cNvPr id="13" name="图片 12"/>
          <p:cNvPicPr>
            <a:picLocks noChangeAspect="1"/>
          </p:cNvPicPr>
          <p:nvPr>
            <p:custDataLst>
              <p:tags r:id="rId9"/>
            </p:custDataLst>
          </p:nvPr>
        </p:nvPicPr>
        <p:blipFill>
          <a:blip r:embed="rId10"/>
          <a:stretch>
            <a:fillRect/>
          </a:stretch>
        </p:blipFill>
        <p:spPr>
          <a:xfrm>
            <a:off x="3747135" y="2507615"/>
            <a:ext cx="3049905" cy="491490"/>
          </a:xfrm>
          <a:prstGeom prst="rect">
            <a:avLst/>
          </a:prstGeom>
        </p:spPr>
      </p:pic>
      <p:pic>
        <p:nvPicPr>
          <p:cNvPr id="14" name="图片 13"/>
          <p:cNvPicPr>
            <a:picLocks noChangeAspect="1"/>
          </p:cNvPicPr>
          <p:nvPr>
            <p:custDataLst>
              <p:tags r:id="rId11"/>
            </p:custDataLst>
          </p:nvPr>
        </p:nvPicPr>
        <p:blipFill>
          <a:blip r:embed="rId12"/>
          <a:stretch>
            <a:fillRect/>
          </a:stretch>
        </p:blipFill>
        <p:spPr>
          <a:xfrm>
            <a:off x="2004060" y="3037205"/>
            <a:ext cx="5568315" cy="682625"/>
          </a:xfrm>
          <a:prstGeom prst="rect">
            <a:avLst/>
          </a:prstGeom>
        </p:spPr>
      </p:pic>
      <p:sp>
        <p:nvSpPr>
          <p:cNvPr id="15" name="文本框 14"/>
          <p:cNvSpPr txBox="1"/>
          <p:nvPr/>
        </p:nvSpPr>
        <p:spPr>
          <a:xfrm>
            <a:off x="716915" y="3194050"/>
            <a:ext cx="1433830" cy="368300"/>
          </a:xfrm>
          <a:prstGeom prst="rect">
            <a:avLst/>
          </a:prstGeom>
          <a:noFill/>
        </p:spPr>
        <p:txBody>
          <a:bodyPr wrap="square" rtlCol="0">
            <a:spAutoFit/>
          </a:bodyPr>
          <a:p>
            <a:r>
              <a:rPr lang="zh-CN" altLang="en-US"/>
              <a:t>自由能</a:t>
            </a:r>
            <a:endParaRPr lang="zh-CN" altLang="en-US"/>
          </a:p>
        </p:txBody>
      </p:sp>
      <p:sp>
        <p:nvSpPr>
          <p:cNvPr id="16" name="文本框 15"/>
          <p:cNvSpPr txBox="1"/>
          <p:nvPr/>
        </p:nvSpPr>
        <p:spPr>
          <a:xfrm>
            <a:off x="716915" y="3881120"/>
            <a:ext cx="9272905" cy="368300"/>
          </a:xfrm>
          <a:prstGeom prst="rect">
            <a:avLst/>
          </a:prstGeom>
          <a:noFill/>
        </p:spPr>
        <p:txBody>
          <a:bodyPr wrap="square" rtlCol="0">
            <a:spAutoFit/>
          </a:bodyPr>
          <a:p>
            <a:r>
              <a:rPr lang="zh-CN" altLang="en-US"/>
              <a:t>可以将</a:t>
            </a:r>
            <a:r>
              <a:rPr lang="en-US" altLang="zh-CN"/>
              <a:t>N</a:t>
            </a:r>
            <a:r>
              <a:rPr lang="zh-CN" altLang="en-US"/>
              <a:t>个</a:t>
            </a:r>
            <a:r>
              <a:rPr lang="en-US" altLang="zh-CN"/>
              <a:t>RTP</a:t>
            </a:r>
            <a:r>
              <a:rPr lang="zh-CN" altLang="en-US"/>
              <a:t>粒子特定感应相互作用下的动力学映射到</a:t>
            </a:r>
            <a:r>
              <a:rPr lang="en-US" altLang="zh-CN"/>
              <a:t>N</a:t>
            </a:r>
            <a:r>
              <a:rPr lang="zh-CN" altLang="en-US"/>
              <a:t>个布朗粒子的平衡</a:t>
            </a:r>
            <a:r>
              <a:rPr lang="zh-CN" altLang="en-US"/>
              <a:t>动力学</a:t>
            </a:r>
            <a:endParaRPr lang="zh-CN" altLang="en-US"/>
          </a:p>
        </p:txBody>
      </p:sp>
      <p:pic>
        <p:nvPicPr>
          <p:cNvPr id="17" name="图片 16"/>
          <p:cNvPicPr>
            <a:picLocks noChangeAspect="1"/>
          </p:cNvPicPr>
          <p:nvPr>
            <p:custDataLst>
              <p:tags r:id="rId13"/>
            </p:custDataLst>
          </p:nvPr>
        </p:nvPicPr>
        <p:blipFill>
          <a:blip r:embed="rId14"/>
          <a:stretch>
            <a:fillRect/>
          </a:stretch>
        </p:blipFill>
        <p:spPr>
          <a:xfrm>
            <a:off x="2446020" y="4410710"/>
            <a:ext cx="3459480" cy="611505"/>
          </a:xfrm>
          <a:prstGeom prst="rect">
            <a:avLst/>
          </a:prstGeom>
        </p:spPr>
      </p:pic>
      <p:pic>
        <p:nvPicPr>
          <p:cNvPr id="18" name="图片 17"/>
          <p:cNvPicPr>
            <a:picLocks noChangeAspect="1"/>
          </p:cNvPicPr>
          <p:nvPr>
            <p:custDataLst>
              <p:tags r:id="rId15"/>
            </p:custDataLst>
          </p:nvPr>
        </p:nvPicPr>
        <p:blipFill>
          <a:blip r:embed="rId16"/>
          <a:stretch>
            <a:fillRect/>
          </a:stretch>
        </p:blipFill>
        <p:spPr>
          <a:xfrm>
            <a:off x="2344420" y="4915535"/>
            <a:ext cx="2947035" cy="502920"/>
          </a:xfrm>
          <a:prstGeom prst="rect">
            <a:avLst/>
          </a:prstGeom>
        </p:spPr>
      </p:pic>
      <p:sp>
        <p:nvSpPr>
          <p:cNvPr id="19" name="文本框 18"/>
          <p:cNvSpPr txBox="1"/>
          <p:nvPr/>
        </p:nvSpPr>
        <p:spPr>
          <a:xfrm>
            <a:off x="2251075" y="5901055"/>
            <a:ext cx="5630545" cy="368300"/>
          </a:xfrm>
          <a:prstGeom prst="rect">
            <a:avLst/>
          </a:prstGeom>
          <a:noFill/>
        </p:spPr>
        <p:txBody>
          <a:bodyPr wrap="square" rtlCol="0">
            <a:spAutoFit/>
          </a:bodyPr>
          <a:p>
            <a:r>
              <a:rPr lang="zh-CN" altLang="en-US" b="1">
                <a:solidFill>
                  <a:srgbClr val="C00000"/>
                </a:solidFill>
              </a:rPr>
              <a:t>稳态下，可将格林函数映射成</a:t>
            </a:r>
            <a:r>
              <a:rPr lang="zh-CN" altLang="en-US" b="1">
                <a:solidFill>
                  <a:srgbClr val="C00000"/>
                </a:solidFill>
              </a:rPr>
              <a:t>粒子间相互作用</a:t>
            </a:r>
            <a:endParaRPr lang="zh-CN" altLang="en-US" b="1">
              <a:solidFill>
                <a:srgbClr val="C00000"/>
              </a:solidFill>
            </a:endParaRPr>
          </a:p>
        </p:txBody>
      </p:sp>
      <p:sp>
        <p:nvSpPr>
          <p:cNvPr id="3" name="文本框 2"/>
          <p:cNvSpPr txBox="1"/>
          <p:nvPr/>
        </p:nvSpPr>
        <p:spPr>
          <a:xfrm>
            <a:off x="658495" y="904240"/>
            <a:ext cx="3088640" cy="368300"/>
          </a:xfrm>
          <a:prstGeom prst="rect">
            <a:avLst/>
          </a:prstGeom>
          <a:noFill/>
        </p:spPr>
        <p:txBody>
          <a:bodyPr wrap="square" rtlCol="0">
            <a:spAutoFit/>
          </a:bodyPr>
          <a:p>
            <a:r>
              <a:rPr lang="zh-CN" altLang="en-US"/>
              <a:t>对信号场不做</a:t>
            </a:r>
            <a:r>
              <a:rPr lang="zh-CN" altLang="en-US"/>
              <a:t>近似</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553"/>
            <a:ext cx="12192000" cy="601249"/>
          </a:xfrm>
          <a:prstGeom prst="rect">
            <a:avLst/>
          </a:prstGeom>
          <a:solidFill>
            <a:srgbClr val="552E61"/>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6210" y="50165"/>
            <a:ext cx="3632835" cy="537845"/>
          </a:xfrm>
          <a:prstGeom prst="rect">
            <a:avLst/>
          </a:prstGeom>
          <a:noFill/>
        </p:spPr>
        <p:txBody>
          <a:bodyPr wrap="square" rtlCol="0">
            <a:noAutofit/>
          </a:bodyPr>
          <a:lstStyle/>
          <a:p>
            <a:r>
              <a:rPr lang="zh-CN" altLang="en-US" sz="2700" b="1" dirty="0">
                <a:solidFill>
                  <a:schemeClr val="bg1"/>
                </a:solidFill>
                <a:latin typeface="微软雅黑" panose="020B0503020204020204" pitchFamily="34" charset="-122"/>
                <a:ea typeface="微软雅黑" panose="020B0503020204020204" pitchFamily="34" charset="-122"/>
              </a:rPr>
              <a:t>总结</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125653" y="6489500"/>
            <a:ext cx="2057400" cy="365125"/>
          </a:xfrm>
        </p:spPr>
        <p:txBody>
          <a:bodyPr/>
          <a:lstStyle/>
          <a:p>
            <a:fld id="{6510895A-BA6C-4CBB-8279-3888D09C9078}" type="slidenum">
              <a:rPr lang="zh-CN" altLang="en-US" smtClean="0"/>
            </a:fld>
            <a:endParaRPr lang="zh-CN" altLang="en-US" dirty="0"/>
          </a:p>
        </p:txBody>
      </p:sp>
      <p:sp>
        <p:nvSpPr>
          <p:cNvPr id="5" name="文本框 4"/>
          <p:cNvSpPr txBox="1"/>
          <p:nvPr/>
        </p:nvSpPr>
        <p:spPr>
          <a:xfrm>
            <a:off x="638810" y="1368425"/>
            <a:ext cx="9902825" cy="3415030"/>
          </a:xfrm>
          <a:prstGeom prst="rect">
            <a:avLst/>
          </a:prstGeom>
          <a:noFill/>
        </p:spPr>
        <p:txBody>
          <a:bodyPr wrap="square" rtlCol="0">
            <a:spAutoFit/>
          </a:bodyPr>
          <a:p>
            <a:r>
              <a:rPr lang="en-US" altLang="zh-CN" sz="2400"/>
              <a:t>1.</a:t>
            </a:r>
            <a:r>
              <a:rPr lang="zh-CN" altLang="en-US" sz="2400"/>
              <a:t>启发式论证</a:t>
            </a:r>
            <a:r>
              <a:rPr lang="en-US" altLang="zh-CN" sz="2400"/>
              <a:t>MIPS</a:t>
            </a:r>
            <a:r>
              <a:rPr lang="zh-CN" altLang="en-US" sz="2400"/>
              <a:t>的不稳定性机制</a:t>
            </a:r>
            <a:endParaRPr lang="zh-CN" altLang="en-US" sz="2400"/>
          </a:p>
          <a:p>
            <a:r>
              <a:rPr lang="en-US" altLang="zh-CN" sz="2400"/>
              <a:t>2.</a:t>
            </a:r>
            <a:r>
              <a:rPr lang="zh-CN" altLang="en-US" sz="2400"/>
              <a:t>建立长时间，大尺度下的，具有群体感应相互作用的</a:t>
            </a:r>
            <a:r>
              <a:rPr lang="en-US" altLang="zh-CN" sz="2400"/>
              <a:t>RTPs</a:t>
            </a:r>
            <a:r>
              <a:rPr lang="zh-CN" altLang="en-US" sz="2400"/>
              <a:t>的动力学方程</a:t>
            </a:r>
            <a:endParaRPr lang="zh-CN" altLang="en-US" sz="2400"/>
          </a:p>
          <a:p>
            <a:r>
              <a:rPr lang="en-US" altLang="zh-CN" sz="2400"/>
              <a:t>3.</a:t>
            </a:r>
            <a:r>
              <a:rPr lang="zh-CN" altLang="en-US" sz="2400"/>
              <a:t>根据密度场的梯度展开分别讨论零级近似，一级近似以及完全形式的广义热力学</a:t>
            </a:r>
            <a:endParaRPr lang="zh-CN" altLang="en-US" sz="2400"/>
          </a:p>
          <a:p>
            <a:pPr indent="457200"/>
            <a:r>
              <a:rPr lang="zh-CN" altLang="en-US" sz="2400"/>
              <a:t>零级近似：</a:t>
            </a:r>
            <a:r>
              <a:rPr lang="en-US" altLang="zh-CN" sz="2400"/>
              <a:t>MIPS</a:t>
            </a:r>
            <a:r>
              <a:rPr lang="zh-CN" altLang="en-US" sz="2400"/>
              <a:t>可认为是气液相分离</a:t>
            </a:r>
            <a:endParaRPr lang="zh-CN" altLang="en-US" sz="2400"/>
          </a:p>
          <a:p>
            <a:pPr indent="457200"/>
            <a:r>
              <a:rPr lang="zh-CN" altLang="en-US" sz="2400"/>
              <a:t>一级近似：</a:t>
            </a:r>
            <a:r>
              <a:rPr lang="zh-CN" altLang="en-US" sz="2400">
                <a:sym typeface="+mn-ea"/>
              </a:rPr>
              <a:t>相分离是在有限空间的凝聚，而非气液相分离的有限气液密度分离；共切线消失，广义热力学下的有效压力不是状态函数</a:t>
            </a:r>
            <a:endParaRPr lang="zh-CN" altLang="en-US" sz="2400">
              <a:sym typeface="+mn-ea"/>
            </a:endParaRPr>
          </a:p>
          <a:p>
            <a:pPr indent="457200"/>
            <a:r>
              <a:rPr lang="zh-CN" altLang="en-US" sz="2400">
                <a:solidFill>
                  <a:schemeClr val="tx1"/>
                </a:solidFill>
              </a:rPr>
              <a:t>完全形式：发现稳态下格林函数（传播子）可以</a:t>
            </a:r>
            <a:r>
              <a:rPr lang="zh-CN" altLang="en-US" sz="2400">
                <a:sym typeface="+mn-ea"/>
              </a:rPr>
              <a:t>映射成</a:t>
            </a:r>
            <a:r>
              <a:rPr lang="zh-CN" altLang="en-US" sz="2400">
                <a:solidFill>
                  <a:schemeClr val="tx1"/>
                </a:solidFill>
              </a:rPr>
              <a:t>粒子间相互作用</a:t>
            </a:r>
            <a:endParaRPr lang="zh-CN" altLang="en-US" sz="2400">
              <a:solidFill>
                <a:schemeClr val="tx1"/>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commondata" val="eyJoZGlkIjoiNDFiNWEyNDFiNzViYWY5MmIwMjg0NmM3ODU1MmU3NG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2917</Words>
  <Application>WPS 演示</Application>
  <PresentationFormat>宽屏</PresentationFormat>
  <Paragraphs>368</Paragraphs>
  <Slides>19</Slides>
  <Notes>12</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19</vt:i4>
      </vt:variant>
    </vt:vector>
  </HeadingPairs>
  <TitlesOfParts>
    <vt:vector size="44" baseType="lpstr">
      <vt:lpstr>Arial</vt:lpstr>
      <vt:lpstr>宋体</vt:lpstr>
      <vt:lpstr>Wingdings</vt:lpstr>
      <vt:lpstr>微软雅黑</vt:lpstr>
      <vt:lpstr>等线</vt:lpstr>
      <vt:lpstr>Times New Roman</vt:lpstr>
      <vt:lpstr>Calibri</vt:lpstr>
      <vt:lpstr>Arial Unicode MS</vt:lpstr>
      <vt:lpstr>等线 Light</vt:lpstr>
      <vt:lpstr>Calibri Light</vt:lpstr>
      <vt:lpstr>华文仿宋</vt:lpstr>
      <vt:lpstr>Sitka Banner Semibold</vt:lpstr>
      <vt:lpstr>华康铁线龙门 W3</vt:lpstr>
      <vt:lpstr>华文隶书</vt:lpstr>
      <vt:lpstr>华光中圆_CNKI</vt:lpstr>
      <vt:lpstr>华光书宋一_CNKI</vt:lpstr>
      <vt:lpstr>华光报宋一_CNKI</vt:lpstr>
      <vt:lpstr>华光报宋二_CNKI</vt:lpstr>
      <vt:lpstr>华光行楷_CNKI</vt:lpstr>
      <vt:lpstr>华光魏体_CNKI</vt:lpstr>
      <vt:lpstr>Calibri (正文)</vt:lpstr>
      <vt:lpstr>华光中楷_CNKI</vt:lpstr>
      <vt:lpstr>DFHSGothic-W3</vt:lpstr>
      <vt:lpstr>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Junsheng Zhang</dc:creator>
  <cp:lastModifiedBy>WPS_1601999913</cp:lastModifiedBy>
  <cp:revision>373</cp:revision>
  <dcterms:created xsi:type="dcterms:W3CDTF">2022-04-23T06:28:00Z</dcterms:created>
  <dcterms:modified xsi:type="dcterms:W3CDTF">2024-06-08T06:59:08Z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8343D7986B7A4E47ADBBA2A7A9DDC911_12</vt:lpwstr>
  </property>
  <property fmtid="{D5CDD505-2E9C-101B-9397-08002B2CF9AE}" pid="3" name="KSOProductBuildVer">
    <vt:lpwstr>2052-12.1.0.16120</vt:lpwstr>
  </property>
</Properties>
</file>
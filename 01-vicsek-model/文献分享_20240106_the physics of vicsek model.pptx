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27"/>
  </p:notesMasterIdLst>
  <p:sldIdLst>
    <p:sldId id="256" r:id="rId4"/>
    <p:sldId id="269" r:id="rId5"/>
    <p:sldId id="257" r:id="rId6"/>
    <p:sldId id="270" r:id="rId7"/>
    <p:sldId id="271" r:id="rId8"/>
    <p:sldId id="261" r:id="rId9"/>
    <p:sldId id="263" r:id="rId10"/>
    <p:sldId id="288" r:id="rId11"/>
    <p:sldId id="290" r:id="rId12"/>
    <p:sldId id="291" r:id="rId13"/>
    <p:sldId id="292" r:id="rId14"/>
    <p:sldId id="293" r:id="rId15"/>
    <p:sldId id="294" r:id="rId16"/>
    <p:sldId id="264" r:id="rId17"/>
    <p:sldId id="265" r:id="rId18"/>
    <p:sldId id="266" r:id="rId19"/>
    <p:sldId id="267" r:id="rId20"/>
    <p:sldId id="273" r:id="rId21"/>
    <p:sldId id="268" r:id="rId22"/>
    <p:sldId id="295" r:id="rId23"/>
    <p:sldId id="275" r:id="rId24"/>
    <p:sldId id="274" r:id="rId25"/>
    <p:sldId id="304" r:id="rId26"/>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1" Type="http://schemas.openxmlformats.org/officeDocument/2006/relationships/tags" Target="tags/tag7.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notesMaster" Target="notesMasters/notesMaster1.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68A2A8-9140-4992-98EE-2B21115A988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8F5100-0F5E-4A32-BAB1-21EF2C2AC3E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509605C-8F3A-4BCD-B31A-F8A1DC9DF85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9A91DB5-525A-44C9-9005-1BCC5FF5E713}"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509605C-8F3A-4BCD-B31A-F8A1DC9DF85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9A91DB5-525A-44C9-9005-1BCC5FF5E713}"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509605C-8F3A-4BCD-B31A-F8A1DC9DF85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9A91DB5-525A-44C9-9005-1BCC5FF5E713}"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8509605C-8F3A-4BCD-B31A-F8A1DC9DF85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9A91DB5-525A-44C9-9005-1BCC5FF5E713}"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8509605C-8F3A-4BCD-B31A-F8A1DC9DF85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9A91DB5-525A-44C9-9005-1BCC5FF5E713}"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509605C-8F3A-4BCD-B31A-F8A1DC9DF85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9A91DB5-525A-44C9-9005-1BCC5FF5E713}"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509605C-8F3A-4BCD-B31A-F8A1DC9DF85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9A91DB5-525A-44C9-9005-1BCC5FF5E713}"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509605C-8F3A-4BCD-B31A-F8A1DC9DF85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9A91DB5-525A-44C9-9005-1BCC5FF5E713}"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509605C-8F3A-4BCD-B31A-F8A1DC9DF85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9A91DB5-525A-44C9-9005-1BCC5FF5E713}"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509605C-8F3A-4BCD-B31A-F8A1DC9DF85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9A91DB5-525A-44C9-9005-1BCC5FF5E71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509605C-8F3A-4BCD-B31A-F8A1DC9DF85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9A91DB5-525A-44C9-9005-1BCC5FF5E713}"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509605C-8F3A-4BCD-B31A-F8A1DC9DF85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9A91DB5-525A-44C9-9005-1BCC5FF5E713}"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509605C-8F3A-4BCD-B31A-F8A1DC9DF85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9A91DB5-525A-44C9-9005-1BCC5FF5E713}"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509605C-8F3A-4BCD-B31A-F8A1DC9DF85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9A91DB5-525A-44C9-9005-1BCC5FF5E713}"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8509605C-8F3A-4BCD-B31A-F8A1DC9DF85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9A91DB5-525A-44C9-9005-1BCC5FF5E713}"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8509605C-8F3A-4BCD-B31A-F8A1DC9DF85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9A91DB5-525A-44C9-9005-1BCC5FF5E713}"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509605C-8F3A-4BCD-B31A-F8A1DC9DF85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9A91DB5-525A-44C9-9005-1BCC5FF5E713}"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509605C-8F3A-4BCD-B31A-F8A1DC9DF85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9A91DB5-525A-44C9-9005-1BCC5FF5E713}"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509605C-8F3A-4BCD-B31A-F8A1DC9DF85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9A91DB5-525A-44C9-9005-1BCC5FF5E713}"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509605C-8F3A-4BCD-B31A-F8A1DC9DF85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9A91DB5-525A-44C9-9005-1BCC5FF5E713}"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509605C-8F3A-4BCD-B31A-F8A1DC9DF85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9A91DB5-525A-44C9-9005-1BCC5FF5E713}"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509605C-8F3A-4BCD-B31A-F8A1DC9DF85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9A91DB5-525A-44C9-9005-1BCC5FF5E713}"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09605C-8F3A-4BCD-B31A-F8A1DC9DF850}"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A91DB5-525A-44C9-9005-1BCC5FF5E71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09605C-8F3A-4BCD-B31A-F8A1DC9DF850}"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A91DB5-525A-44C9-9005-1BCC5FF5E71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wmf"/><Relationship Id="rId10" Type="http://schemas.openxmlformats.org/officeDocument/2006/relationships/vmlDrawing" Target="../drawings/vmlDrawing1.vml"/><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image" Target="../media/image13.png"/><Relationship Id="rId7" Type="http://schemas.openxmlformats.org/officeDocument/2006/relationships/image" Target="../media/image12.png"/><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3.png"/><Relationship Id="rId11" Type="http://schemas.openxmlformats.org/officeDocument/2006/relationships/slideLayout" Target="../slideLayouts/slideLayout2.xml"/><Relationship Id="rId10" Type="http://schemas.openxmlformats.org/officeDocument/2006/relationships/image" Target="../media/image1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22.png"/><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32.png"/><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png"/><Relationship Id="rId1" Type="http://schemas.openxmlformats.org/officeDocument/2006/relationships/image" Target="../media/image3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3.png"/><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image" Target="../media/image41.png"/><Relationship Id="rId6" Type="http://schemas.openxmlformats.org/officeDocument/2006/relationships/tags" Target="../tags/tag5.xml"/><Relationship Id="rId5" Type="http://schemas.openxmlformats.org/officeDocument/2006/relationships/image" Target="../media/image40.png"/><Relationship Id="rId4" Type="http://schemas.openxmlformats.org/officeDocument/2006/relationships/image" Target="../media/image39.png"/><Relationship Id="rId3" Type="http://schemas.openxmlformats.org/officeDocument/2006/relationships/tags" Target="../tags/tag4.xml"/><Relationship Id="rId2" Type="http://schemas.openxmlformats.org/officeDocument/2006/relationships/image" Target="../media/image38.png"/><Relationship Id="rId1" Type="http://schemas.openxmlformats.org/officeDocument/2006/relationships/tags" Target="../tags/tag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0.png"/><Relationship Id="rId7" Type="http://schemas.openxmlformats.org/officeDocument/2006/relationships/image" Target="../media/image49.png"/><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57.png"/><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image" Target="../media/image51.png"/></Relationships>
</file>

<file path=ppt/slides/_rels/slide17.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image" Target="../media/image65.png"/><Relationship Id="rId7" Type="http://schemas.openxmlformats.org/officeDocument/2006/relationships/image" Target="../media/image64.png"/><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 Id="rId3" Type="http://schemas.openxmlformats.org/officeDocument/2006/relationships/image" Target="../media/image60.png"/><Relationship Id="rId2" Type="http://schemas.openxmlformats.org/officeDocument/2006/relationships/image" Target="../media/image59.png"/><Relationship Id="rId10" Type="http://schemas.openxmlformats.org/officeDocument/2006/relationships/slideLayout" Target="../slideLayouts/slideLayout2.xml"/><Relationship Id="rId1" Type="http://schemas.openxmlformats.org/officeDocument/2006/relationships/image" Target="../media/image58.png"/></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9.png"/><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image" Target="../media/image66.png"/></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image" Target="../media/image74.png"/><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image" Target="../media/image71.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6.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7.png"/></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84.png"/><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image" Target="../media/image78.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Autofit/>
          </a:bodyPr>
          <a:lstStyle/>
          <a:p>
            <a:r>
              <a:rPr lang="en-US" altLang="zh-CN" dirty="0"/>
              <a:t>The physics of </a:t>
            </a:r>
            <a:r>
              <a:rPr lang="en-US" altLang="zh-CN" dirty="0" err="1"/>
              <a:t>vicsek</a:t>
            </a:r>
            <a:r>
              <a:rPr lang="en-US" altLang="zh-CN" dirty="0"/>
              <a:t> model</a:t>
            </a:r>
            <a:br>
              <a:rPr lang="en-US" altLang="zh-CN" dirty="0"/>
            </a:br>
            <a:r>
              <a:rPr lang="en-US" altLang="zh-CN" sz="2400" dirty="0">
                <a:solidFill>
                  <a:srgbClr val="131413"/>
                </a:solidFill>
                <a:effectLst/>
              </a:rPr>
              <a:t>Francesco </a:t>
            </a:r>
            <a:r>
              <a:rPr lang="en-US" altLang="zh-CN" sz="2400" dirty="0" err="1">
                <a:solidFill>
                  <a:srgbClr val="131413"/>
                </a:solidFill>
                <a:effectLst/>
              </a:rPr>
              <a:t>Ginelli</a:t>
            </a:r>
            <a:r>
              <a:rPr lang="en-US" altLang="zh-CN" sz="2400" dirty="0">
                <a:solidFill>
                  <a:srgbClr val="131413"/>
                </a:solidFill>
                <a:effectLst/>
              </a:rPr>
              <a:t>.</a:t>
            </a:r>
            <a:r>
              <a:rPr lang="en-US" altLang="zh-CN" sz="2400" dirty="0">
                <a:solidFill>
                  <a:srgbClr val="0000FF"/>
                </a:solidFill>
                <a:effectLst/>
              </a:rPr>
              <a:t> Eur. Phys. J. Special Topics </a:t>
            </a:r>
            <a:r>
              <a:rPr lang="en-US" altLang="zh-CN" sz="2400" dirty="0">
                <a:solidFill>
                  <a:srgbClr val="131413"/>
                </a:solidFill>
                <a:effectLst/>
              </a:rPr>
              <a:t>225, 2099–2117 (2016)</a:t>
            </a:r>
            <a:endParaRPr lang="en-US" altLang="zh-CN" sz="2400" dirty="0">
              <a:solidFill>
                <a:srgbClr val="131413"/>
              </a:solidFill>
              <a:effectLst/>
            </a:endParaRPr>
          </a:p>
        </p:txBody>
      </p:sp>
      <p:sp>
        <p:nvSpPr>
          <p:cNvPr id="3" name="副标题 2"/>
          <p:cNvSpPr>
            <a:spLocks noGrp="1"/>
          </p:cNvSpPr>
          <p:nvPr>
            <p:ph type="subTitle" idx="1"/>
          </p:nvPr>
        </p:nvSpPr>
        <p:spPr/>
        <p:txBody>
          <a:bodyPr/>
          <a:lstStyle/>
          <a:p>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64926" y="383944"/>
            <a:ext cx="10515600" cy="5758674"/>
          </a:xfrm>
        </p:spPr>
        <p:txBody>
          <a:bodyPr>
            <a:normAutofit/>
          </a:bodyPr>
          <a:lstStyle/>
          <a:p>
            <a:r>
              <a:rPr lang="en-US" altLang="zh-CN" sz="4800" dirty="0" err="1">
                <a:solidFill>
                  <a:schemeClr val="accent1"/>
                </a:solidFill>
              </a:rPr>
              <a:t>Vicsek</a:t>
            </a:r>
            <a:r>
              <a:rPr lang="en-US" altLang="zh-CN" sz="4800" dirty="0">
                <a:solidFill>
                  <a:schemeClr val="accent1"/>
                </a:solidFill>
              </a:rPr>
              <a:t> </a:t>
            </a:r>
            <a:r>
              <a:rPr lang="zh-CN" altLang="en-US" sz="4800" dirty="0">
                <a:solidFill>
                  <a:schemeClr val="accent1"/>
                </a:solidFill>
              </a:rPr>
              <a:t>模型介绍</a:t>
            </a:r>
            <a:endParaRPr lang="en-US" altLang="zh-CN" sz="4800" dirty="0">
              <a:solidFill>
                <a:schemeClr val="accent1"/>
              </a:solidFill>
            </a:endParaRPr>
          </a:p>
          <a:p>
            <a:endParaRPr lang="en-US" altLang="zh-CN" sz="4800" dirty="0">
              <a:solidFill>
                <a:schemeClr val="accent1"/>
              </a:solidFill>
            </a:endParaRPr>
          </a:p>
          <a:p>
            <a:r>
              <a:rPr lang="zh-CN" altLang="en-US" sz="4800" dirty="0">
                <a:solidFill>
                  <a:schemeClr val="accent1"/>
                </a:solidFill>
              </a:rPr>
              <a:t>相图和相变</a:t>
            </a:r>
            <a:endParaRPr lang="en-US" altLang="zh-CN" sz="4800" dirty="0">
              <a:solidFill>
                <a:schemeClr val="accent1"/>
              </a:solidFill>
            </a:endParaRPr>
          </a:p>
          <a:p>
            <a:endParaRPr lang="en-US" altLang="zh-CN" sz="4800" dirty="0">
              <a:solidFill>
                <a:schemeClr val="accent1"/>
              </a:solidFill>
            </a:endParaRPr>
          </a:p>
          <a:p>
            <a:r>
              <a:rPr lang="zh-CN" altLang="en-US" sz="4800" dirty="0">
                <a:solidFill>
                  <a:schemeClr val="accent1"/>
                </a:solidFill>
              </a:rPr>
              <a:t>长程有序</a:t>
            </a:r>
            <a:endParaRPr lang="en-US" altLang="zh-CN" sz="4800" dirty="0">
              <a:solidFill>
                <a:schemeClr val="accent1"/>
              </a:solidFill>
            </a:endParaRPr>
          </a:p>
          <a:p>
            <a:endParaRPr lang="en-US" altLang="zh-CN" sz="4800" dirty="0">
              <a:solidFill>
                <a:schemeClr val="accent1"/>
              </a:solidFill>
            </a:endParaRPr>
          </a:p>
          <a:p>
            <a:r>
              <a:rPr lang="zh-CN" altLang="en-US" sz="4800" dirty="0">
                <a:solidFill>
                  <a:schemeClr val="accent1"/>
                </a:solidFill>
              </a:rPr>
              <a:t>巨粒子数涨落</a:t>
            </a:r>
            <a:endParaRPr lang="en-US" altLang="zh-CN" sz="4800" dirty="0">
              <a:solidFill>
                <a:schemeClr val="accent1"/>
              </a:solidFill>
            </a:endParaRPr>
          </a:p>
          <a:p>
            <a:endParaRPr lang="en-US" altLang="zh-CN" sz="4800" dirty="0">
              <a:solidFill>
                <a:schemeClr val="accen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9" y="37"/>
            <a:ext cx="10515600" cy="1325563"/>
          </a:xfrm>
        </p:spPr>
        <p:txBody>
          <a:bodyPr>
            <a:normAutofit/>
          </a:bodyPr>
          <a:lstStyle/>
          <a:p>
            <a:r>
              <a:rPr lang="en-US" altLang="zh-CN" sz="4800" dirty="0" err="1">
                <a:solidFill>
                  <a:schemeClr val="accent1"/>
                </a:solidFill>
              </a:rPr>
              <a:t>Vicsek</a:t>
            </a:r>
            <a:r>
              <a:rPr lang="zh-CN" altLang="en-US" sz="4800" dirty="0">
                <a:solidFill>
                  <a:schemeClr val="accent1"/>
                </a:solidFill>
                <a:latin typeface="+mn-lt"/>
              </a:rPr>
              <a:t>模型</a:t>
            </a:r>
            <a:endParaRPr lang="zh-CN" altLang="en-US" sz="4800" dirty="0">
              <a:solidFill>
                <a:schemeClr val="accent1"/>
              </a:solidFill>
              <a:latin typeface="+mn-lt"/>
            </a:endParaRPr>
          </a:p>
        </p:txBody>
      </p:sp>
      <p:graphicFrame>
        <p:nvGraphicFramePr>
          <p:cNvPr id="5" name="对象 4"/>
          <p:cNvGraphicFramePr>
            <a:graphicFrameLocks noChangeAspect="1"/>
          </p:cNvGraphicFramePr>
          <p:nvPr/>
        </p:nvGraphicFramePr>
        <p:xfrm>
          <a:off x="4629541" y="2560341"/>
          <a:ext cx="2925763" cy="1646237"/>
        </p:xfrm>
        <a:graphic>
          <a:graphicData uri="http://schemas.openxmlformats.org/presentationml/2006/ole">
            <mc:AlternateContent xmlns:mc="http://schemas.openxmlformats.org/markup-compatibility/2006">
              <mc:Choice xmlns:v="urn:schemas-microsoft-com:vml" Requires="v">
                <p:oleObj spid="_x0000_s3" name="Latex Formula" r:id="rId1" imgW="14630400" imgH="8229600" progId="latexeqedit.Formula">
                  <p:embed/>
                </p:oleObj>
              </mc:Choice>
              <mc:Fallback>
                <p:oleObj name="Latex Formula" r:id="rId1" imgW="14630400" imgH="8229600" progId="latexeqedit.Formula">
                  <p:embed/>
                  <p:pic>
                    <p:nvPicPr>
                      <p:cNvPr id="0" name="对象 4"/>
                      <p:cNvPicPr/>
                      <p:nvPr/>
                    </p:nvPicPr>
                    <p:blipFill>
                      <a:blip r:embed="rId2"/>
                      <a:stretch>
                        <a:fillRect/>
                      </a:stretch>
                    </p:blipFill>
                    <p:spPr>
                      <a:xfrm>
                        <a:off x="4629541" y="2560341"/>
                        <a:ext cx="2925763" cy="1646237"/>
                      </a:xfrm>
                      <a:prstGeom prst="rect">
                        <a:avLst/>
                      </a:prstGeom>
                    </p:spPr>
                  </p:pic>
                </p:oleObj>
              </mc:Fallback>
            </mc:AlternateContent>
          </a:graphicData>
        </a:graphic>
      </p:graphicFrame>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0105" y="48189"/>
            <a:ext cx="5183203" cy="2651058"/>
          </a:xfrm>
          <a:prstGeom prst="rect">
            <a:avLst/>
          </a:prstGeom>
        </p:spPr>
      </p:pic>
      <p:pic>
        <p:nvPicPr>
          <p:cNvPr id="26" name="内容占位符 25"/>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421640" y="2216785"/>
            <a:ext cx="4868545" cy="596265"/>
          </a:xfrm>
        </p:spPr>
      </p:pic>
      <p:pic>
        <p:nvPicPr>
          <p:cNvPr id="28" name="图片 2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2735" y="1021080"/>
            <a:ext cx="4725035" cy="1195705"/>
          </a:xfrm>
          <a:prstGeom prst="rect">
            <a:avLst/>
          </a:prstGeom>
        </p:spPr>
      </p:pic>
      <p:grpSp>
        <p:nvGrpSpPr>
          <p:cNvPr id="14" name="组合 13"/>
          <p:cNvGrpSpPr/>
          <p:nvPr/>
        </p:nvGrpSpPr>
        <p:grpSpPr>
          <a:xfrm>
            <a:off x="629461" y="3015997"/>
            <a:ext cx="3420744" cy="583565"/>
            <a:chOff x="5742116" y="1867800"/>
            <a:chExt cx="3420746" cy="583565"/>
          </a:xfrm>
        </p:grpSpPr>
        <p:sp>
          <p:nvSpPr>
            <p:cNvPr id="6" name="文本框 5"/>
            <p:cNvSpPr txBox="1"/>
            <p:nvPr/>
          </p:nvSpPr>
          <p:spPr>
            <a:xfrm>
              <a:off x="6008181" y="1867800"/>
              <a:ext cx="3154681" cy="583565"/>
            </a:xfrm>
            <a:prstGeom prst="rect">
              <a:avLst/>
            </a:prstGeom>
            <a:noFill/>
          </p:spPr>
          <p:txBody>
            <a:bodyPr wrap="square" rtlCol="0">
              <a:spAutoFit/>
            </a:bodyPr>
            <a:lstStyle/>
            <a:p>
              <a:r>
                <a:rPr lang="zh-CN" altLang="en-US" sz="3200" dirty="0"/>
                <a:t>是归一化操作符，</a:t>
              </a:r>
              <a:endParaRPr lang="zh-CN" altLang="en-US" sz="3200" dirty="0"/>
            </a:p>
          </p:txBody>
        </p:sp>
        <p:pic>
          <p:nvPicPr>
            <p:cNvPr id="8" name="图片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42116" y="1867800"/>
              <a:ext cx="309245" cy="464185"/>
            </a:xfrm>
            <a:prstGeom prst="rect">
              <a:avLst/>
            </a:prstGeom>
          </p:spPr>
        </p:pic>
      </p:grpSp>
      <p:grpSp>
        <p:nvGrpSpPr>
          <p:cNvPr id="13" name="组合 12"/>
          <p:cNvGrpSpPr/>
          <p:nvPr/>
        </p:nvGrpSpPr>
        <p:grpSpPr>
          <a:xfrm>
            <a:off x="629464" y="3803115"/>
            <a:ext cx="5184140" cy="1086485"/>
            <a:chOff x="5777701" y="2358459"/>
            <a:chExt cx="5184140" cy="1086485"/>
          </a:xfrm>
        </p:grpSpPr>
        <p:pic>
          <p:nvPicPr>
            <p:cNvPr id="10" name="图片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777701" y="2358459"/>
              <a:ext cx="542290" cy="570230"/>
            </a:xfrm>
            <a:prstGeom prst="rect">
              <a:avLst/>
            </a:prstGeom>
          </p:spPr>
        </p:pic>
        <p:sp>
          <p:nvSpPr>
            <p:cNvPr id="11" name="文本框 10"/>
            <p:cNvSpPr txBox="1"/>
            <p:nvPr/>
          </p:nvSpPr>
          <p:spPr>
            <a:xfrm>
              <a:off x="6184101" y="2368619"/>
              <a:ext cx="4777740" cy="1076325"/>
            </a:xfrm>
            <a:prstGeom prst="rect">
              <a:avLst/>
            </a:prstGeom>
            <a:noFill/>
          </p:spPr>
          <p:txBody>
            <a:bodyPr wrap="square" rtlCol="0">
              <a:spAutoFit/>
            </a:bodyPr>
            <a:lstStyle/>
            <a:p>
              <a:r>
                <a:rPr lang="zh-CN" altLang="en-US" sz="3200" dirty="0"/>
                <a:t>是围绕目标向量做参数分布的随机旋转</a:t>
              </a:r>
              <a:endParaRPr lang="zh-CN" altLang="en-US" sz="3200" dirty="0"/>
            </a:p>
          </p:txBody>
        </p:sp>
      </p:grpSp>
      <p:pic>
        <p:nvPicPr>
          <p:cNvPr id="15" name="图片 1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087123" y="2802840"/>
            <a:ext cx="4499135" cy="377696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781550" y="1734185"/>
            <a:ext cx="8124190" cy="1011555"/>
          </a:xfrm>
          <a:prstGeom prst="rect">
            <a:avLst/>
          </a:prstGeom>
          <a:noFill/>
        </p:spPr>
        <p:txBody>
          <a:bodyPr wrap="square" rtlCol="0">
            <a:noAutofit/>
          </a:bodyPr>
          <a:lstStyle/>
          <a:p>
            <a:r>
              <a:rPr lang="zh-CN" altLang="en-US" sz="2400" dirty="0"/>
              <a:t>总能选取合适的时间和空间度量使得△</a:t>
            </a:r>
            <a:r>
              <a:rPr lang="en-US" altLang="zh-CN" sz="2400" dirty="0"/>
              <a:t>t=1</a:t>
            </a:r>
            <a:r>
              <a:rPr lang="zh-CN" altLang="en-US" sz="2400" dirty="0"/>
              <a:t>，</a:t>
            </a:r>
            <a:r>
              <a:rPr lang="en-US" altLang="zh-CN" sz="2400" dirty="0"/>
              <a:t>r=1</a:t>
            </a:r>
            <a:endParaRPr lang="en-US" altLang="zh-CN" sz="2400" dirty="0"/>
          </a:p>
          <a:p>
            <a:endParaRPr lang="en-US" altLang="zh-CN" sz="2400" dirty="0"/>
          </a:p>
          <a:p>
            <a:endParaRPr lang="en-US" altLang="zh-CN" sz="2400" dirty="0"/>
          </a:p>
          <a:p>
            <a:endParaRPr lang="zh-CN" altLang="en-US" sz="2400" dirty="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23904" y="21662"/>
            <a:ext cx="4438164" cy="1122818"/>
          </a:xfrm>
          <a:prstGeom prst="rect">
            <a:avLst/>
          </a:prstGeom>
        </p:spPr>
      </p:pic>
      <p:pic>
        <p:nvPicPr>
          <p:cNvPr id="7" name="内容占位符 2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15553" y="1120863"/>
            <a:ext cx="4438164" cy="543614"/>
          </a:xfrm>
        </p:spPr>
      </p:pic>
      <mc:AlternateContent xmlns:mc="http://schemas.openxmlformats.org/markup-compatibility/2006">
        <mc:Choice xmlns:a14="http://schemas.microsoft.com/office/drawing/2010/main" Requires="a14">
          <p:sp>
            <p:nvSpPr>
              <p:cNvPr id="12" name="文本框 11"/>
              <p:cNvSpPr txBox="1"/>
              <p:nvPr/>
            </p:nvSpPr>
            <p:spPr>
              <a:xfrm>
                <a:off x="132696" y="1664467"/>
                <a:ext cx="4367719" cy="5005705"/>
              </a:xfrm>
              <a:prstGeom prst="rect">
                <a:avLst/>
              </a:prstGeom>
              <a:noFill/>
            </p:spPr>
            <p:txBody>
              <a:bodyPr wrap="square" rtlCol="0">
                <a:spAutoFit/>
              </a:bodyPr>
              <a:lstStyle/>
              <a:p>
                <a:r>
                  <a:rPr lang="zh-CN" altLang="en-US" sz="2400" b="1" dirty="0"/>
                  <a:t>参数</a:t>
                </a:r>
                <a:endParaRPr lang="en-US" altLang="zh-CN" sz="2400" b="1" dirty="0"/>
              </a:p>
              <a:p>
                <a:endParaRPr lang="en-US" altLang="zh-CN" sz="2400" dirty="0"/>
              </a:p>
              <a:p>
                <a:r>
                  <a:rPr lang="zh-CN" altLang="en-US" sz="2400" dirty="0"/>
                  <a:t>维度 </a:t>
                </a:r>
                <a:r>
                  <a:rPr lang="en-US" altLang="zh-CN" sz="2400" dirty="0"/>
                  <a:t>d</a:t>
                </a:r>
                <a:r>
                  <a:rPr lang="zh-CN" altLang="en-US" sz="2400" dirty="0"/>
                  <a:t>（</a:t>
                </a:r>
                <a:r>
                  <a:rPr lang="en-US" altLang="zh-CN" sz="2400" dirty="0"/>
                  <a:t>=2</a:t>
                </a:r>
                <a:r>
                  <a:rPr lang="zh-CN" altLang="en-US" sz="2400" dirty="0"/>
                  <a:t>）</a:t>
                </a:r>
                <a:endParaRPr lang="en-US" altLang="zh-CN" sz="2400" dirty="0"/>
              </a:p>
              <a:p>
                <a:endParaRPr lang="en-US" altLang="zh-CN" sz="2400" dirty="0"/>
              </a:p>
              <a:p>
                <a:r>
                  <a:rPr lang="zh-CN" altLang="en-US" sz="2400" dirty="0"/>
                  <a:t>系统尺寸 </a:t>
                </a:r>
                <a:r>
                  <a:rPr lang="en-US" altLang="zh-CN" sz="2400" dirty="0"/>
                  <a:t>L</a:t>
                </a:r>
                <a:r>
                  <a:rPr lang="zh-CN" altLang="en-US" sz="2400" dirty="0"/>
                  <a:t>   </a:t>
                </a:r>
                <a:endParaRPr lang="en-US" altLang="zh-CN" sz="2400" dirty="0"/>
              </a:p>
              <a:p>
                <a:endParaRPr lang="en-US" altLang="zh-CN" sz="2400" dirty="0"/>
              </a:p>
              <a:p>
                <a:r>
                  <a:rPr lang="zh-CN" altLang="en-US" sz="2400" dirty="0"/>
                  <a:t>粒子数 </a:t>
                </a:r>
                <a:r>
                  <a:rPr lang="en-US" altLang="zh-CN" sz="2400" dirty="0"/>
                  <a:t>N →</a:t>
                </a:r>
                <a14:m>
                  <m:oMath xmlns:m="http://schemas.openxmlformats.org/officeDocument/2006/math">
                    <m:f>
                      <m:fPr>
                        <m:ctrlPr>
                          <a:rPr lang="en-US" altLang="zh-CN" sz="2400" i="1" dirty="0" smtClean="0">
                            <a:solidFill>
                              <a:srgbClr val="836967"/>
                            </a:solidFill>
                            <a:latin typeface="Cambria Math" panose="02040503050406030204" pitchFamily="18" charset="0"/>
                          </a:rPr>
                        </m:ctrlPr>
                      </m:fPr>
                      <m:num>
                        <m:r>
                          <a:rPr lang="en-US" altLang="zh-CN" sz="2400" i="1" dirty="0" smtClean="0">
                            <a:latin typeface="Cambria Math" panose="02040503050406030204" pitchFamily="18" charset="0"/>
                          </a:rPr>
                          <m:t>𝑛</m:t>
                        </m:r>
                      </m:num>
                      <m:den>
                        <m:sSup>
                          <m:sSupPr>
                            <m:ctrlPr>
                              <a:rPr lang="en-US" altLang="zh-CN" sz="2400" i="1" dirty="0" smtClean="0">
                                <a:solidFill>
                                  <a:srgbClr val="836967"/>
                                </a:solidFill>
                                <a:latin typeface="Cambria Math" panose="02040503050406030204" pitchFamily="18" charset="0"/>
                              </a:rPr>
                            </m:ctrlPr>
                          </m:sSupPr>
                          <m:e>
                            <m:r>
                              <a:rPr lang="en-US" altLang="zh-CN" sz="2400" i="1" dirty="0" smtClean="0">
                                <a:latin typeface="Cambria Math" panose="02040503050406030204" pitchFamily="18" charset="0"/>
                              </a:rPr>
                              <m:t>𝐿</m:t>
                            </m:r>
                          </m:e>
                          <m:sup>
                            <m:r>
                              <a:rPr lang="en-US" altLang="zh-CN" sz="2400" i="1" dirty="0" smtClean="0">
                                <a:latin typeface="Cambria Math" panose="02040503050406030204" pitchFamily="18" charset="0"/>
                              </a:rPr>
                              <m:t>𝑑</m:t>
                            </m:r>
                          </m:sup>
                        </m:sSup>
                      </m:den>
                    </m:f>
                    <m:r>
                      <m:rPr>
                        <m:nor/>
                      </m:rPr>
                      <a:rPr lang="en-US" altLang="zh-CN" sz="2400" dirty="0">
                        <a:latin typeface="Cambria Math" panose="02040503050406030204" pitchFamily="18" charset="0"/>
                      </a:rPr>
                      <m:t>→</m:t>
                    </m:r>
                    <m:r>
                      <m:rPr>
                        <m:nor/>
                      </m:rPr>
                      <a:rPr lang="en-US" altLang="zh-CN" sz="2400" b="0" i="0" dirty="0" smtClean="0">
                        <a:latin typeface="Cambria Math" panose="02040503050406030204" pitchFamily="18" charset="0"/>
                      </a:rPr>
                      <m:t> </m:t>
                    </m:r>
                    <m:r>
                      <a:rPr lang="zh-CN" altLang="en-US" sz="2400" i="1" dirty="0">
                        <a:latin typeface="Cambria Math" panose="02040503050406030204" pitchFamily="18" charset="0"/>
                      </a:rPr>
                      <m:t>粒子</m:t>
                    </m:r>
                    <m:r>
                      <a:rPr lang="zh-CN" altLang="en-US" sz="2400" i="1" dirty="0" smtClean="0">
                        <a:latin typeface="Cambria Math" panose="02040503050406030204" pitchFamily="18" charset="0"/>
                      </a:rPr>
                      <m:t>数密度</m:t>
                    </m:r>
                    <m:r>
                      <m:rPr>
                        <m:nor/>
                      </m:rPr>
                      <a:rPr lang="en-US" altLang="zh-CN" sz="2400" b="0" i="0" dirty="0" smtClean="0">
                        <a:latin typeface="Cambria Math" panose="02040503050406030204" pitchFamily="18" charset="0"/>
                      </a:rPr>
                      <m:t> </m:t>
                    </m:r>
                    <m:r>
                      <m:rPr>
                        <m:nor/>
                      </m:rPr>
                      <a:rPr lang="el-GR" altLang="zh-CN" sz="2400" dirty="0">
                        <a:latin typeface="Cambria Math" panose="02040503050406030204" pitchFamily="18" charset="0"/>
                      </a:rPr>
                      <m:t>ρ</m:t>
                    </m:r>
                  </m:oMath>
                </a14:m>
                <a:endParaRPr lang="en-US" altLang="zh-CN" sz="2400" dirty="0"/>
              </a:p>
              <a:p>
                <a:endParaRPr lang="en-US" altLang="zh-CN" sz="2400" dirty="0"/>
              </a:p>
              <a:p>
                <a:r>
                  <a:rPr lang="zh-CN" altLang="en-US" sz="2400" dirty="0"/>
                  <a:t>噪声强度 </a:t>
                </a:r>
                <a:r>
                  <a:rPr lang="el-GR" altLang="zh-CN" sz="2400" dirty="0"/>
                  <a:t>η</a:t>
                </a:r>
                <a:endParaRPr lang="en-US" altLang="zh-CN" sz="2400" dirty="0"/>
              </a:p>
              <a:p>
                <a:endParaRPr lang="en-US" altLang="zh-CN" sz="2400" dirty="0"/>
              </a:p>
              <a:p>
                <a:r>
                  <a:rPr lang="zh-CN" altLang="en-US" sz="2400" dirty="0"/>
                  <a:t>运动速率</a:t>
                </a:r>
                <a:endParaRPr lang="en-US" altLang="zh-CN" sz="2400" dirty="0"/>
              </a:p>
              <a:p>
                <a:endParaRPr lang="en-US" altLang="zh-CN" sz="2400" dirty="0"/>
              </a:p>
              <a:p>
                <a:r>
                  <a:rPr lang="zh-CN" altLang="en-US" sz="2400" dirty="0"/>
                  <a:t>步进时间 △</a:t>
                </a:r>
                <a:r>
                  <a:rPr lang="en-US" altLang="zh-CN" sz="2400" dirty="0"/>
                  <a:t>t</a:t>
                </a:r>
                <a:endParaRPr lang="zh-CN" altLang="en-US" sz="2400" dirty="0"/>
              </a:p>
            </p:txBody>
          </p:sp>
        </mc:Choice>
        <mc:Fallback>
          <p:sp>
            <p:nvSpPr>
              <p:cNvPr id="12" name="文本框 11"/>
              <p:cNvSpPr txBox="1">
                <a:spLocks noRot="1" noChangeAspect="1" noMove="1" noResize="1" noEditPoints="1" noAdjustHandles="1" noChangeArrowheads="1" noChangeShapeType="1" noTextEdit="1"/>
              </p:cNvSpPr>
              <p:nvPr/>
            </p:nvSpPr>
            <p:spPr>
              <a:xfrm>
                <a:off x="132696" y="1664467"/>
                <a:ext cx="4367719" cy="5005705"/>
              </a:xfrm>
              <a:prstGeom prst="rect">
                <a:avLst/>
              </a:prstGeom>
              <a:blipFill rotWithShape="1">
                <a:blip r:embed="rId3"/>
                <a:stretch>
                  <a:fillRect l="-14" t="-3" r="4" b="3"/>
                </a:stretch>
              </a:blipFill>
            </p:spPr>
            <p:txBody>
              <a:bodyPr/>
              <a:lstStyle/>
              <a:p>
                <a:r>
                  <a:rPr lang="zh-CN" altLang="en-US">
                    <a:noFill/>
                  </a:rPr>
                  <a:t> </a:t>
                </a:r>
              </a:p>
            </p:txBody>
          </p:sp>
        </mc:Fallback>
      </mc:AlternateContent>
      <p:pic>
        <p:nvPicPr>
          <p:cNvPr id="14" name="图片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32890" y="5513705"/>
            <a:ext cx="363855" cy="281305"/>
          </a:xfrm>
          <a:prstGeom prst="rect">
            <a:avLst/>
          </a:prstGeom>
        </p:spPr>
      </p:pic>
      <p:grpSp>
        <p:nvGrpSpPr>
          <p:cNvPr id="19" name="组合 18"/>
          <p:cNvGrpSpPr/>
          <p:nvPr/>
        </p:nvGrpSpPr>
        <p:grpSpPr>
          <a:xfrm>
            <a:off x="2179981" y="2404520"/>
            <a:ext cx="1579245" cy="460375"/>
            <a:chOff x="826851" y="3366175"/>
            <a:chExt cx="1579245" cy="460375"/>
          </a:xfrm>
        </p:grpSpPr>
        <p:pic>
          <p:nvPicPr>
            <p:cNvPr id="16" name="图片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6851" y="3422055"/>
              <a:ext cx="309245" cy="291465"/>
            </a:xfrm>
            <a:prstGeom prst="rect">
              <a:avLst/>
            </a:prstGeom>
          </p:spPr>
        </p:pic>
        <p:sp>
          <p:nvSpPr>
            <p:cNvPr id="18" name="文本框 17"/>
            <p:cNvSpPr txBox="1"/>
            <p:nvPr/>
          </p:nvSpPr>
          <p:spPr>
            <a:xfrm>
              <a:off x="1031956" y="3366175"/>
              <a:ext cx="1374140" cy="460375"/>
            </a:xfrm>
            <a:prstGeom prst="rect">
              <a:avLst/>
            </a:prstGeom>
            <a:noFill/>
          </p:spPr>
          <p:txBody>
            <a:bodyPr wrap="square" rtlCol="0">
              <a:spAutoFit/>
            </a:bodyPr>
            <a:lstStyle/>
            <a:p>
              <a:r>
                <a:rPr lang="zh-CN" altLang="en-US" sz="2400" dirty="0"/>
                <a:t>半径 </a:t>
              </a:r>
              <a:r>
                <a:rPr lang="en-US" altLang="zh-CN" sz="2400" dirty="0"/>
                <a:t>r</a:t>
              </a:r>
              <a:endParaRPr lang="zh-CN" altLang="en-US" sz="2400" dirty="0"/>
            </a:p>
          </p:txBody>
        </p:sp>
      </p:grpSp>
      <p:pic>
        <p:nvPicPr>
          <p:cNvPr id="21" name="图片 2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12360" y="3390900"/>
            <a:ext cx="1774825" cy="384810"/>
          </a:xfrm>
          <a:prstGeom prst="rect">
            <a:avLst/>
          </a:prstGeom>
        </p:spPr>
      </p:pic>
      <p:grpSp>
        <p:nvGrpSpPr>
          <p:cNvPr id="30" name="组合 29"/>
          <p:cNvGrpSpPr/>
          <p:nvPr/>
        </p:nvGrpSpPr>
        <p:grpSpPr>
          <a:xfrm>
            <a:off x="4781603" y="2578235"/>
            <a:ext cx="4528185" cy="1315085"/>
            <a:chOff x="4576203" y="3743942"/>
            <a:chExt cx="4528185" cy="1315085"/>
          </a:xfrm>
        </p:grpSpPr>
        <p:grpSp>
          <p:nvGrpSpPr>
            <p:cNvPr id="9" name="组合 8"/>
            <p:cNvGrpSpPr/>
            <p:nvPr/>
          </p:nvGrpSpPr>
          <p:grpSpPr>
            <a:xfrm>
              <a:off x="4576203" y="3743942"/>
              <a:ext cx="4528185" cy="1315085"/>
              <a:chOff x="2934097" y="5620109"/>
              <a:chExt cx="4528185" cy="1315085"/>
            </a:xfrm>
          </p:grpSpPr>
          <p:sp>
            <p:nvSpPr>
              <p:cNvPr id="10" name="文本框 9"/>
              <p:cNvSpPr txBox="1"/>
              <p:nvPr/>
            </p:nvSpPr>
            <p:spPr>
              <a:xfrm>
                <a:off x="2934097" y="5620109"/>
                <a:ext cx="1326515" cy="460375"/>
              </a:xfrm>
              <a:prstGeom prst="rect">
                <a:avLst/>
              </a:prstGeom>
              <a:noFill/>
            </p:spPr>
            <p:txBody>
              <a:bodyPr wrap="square" rtlCol="0">
                <a:spAutoFit/>
              </a:bodyPr>
              <a:lstStyle/>
              <a:p>
                <a:r>
                  <a:rPr lang="zh-CN" altLang="en-US" sz="2400" b="1" dirty="0"/>
                  <a:t>序参量</a:t>
                </a:r>
                <a:r>
                  <a:rPr lang="zh-CN" altLang="en-US" sz="2400" dirty="0"/>
                  <a:t>：</a:t>
                </a:r>
                <a:endParaRPr lang="zh-CN" altLang="en-US" sz="2400" dirty="0"/>
              </a:p>
            </p:txBody>
          </p:sp>
          <p:pic>
            <p:nvPicPr>
              <p:cNvPr id="11" name="图片 10"/>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a:xfrm>
                <a:off x="5097542" y="6242409"/>
                <a:ext cx="2364740" cy="692785"/>
              </a:xfrm>
              <a:prstGeom prst="rect">
                <a:avLst/>
              </a:prstGeom>
            </p:spPr>
          </p:pic>
        </p:grpSp>
        <p:pic>
          <p:nvPicPr>
            <p:cNvPr id="25" name="图片 2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60503" y="3781407"/>
              <a:ext cx="1576070" cy="422275"/>
            </a:xfrm>
            <a:prstGeom prst="rect">
              <a:avLst/>
            </a:prstGeom>
          </p:spPr>
        </p:pic>
      </p:grpSp>
      <p:pic>
        <p:nvPicPr>
          <p:cNvPr id="28" name="图片 27"/>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912360" y="4293870"/>
            <a:ext cx="2157730" cy="614680"/>
          </a:xfrm>
          <a:prstGeom prst="rect">
            <a:avLst/>
          </a:prstGeom>
        </p:spPr>
      </p:pic>
      <p:pic>
        <p:nvPicPr>
          <p:cNvPr id="29" name="图片 2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91290" y="4012565"/>
            <a:ext cx="290195" cy="271780"/>
          </a:xfrm>
          <a:prstGeom prst="rect">
            <a:avLst/>
          </a:prstGeom>
        </p:spPr>
      </p:pic>
      <mc:AlternateContent xmlns:mc="http://schemas.openxmlformats.org/markup-compatibility/2006">
        <mc:Choice xmlns:a14="http://schemas.microsoft.com/office/drawing/2010/main" Requires="a14">
          <p:sp>
            <p:nvSpPr>
              <p:cNvPr id="33" name="文本框 32"/>
              <p:cNvSpPr txBox="1"/>
              <p:nvPr/>
            </p:nvSpPr>
            <p:spPr>
              <a:xfrm>
                <a:off x="4781550" y="3855720"/>
                <a:ext cx="7209790" cy="460375"/>
              </a:xfrm>
              <a:prstGeom prst="rect">
                <a:avLst/>
              </a:prstGeom>
              <a:noFill/>
            </p:spPr>
            <p:txBody>
              <a:bodyPr wrap="square" rtlCol="0">
                <a:spAutoFit/>
              </a:bodyPr>
              <a:lstStyle/>
              <a:p>
                <a:r>
                  <a:rPr lang="zh-CN" altLang="en-US" sz="2400" b="1" dirty="0"/>
                  <a:t>控制参量</a:t>
                </a:r>
                <a:r>
                  <a:rPr lang="zh-CN" altLang="en-US" sz="2400" dirty="0"/>
                  <a:t>：噪声强度 </a:t>
                </a:r>
                <a:r>
                  <a:rPr lang="el-GR" altLang="zh-CN" sz="2400" dirty="0"/>
                  <a:t>η</a:t>
                </a:r>
                <a:r>
                  <a:rPr lang="en-US" altLang="zh-CN" sz="2400" dirty="0"/>
                  <a:t> </a:t>
                </a:r>
                <a:r>
                  <a:rPr lang="zh-CN" altLang="en-US" sz="2400" dirty="0"/>
                  <a:t>，粒子数密度 </a:t>
                </a:r>
                <a14:m>
                  <m:oMath xmlns:m="http://schemas.openxmlformats.org/officeDocument/2006/math">
                    <m:r>
                      <m:rPr>
                        <m:nor/>
                      </m:rPr>
                      <a:rPr lang="el-GR" altLang="zh-CN" sz="2400" dirty="0" smtClean="0">
                        <a:latin typeface="Cambria Math" panose="02040503050406030204" pitchFamily="18" charset="0"/>
                      </a:rPr>
                      <m:t>ρ</m:t>
                    </m:r>
                  </m:oMath>
                </a14:m>
                <a:r>
                  <a:rPr lang="zh-CN" altLang="en-US" sz="2400" dirty="0"/>
                  <a:t>，运动速率</a:t>
                </a:r>
                <a:endParaRPr lang="en-US" altLang="zh-CN" sz="2400" dirty="0"/>
              </a:p>
            </p:txBody>
          </p:sp>
        </mc:Choice>
        <mc:Fallback>
          <p:sp>
            <p:nvSpPr>
              <p:cNvPr id="33" name="文本框 32"/>
              <p:cNvSpPr txBox="1">
                <a:spLocks noRot="1" noChangeAspect="1" noMove="1" noResize="1" noEditPoints="1" noAdjustHandles="1" noChangeArrowheads="1" noChangeShapeType="1" noTextEdit="1"/>
              </p:cNvSpPr>
              <p:nvPr/>
            </p:nvSpPr>
            <p:spPr>
              <a:xfrm>
                <a:off x="4781550" y="3855720"/>
                <a:ext cx="7209790" cy="460375"/>
              </a:xfrm>
              <a:prstGeom prst="rect">
                <a:avLst/>
              </a:prstGeom>
              <a:blipFill rotWithShape="1">
                <a:blip r:embed="rId10"/>
                <a:stretch>
                  <a:fillRect/>
                </a:stretch>
              </a:blipFill>
            </p:spPr>
            <p:txBody>
              <a:bodyPr/>
              <a:lstStyle/>
              <a:p>
                <a:r>
                  <a:rPr lang="zh-CN" altLang="en-US">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64269" y="46437"/>
            <a:ext cx="10515600" cy="1596639"/>
          </a:xfrm>
        </p:spPr>
        <p:txBody>
          <a:bodyPr>
            <a:normAutofit/>
          </a:bodyPr>
          <a:lstStyle/>
          <a:p>
            <a:r>
              <a:rPr lang="zh-CN" altLang="en-US" sz="4800" dirty="0">
                <a:solidFill>
                  <a:schemeClr val="accent1"/>
                </a:solidFill>
                <a:latin typeface="+mn-lt"/>
                <a:ea typeface="+mn-lt"/>
              </a:rPr>
              <a:t>相分离和相图</a:t>
            </a:r>
            <a:endParaRPr lang="zh-CN" altLang="en-US" sz="4800" dirty="0">
              <a:solidFill>
                <a:schemeClr val="accent1"/>
              </a:solidFill>
              <a:latin typeface="+mn-lt"/>
              <a:ea typeface="+mn-lt"/>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351270" y="874395"/>
            <a:ext cx="4802505" cy="4730750"/>
          </a:xfrm>
          <a:prstGeom prst="rect">
            <a:avLst/>
          </a:prstGeom>
        </p:spPr>
      </p:pic>
      <p:sp>
        <p:nvSpPr>
          <p:cNvPr id="12" name="文本框 11"/>
          <p:cNvSpPr txBox="1"/>
          <p:nvPr/>
        </p:nvSpPr>
        <p:spPr>
          <a:xfrm>
            <a:off x="551235" y="1309249"/>
            <a:ext cx="4970834" cy="1383665"/>
          </a:xfrm>
          <a:prstGeom prst="rect">
            <a:avLst/>
          </a:prstGeom>
          <a:noFill/>
        </p:spPr>
        <p:txBody>
          <a:bodyPr wrap="square" rtlCol="0">
            <a:spAutoFit/>
          </a:bodyPr>
          <a:lstStyle/>
          <a:p>
            <a:r>
              <a:rPr lang="zh-CN" altLang="en-US" sz="2800" b="1" dirty="0">
                <a:solidFill>
                  <a:schemeClr val="tx1"/>
                </a:solidFill>
              </a:rPr>
              <a:t>高噪声</a:t>
            </a:r>
            <a:r>
              <a:rPr lang="zh-CN" altLang="en-US" sz="2800" dirty="0"/>
              <a:t>下：</a:t>
            </a:r>
            <a:endParaRPr lang="en-US" altLang="zh-CN" sz="2800" dirty="0"/>
          </a:p>
          <a:p>
            <a:r>
              <a:rPr lang="zh-CN" altLang="en-US" sz="2800" dirty="0"/>
              <a:t>由中心极限定理可得：</a:t>
            </a:r>
            <a:endParaRPr lang="en-US" altLang="zh-CN" sz="2800" dirty="0"/>
          </a:p>
          <a:p>
            <a:r>
              <a:rPr lang="zh-CN" altLang="en-US" sz="2800" dirty="0"/>
              <a:t> </a:t>
            </a:r>
            <a:endParaRPr lang="zh-CN" altLang="en-US" sz="2800" dirty="0"/>
          </a:p>
        </p:txBody>
      </p:sp>
      <p:sp>
        <p:nvSpPr>
          <p:cNvPr id="24" name="文本框 23"/>
          <p:cNvSpPr txBox="1"/>
          <p:nvPr/>
        </p:nvSpPr>
        <p:spPr>
          <a:xfrm>
            <a:off x="626193" y="3574766"/>
            <a:ext cx="2182237" cy="460375"/>
          </a:xfrm>
          <a:prstGeom prst="rect">
            <a:avLst/>
          </a:prstGeom>
          <a:noFill/>
        </p:spPr>
        <p:txBody>
          <a:bodyPr wrap="square" rtlCol="0">
            <a:spAutoFit/>
          </a:bodyPr>
          <a:lstStyle/>
          <a:p>
            <a:r>
              <a:rPr lang="zh-CN" altLang="en-US" sz="2400" b="1" dirty="0"/>
              <a:t>低噪声</a:t>
            </a:r>
            <a:r>
              <a:rPr lang="zh-CN" altLang="en-US" sz="2400" dirty="0"/>
              <a:t>下 </a:t>
            </a:r>
            <a:r>
              <a:rPr lang="en-US" altLang="zh-CN" sz="2400" dirty="0"/>
              <a:t> (</a:t>
            </a:r>
            <a:endParaRPr lang="zh-CN" altLang="en-US" sz="2400" dirty="0"/>
          </a:p>
        </p:txBody>
      </p:sp>
      <p:pic>
        <p:nvPicPr>
          <p:cNvPr id="26" name="图片 2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5515" y="3966210"/>
            <a:ext cx="1139825" cy="585470"/>
          </a:xfrm>
          <a:prstGeom prst="rect">
            <a:avLst/>
          </a:prstGeom>
        </p:spPr>
      </p:pic>
      <p:pic>
        <p:nvPicPr>
          <p:cNvPr id="28" name="图片 2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7260" y="3562985"/>
            <a:ext cx="1337310" cy="549275"/>
          </a:xfrm>
          <a:prstGeom prst="rect">
            <a:avLst/>
          </a:prstGeom>
        </p:spPr>
      </p:pic>
      <p:sp>
        <p:nvSpPr>
          <p:cNvPr id="29" name="文本框 28"/>
          <p:cNvSpPr txBox="1"/>
          <p:nvPr/>
        </p:nvSpPr>
        <p:spPr>
          <a:xfrm flipH="1">
            <a:off x="3113963" y="3599529"/>
            <a:ext cx="909916" cy="460375"/>
          </a:xfrm>
          <a:prstGeom prst="rect">
            <a:avLst/>
          </a:prstGeom>
          <a:noFill/>
        </p:spPr>
        <p:txBody>
          <a:bodyPr wrap="square" rtlCol="0">
            <a:spAutoFit/>
          </a:bodyPr>
          <a:lstStyle/>
          <a:p>
            <a:r>
              <a:rPr lang="en-US" altLang="zh-CN" sz="2400" dirty="0"/>
              <a:t>  ):</a:t>
            </a:r>
            <a:endParaRPr lang="zh-CN" altLang="en-US" sz="2400" dirty="0"/>
          </a:p>
        </p:txBody>
      </p:sp>
      <p:pic>
        <p:nvPicPr>
          <p:cNvPr id="31" name="图片 3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6300" y="5102860"/>
            <a:ext cx="2545715" cy="502285"/>
          </a:xfrm>
          <a:prstGeom prst="rect">
            <a:avLst/>
          </a:prstGeom>
        </p:spPr>
      </p:pic>
      <p:grpSp>
        <p:nvGrpSpPr>
          <p:cNvPr id="3" name="组合 2"/>
          <p:cNvGrpSpPr/>
          <p:nvPr/>
        </p:nvGrpSpPr>
        <p:grpSpPr>
          <a:xfrm>
            <a:off x="2034540" y="2353310"/>
            <a:ext cx="3039110" cy="873760"/>
            <a:chOff x="2918" y="3706"/>
            <a:chExt cx="4786" cy="1376"/>
          </a:xfrm>
        </p:grpSpPr>
        <p:pic>
          <p:nvPicPr>
            <p:cNvPr id="21" name="图片 2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89" y="3706"/>
              <a:ext cx="2315" cy="1376"/>
            </a:xfrm>
            <a:prstGeom prst="rect">
              <a:avLst/>
            </a:prstGeom>
          </p:spPr>
        </p:pic>
        <p:pic>
          <p:nvPicPr>
            <p:cNvPr id="23" name="图片 2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18" y="3838"/>
              <a:ext cx="1568" cy="924"/>
            </a:xfrm>
            <a:prstGeom prst="rect">
              <a:avLst/>
            </a:prstGeom>
          </p:spPr>
        </p:pic>
        <p:sp>
          <p:nvSpPr>
            <p:cNvPr id="32" name="文本框 31"/>
            <p:cNvSpPr txBox="1"/>
            <p:nvPr/>
          </p:nvSpPr>
          <p:spPr>
            <a:xfrm>
              <a:off x="4629" y="4083"/>
              <a:ext cx="579" cy="544"/>
            </a:xfrm>
            <a:prstGeom prst="rect">
              <a:avLst/>
            </a:prstGeom>
            <a:noFill/>
          </p:spPr>
          <p:txBody>
            <a:bodyPr wrap="square" rtlCol="0">
              <a:noAutofit/>
            </a:bodyPr>
            <a:lstStyle/>
            <a:p>
              <a:r>
                <a:rPr lang="zh-CN" altLang="en-US" dirty="0"/>
                <a:t>→</a:t>
              </a:r>
              <a:endParaRPr lang="zh-CN" altLang="en-US" dirty="0"/>
            </a:p>
          </p:txBody>
        </p:sp>
      </p:grpSp>
      <p:pic>
        <p:nvPicPr>
          <p:cNvPr id="5" name="图片 4" descr="屏幕截图 2024-01-06 184814"/>
          <p:cNvPicPr>
            <a:picLocks noChangeAspect="1"/>
          </p:cNvPicPr>
          <p:nvPr/>
        </p:nvPicPr>
        <p:blipFill>
          <a:blip r:embed="rId7"/>
          <a:stretch>
            <a:fillRect/>
          </a:stretch>
        </p:blipFill>
        <p:spPr>
          <a:xfrm>
            <a:off x="466090" y="2421255"/>
            <a:ext cx="1496695" cy="7677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30238" y="2673999"/>
            <a:ext cx="3379491" cy="611904"/>
          </a:xfrm>
        </p:spPr>
        <p:txBody>
          <a:bodyPr>
            <a:normAutofit lnSpcReduction="20000"/>
          </a:bodyPr>
          <a:lstStyle/>
          <a:p>
            <a:pPr marL="0" indent="0">
              <a:buNone/>
            </a:pPr>
            <a:r>
              <a:rPr lang="zh-CN" altLang="en-US" sz="2000" dirty="0"/>
              <a:t>把粒子的对齐理解成一种碰撞，有平均自由程</a:t>
            </a:r>
            <a:endParaRPr lang="zh-CN" altLang="en-US" sz="2000"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73363" y="3742478"/>
            <a:ext cx="1492863" cy="580825"/>
          </a:xfrm>
          <a:prstGeom prst="rect">
            <a:avLst/>
          </a:prstGeom>
        </p:spPr>
      </p:pic>
      <p:sp>
        <p:nvSpPr>
          <p:cNvPr id="6" name="文本框 5"/>
          <p:cNvSpPr txBox="1"/>
          <p:nvPr/>
        </p:nvSpPr>
        <p:spPr>
          <a:xfrm>
            <a:off x="1317625" y="1757680"/>
            <a:ext cx="2992120" cy="583565"/>
          </a:xfrm>
          <a:prstGeom prst="rect">
            <a:avLst/>
          </a:prstGeom>
          <a:noFill/>
        </p:spPr>
        <p:txBody>
          <a:bodyPr wrap="square" rtlCol="0">
            <a:spAutoFit/>
          </a:bodyPr>
          <a:lstStyle/>
          <a:p>
            <a:r>
              <a:rPr lang="zh-CN" altLang="en-US" sz="3200" dirty="0"/>
              <a:t>对齐相互作用</a:t>
            </a:r>
            <a:endParaRPr lang="zh-CN" altLang="en-US" sz="3200" dirty="0"/>
          </a:p>
        </p:txBody>
      </p:sp>
      <p:sp>
        <p:nvSpPr>
          <p:cNvPr id="7" name="文本框 6"/>
          <p:cNvSpPr txBox="1"/>
          <p:nvPr/>
        </p:nvSpPr>
        <p:spPr>
          <a:xfrm>
            <a:off x="4634157" y="1696300"/>
            <a:ext cx="942102" cy="645160"/>
          </a:xfrm>
          <a:prstGeom prst="rect">
            <a:avLst/>
          </a:prstGeom>
          <a:noFill/>
        </p:spPr>
        <p:txBody>
          <a:bodyPr wrap="square" rtlCol="0">
            <a:spAutoFit/>
          </a:bodyPr>
          <a:lstStyle/>
          <a:p>
            <a:r>
              <a:rPr lang="en-US" altLang="zh-CN" sz="3600" dirty="0"/>
              <a:t>vs</a:t>
            </a:r>
            <a:endParaRPr lang="zh-CN" altLang="en-US" sz="3600" dirty="0"/>
          </a:p>
        </p:txBody>
      </p:sp>
      <p:sp>
        <p:nvSpPr>
          <p:cNvPr id="8" name="文本框 7"/>
          <p:cNvSpPr txBox="1"/>
          <p:nvPr/>
        </p:nvSpPr>
        <p:spPr>
          <a:xfrm>
            <a:off x="6095927" y="1731225"/>
            <a:ext cx="2071991" cy="583565"/>
          </a:xfrm>
          <a:prstGeom prst="rect">
            <a:avLst/>
          </a:prstGeom>
          <a:noFill/>
        </p:spPr>
        <p:txBody>
          <a:bodyPr wrap="square" rtlCol="0">
            <a:spAutoFit/>
          </a:bodyPr>
          <a:lstStyle/>
          <a:p>
            <a:r>
              <a:rPr lang="zh-CN" altLang="en-US" sz="3200" dirty="0"/>
              <a:t>噪声</a:t>
            </a:r>
            <a:endParaRPr lang="zh-CN" altLang="en-US" sz="3200" dirty="0"/>
          </a:p>
        </p:txBody>
      </p:sp>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7086" y="3595894"/>
            <a:ext cx="1511030" cy="727874"/>
          </a:xfrm>
          <a:prstGeom prst="rect">
            <a:avLst/>
          </a:prstGeom>
        </p:spPr>
      </p:pic>
      <p:sp>
        <p:nvSpPr>
          <p:cNvPr id="13" name="文本框 12"/>
          <p:cNvSpPr txBox="1"/>
          <p:nvPr/>
        </p:nvSpPr>
        <p:spPr>
          <a:xfrm>
            <a:off x="5688745" y="2510584"/>
            <a:ext cx="3651496" cy="706755"/>
          </a:xfrm>
          <a:prstGeom prst="rect">
            <a:avLst/>
          </a:prstGeom>
          <a:noFill/>
        </p:spPr>
        <p:txBody>
          <a:bodyPr wrap="square">
            <a:spAutoFit/>
          </a:bodyPr>
          <a:lstStyle/>
          <a:p>
            <a:r>
              <a:rPr lang="zh-CN" altLang="en-US" sz="2000" dirty="0">
                <a:solidFill>
                  <a:srgbClr val="131413"/>
                </a:solidFill>
                <a:ea typeface="+mn-lt"/>
                <a:cs typeface="+mn-lt"/>
              </a:rPr>
              <a:t>自推进粒子持续长度</a:t>
            </a:r>
            <a:r>
              <a:rPr lang="en-US" altLang="zh-CN" sz="2000" dirty="0">
                <a:solidFill>
                  <a:srgbClr val="131413"/>
                </a:solidFill>
                <a:effectLst/>
                <a:ea typeface="+mn-lt"/>
                <a:cs typeface="+mn-lt"/>
              </a:rPr>
              <a:t>(SPP persistence length)</a:t>
            </a:r>
            <a:endParaRPr lang="zh-CN" altLang="en-US" sz="2000" dirty="0">
              <a:ea typeface="+mn-lt"/>
              <a:cs typeface="+mn-lt"/>
            </a:endParaRPr>
          </a:p>
        </p:txBody>
      </p:sp>
      <p:grpSp>
        <p:nvGrpSpPr>
          <p:cNvPr id="9" name="组合 8"/>
          <p:cNvGrpSpPr/>
          <p:nvPr/>
        </p:nvGrpSpPr>
        <p:grpSpPr>
          <a:xfrm>
            <a:off x="178959" y="4497268"/>
            <a:ext cx="7732395" cy="661035"/>
            <a:chOff x="405681" y="4737095"/>
            <a:chExt cx="7732395" cy="661035"/>
          </a:xfrm>
        </p:grpSpPr>
        <p:sp>
          <p:nvSpPr>
            <p:cNvPr id="14" name="文本框 13"/>
            <p:cNvSpPr txBox="1"/>
            <p:nvPr/>
          </p:nvSpPr>
          <p:spPr>
            <a:xfrm>
              <a:off x="405681" y="4814565"/>
              <a:ext cx="4099560" cy="583565"/>
            </a:xfrm>
            <a:prstGeom prst="rect">
              <a:avLst/>
            </a:prstGeom>
            <a:noFill/>
          </p:spPr>
          <p:txBody>
            <a:bodyPr wrap="square" rtlCol="0">
              <a:spAutoFit/>
            </a:bodyPr>
            <a:lstStyle/>
            <a:p>
              <a:r>
                <a:rPr lang="zh-CN" altLang="en-US" sz="3200" b="1" dirty="0"/>
                <a:t>开始向有序相转变时</a:t>
              </a:r>
              <a:r>
                <a:rPr lang="zh-CN" altLang="en-US" sz="3200" dirty="0"/>
                <a:t>： </a:t>
              </a:r>
              <a:endParaRPr lang="zh-CN" altLang="en-US" sz="3200" dirty="0"/>
            </a:p>
          </p:txBody>
        </p:sp>
        <p:pic>
          <p:nvPicPr>
            <p:cNvPr id="16" name="图片 15"/>
            <p:cNvPicPr>
              <a:picLocks noChangeAspect="1"/>
            </p:cNvPicPr>
            <p:nvPr/>
          </p:nvPicPr>
          <p:blipFill>
            <a:blip r:embed="rId3"/>
            <a:stretch>
              <a:fillRect/>
            </a:stretch>
          </p:blipFill>
          <p:spPr>
            <a:xfrm>
              <a:off x="4341411" y="4819010"/>
              <a:ext cx="1060450" cy="509270"/>
            </a:xfrm>
            <a:prstGeom prst="rect">
              <a:avLst/>
            </a:prstGeom>
          </p:spPr>
        </p:pic>
        <p:pic>
          <p:nvPicPr>
            <p:cNvPr id="18" name="图片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27056" y="4737095"/>
              <a:ext cx="1811020" cy="591185"/>
            </a:xfrm>
            <a:prstGeom prst="rect">
              <a:avLst/>
            </a:prstGeom>
          </p:spPr>
        </p:pic>
        <p:sp>
          <p:nvSpPr>
            <p:cNvPr id="19" name="文本框 18"/>
            <p:cNvSpPr txBox="1"/>
            <p:nvPr/>
          </p:nvSpPr>
          <p:spPr>
            <a:xfrm>
              <a:off x="5580931" y="4803135"/>
              <a:ext cx="2150110" cy="583565"/>
            </a:xfrm>
            <a:prstGeom prst="rect">
              <a:avLst/>
            </a:prstGeom>
            <a:noFill/>
          </p:spPr>
          <p:txBody>
            <a:bodyPr wrap="square" rtlCol="0">
              <a:spAutoFit/>
            </a:bodyPr>
            <a:lstStyle/>
            <a:p>
              <a:r>
                <a:rPr lang="zh-CN" altLang="en-US" sz="3200" b="1" dirty="0"/>
                <a:t>可得</a:t>
              </a:r>
              <a:r>
                <a:rPr lang="zh-CN" altLang="en-US" sz="3200" dirty="0"/>
                <a:t>：</a:t>
              </a:r>
              <a:endParaRPr lang="zh-CN" altLang="en-US" sz="3200" dirty="0"/>
            </a:p>
          </p:txBody>
        </p:sp>
      </p:grpSp>
      <p:sp>
        <p:nvSpPr>
          <p:cNvPr id="4" name="文本框 3"/>
          <p:cNvSpPr txBox="1"/>
          <p:nvPr/>
        </p:nvSpPr>
        <p:spPr>
          <a:xfrm>
            <a:off x="671830" y="162560"/>
            <a:ext cx="11094720" cy="1568450"/>
          </a:xfrm>
          <a:prstGeom prst="rect">
            <a:avLst/>
          </a:prstGeom>
          <a:noFill/>
        </p:spPr>
        <p:txBody>
          <a:bodyPr wrap="square">
            <a:spAutoFit/>
          </a:bodyPr>
          <a:lstStyle/>
          <a:p>
            <a:pPr marL="0" indent="0">
              <a:buNone/>
            </a:pPr>
            <a:r>
              <a:rPr lang="zh-CN" altLang="en-US" sz="3200" dirty="0">
                <a:solidFill>
                  <a:srgbClr val="FF0000"/>
                </a:solidFill>
              </a:rPr>
              <a:t>从信息的传播的角度，对齐相互作用起传递信息的作用，噪声起破坏信息的作用，如果信息能在粒子间传播，那么就能形成长程有序。</a:t>
            </a:r>
            <a:endParaRPr lang="zh-CN" altLang="en-US" sz="3200" dirty="0">
              <a:solidFill>
                <a:srgbClr val="FF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38200" y="428017"/>
            <a:ext cx="3724072" cy="583565"/>
          </a:xfrm>
          <a:prstGeom prst="rect">
            <a:avLst/>
          </a:prstGeom>
          <a:noFill/>
        </p:spPr>
        <p:txBody>
          <a:bodyPr wrap="square" rtlCol="0">
            <a:spAutoFit/>
          </a:bodyPr>
          <a:lstStyle/>
          <a:p>
            <a:r>
              <a:rPr lang="zh-CN" altLang="en-US" sz="3200" dirty="0"/>
              <a:t>本末倒置的推导</a:t>
            </a:r>
            <a:endParaRPr lang="zh-CN" altLang="en-US" sz="3200"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877310" y="400685"/>
            <a:ext cx="1270000" cy="611505"/>
          </a:xfrm>
          <a:prstGeom prst="rect">
            <a:avLst/>
          </a:prstGeom>
        </p:spPr>
      </p:pic>
      <p:sp>
        <p:nvSpPr>
          <p:cNvPr id="9" name="AutoShape 2" descr="{\displaystyle \langle \cos {\theta }\rangle =e^{-(L/P)}\,}"/>
          <p:cNvSpPr>
            <a:spLocks noChangeAspect="1" noChangeArrowheads="1"/>
          </p:cNvSpPr>
          <p:nvPr/>
        </p:nvSpPr>
        <p:spPr bwMode="auto">
          <a:xfrm>
            <a:off x="2032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20" name="图片 1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5120" y="3319780"/>
            <a:ext cx="1442720" cy="585470"/>
          </a:xfrm>
          <a:prstGeom prst="rect">
            <a:avLst/>
          </a:prstGeom>
        </p:spPr>
      </p:pic>
      <p:pic>
        <p:nvPicPr>
          <p:cNvPr id="22" name="图片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5770" y="4258945"/>
            <a:ext cx="1508125" cy="669290"/>
          </a:xfrm>
          <a:prstGeom prst="rect">
            <a:avLst/>
          </a:prstGeom>
        </p:spPr>
      </p:pic>
      <p:grpSp>
        <p:nvGrpSpPr>
          <p:cNvPr id="8" name="组合 7"/>
          <p:cNvGrpSpPr/>
          <p:nvPr/>
        </p:nvGrpSpPr>
        <p:grpSpPr>
          <a:xfrm>
            <a:off x="995045" y="2133600"/>
            <a:ext cx="9737090" cy="894080"/>
            <a:chOff x="1020449" y="2225805"/>
            <a:chExt cx="8161274" cy="751485"/>
          </a:xfrm>
        </p:grpSpPr>
        <p:pic>
          <p:nvPicPr>
            <p:cNvPr id="16" name="图片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80220" y="2295481"/>
              <a:ext cx="2973550" cy="564451"/>
            </a:xfrm>
            <a:prstGeom prst="rect">
              <a:avLst/>
            </a:prstGeom>
          </p:spPr>
        </p:pic>
        <p:pic>
          <p:nvPicPr>
            <p:cNvPr id="18" name="图片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04035" y="2257589"/>
              <a:ext cx="2777688" cy="719701"/>
            </a:xfrm>
            <a:prstGeom prst="rect">
              <a:avLst/>
            </a:prstGeom>
          </p:spPr>
        </p:pic>
        <p:pic>
          <p:nvPicPr>
            <p:cNvPr id="26" name="图片 2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0449" y="2225805"/>
              <a:ext cx="2334640" cy="720082"/>
            </a:xfrm>
            <a:prstGeom prst="rect">
              <a:avLst/>
            </a:prstGeom>
          </p:spPr>
        </p:pic>
      </p:grpSp>
      <p:pic>
        <p:nvPicPr>
          <p:cNvPr id="3" name="图片 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38200" y="1119544"/>
            <a:ext cx="10665022" cy="913739"/>
          </a:xfrm>
          <a:prstGeom prst="rect">
            <a:avLst/>
          </a:prstGeom>
        </p:spPr>
      </p:pic>
      <p:sp>
        <p:nvSpPr>
          <p:cNvPr id="6" name="文本框 5"/>
          <p:cNvSpPr txBox="1"/>
          <p:nvPr/>
        </p:nvSpPr>
        <p:spPr>
          <a:xfrm>
            <a:off x="995318" y="3433107"/>
            <a:ext cx="600018" cy="521970"/>
          </a:xfrm>
          <a:prstGeom prst="rect">
            <a:avLst/>
          </a:prstGeom>
          <a:noFill/>
        </p:spPr>
        <p:txBody>
          <a:bodyPr wrap="square" rtlCol="0">
            <a:spAutoFit/>
          </a:bodyPr>
          <a:lstStyle/>
          <a:p>
            <a:r>
              <a:rPr lang="zh-CN" altLang="en-US" sz="2800" dirty="0"/>
              <a:t>而</a:t>
            </a:r>
            <a:endParaRPr lang="zh-CN" altLang="en-US" sz="2800" dirty="0"/>
          </a:p>
        </p:txBody>
      </p:sp>
      <p:sp>
        <p:nvSpPr>
          <p:cNvPr id="7" name="文本框 6"/>
          <p:cNvSpPr txBox="1"/>
          <p:nvPr/>
        </p:nvSpPr>
        <p:spPr>
          <a:xfrm>
            <a:off x="995318" y="4259053"/>
            <a:ext cx="600018" cy="521970"/>
          </a:xfrm>
          <a:prstGeom prst="rect">
            <a:avLst/>
          </a:prstGeom>
          <a:noFill/>
        </p:spPr>
        <p:txBody>
          <a:bodyPr wrap="square" rtlCol="0">
            <a:spAutoFit/>
          </a:bodyPr>
          <a:lstStyle/>
          <a:p>
            <a:r>
              <a:rPr lang="zh-CN" altLang="en-US" sz="2800" dirty="0"/>
              <a:t>有</a:t>
            </a:r>
            <a:endParaRPr lang="zh-CN" alt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3200">
                <a:solidFill>
                  <a:schemeClr val="accent1"/>
                </a:solidFill>
                <a:latin typeface="+mn-lt"/>
                <a:ea typeface="+mn-lt"/>
                <a:sym typeface="+mn-ea"/>
              </a:rPr>
              <a:t>相变类型</a:t>
            </a:r>
            <a:endParaRPr lang="zh-CN" altLang="en-US" sz="3200"/>
          </a:p>
        </p:txBody>
      </p:sp>
      <p:sp>
        <p:nvSpPr>
          <p:cNvPr id="3" name="内容占位符 2"/>
          <p:cNvSpPr>
            <a:spLocks noGrp="1"/>
          </p:cNvSpPr>
          <p:nvPr>
            <p:ph idx="1"/>
          </p:nvPr>
        </p:nvSpPr>
        <p:spPr>
          <a:xfrm>
            <a:off x="838200" y="2413000"/>
            <a:ext cx="10515600" cy="4351338"/>
          </a:xfrm>
        </p:spPr>
        <p:txBody>
          <a:bodyPr/>
          <a:p>
            <a:r>
              <a:rPr lang="zh-CN" altLang="en-US">
                <a:ea typeface="+mn-lt"/>
                <a:cs typeface="+mn-lt"/>
                <a:sym typeface="+mn-ea"/>
              </a:rPr>
              <a:t>噪声产生的方式：外部噪声还是内部噪声</a:t>
            </a:r>
            <a:endParaRPr lang="zh-CN" altLang="en-US">
              <a:ea typeface="+mn-lt"/>
              <a:cs typeface="+mn-lt"/>
            </a:endParaRPr>
          </a:p>
          <a:p>
            <a:r>
              <a:rPr lang="zh-CN" altLang="en-US">
                <a:ea typeface="+mn-lt"/>
                <a:cs typeface="+mn-lt"/>
                <a:sym typeface="+mn-ea"/>
              </a:rPr>
              <a:t>相互作用方式：度量相互作用还是拓扑相互作用</a:t>
            </a:r>
            <a:endParaRPr lang="zh-CN" altLang="en-US">
              <a:ea typeface="+mn-lt"/>
              <a:cs typeface="+mn-lt"/>
              <a:sym typeface="+mn-ea"/>
            </a:endParaRPr>
          </a:p>
          <a:p>
            <a:r>
              <a:rPr lang="zh-CN" altLang="en-US">
                <a:ea typeface="+mn-lt"/>
                <a:cs typeface="+mn-lt"/>
                <a:sym typeface="+mn-ea"/>
              </a:rPr>
              <a:t> </a:t>
            </a:r>
            <a:r>
              <a:rPr lang="en-US" altLang="zh-CN">
                <a:ea typeface="+mn-lt"/>
                <a:cs typeface="+mn-lt"/>
                <a:sym typeface="+mn-ea"/>
              </a:rPr>
              <a:t>            </a:t>
            </a:r>
            <a:r>
              <a:rPr lang="zh-CN" altLang="en-US">
                <a:ea typeface="+mn-lt"/>
                <a:cs typeface="+mn-lt"/>
                <a:sym typeface="+mn-ea"/>
              </a:rPr>
              <a:t>和相互作用半径</a:t>
            </a:r>
            <a:r>
              <a:rPr lang="en-US" altLang="zh-CN">
                <a:ea typeface="+mn-lt"/>
                <a:cs typeface="+mn-lt"/>
                <a:sym typeface="+mn-ea"/>
              </a:rPr>
              <a:t>R</a:t>
            </a:r>
            <a:r>
              <a:rPr lang="zh-CN" altLang="en-US">
                <a:ea typeface="+mn-lt"/>
                <a:cs typeface="+mn-lt"/>
                <a:sym typeface="+mn-ea"/>
              </a:rPr>
              <a:t>的大小关系</a:t>
            </a:r>
            <a:endParaRPr lang="zh-CN" altLang="en-US">
              <a:ea typeface="+mn-lt"/>
              <a:cs typeface="+mn-lt"/>
            </a:endParaRPr>
          </a:p>
          <a:p>
            <a:endParaRPr lang="zh-CN" altLang="en-US">
              <a:ea typeface="+mn-lt"/>
              <a:cs typeface="+mn-lt"/>
              <a:sym typeface="+mn-ea"/>
            </a:endParaRPr>
          </a:p>
          <a:p>
            <a:endParaRPr lang="zh-CN" altLang="en-US"/>
          </a:p>
        </p:txBody>
      </p:sp>
      <p:pic>
        <p:nvPicPr>
          <p:cNvPr id="6" name="图片 5" descr="屏幕截图 2024-01-06 035729"/>
          <p:cNvPicPr>
            <a:picLocks noChangeAspect="1"/>
          </p:cNvPicPr>
          <p:nvPr>
            <p:custDataLst>
              <p:tags r:id="rId1"/>
            </p:custDataLst>
          </p:nvPr>
        </p:nvPicPr>
        <p:blipFill>
          <a:blip r:embed="rId2"/>
          <a:stretch>
            <a:fillRect/>
          </a:stretch>
        </p:blipFill>
        <p:spPr>
          <a:xfrm>
            <a:off x="1316990" y="3418840"/>
            <a:ext cx="1013460" cy="485140"/>
          </a:xfrm>
          <a:prstGeom prst="rect">
            <a:avLst/>
          </a:prstGeom>
        </p:spPr>
      </p:pic>
      <p:sp>
        <p:nvSpPr>
          <p:cNvPr id="4" name="文本框 3"/>
          <p:cNvSpPr txBox="1"/>
          <p:nvPr/>
        </p:nvSpPr>
        <p:spPr>
          <a:xfrm>
            <a:off x="985520" y="1588135"/>
            <a:ext cx="8361680" cy="521970"/>
          </a:xfrm>
          <a:prstGeom prst="rect">
            <a:avLst/>
          </a:prstGeom>
          <a:noFill/>
        </p:spPr>
        <p:txBody>
          <a:bodyPr wrap="square" rtlCol="0">
            <a:spAutoFit/>
          </a:bodyPr>
          <a:p>
            <a:r>
              <a:rPr lang="zh-CN" altLang="en-US" sz="2800">
                <a:ea typeface="+mn-lt"/>
                <a:cs typeface="+mn-lt"/>
                <a:sym typeface="+mn-ea"/>
              </a:rPr>
              <a:t>现在比较公认的是，相变类型受到以下几种因素影响：</a:t>
            </a:r>
            <a:endParaRPr lang="zh-CN" altLang="en-US" sz="2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684530" y="1189355"/>
            <a:ext cx="6301105" cy="3120481"/>
            <a:chOff x="1077" y="547"/>
            <a:chExt cx="9923" cy="4914"/>
          </a:xfrm>
        </p:grpSpPr>
        <p:sp>
          <p:nvSpPr>
            <p:cNvPr id="19" name="文本框 18"/>
            <p:cNvSpPr txBox="1"/>
            <p:nvPr/>
          </p:nvSpPr>
          <p:spPr>
            <a:xfrm>
              <a:off x="1077" y="547"/>
              <a:ext cx="9602" cy="822"/>
            </a:xfrm>
            <a:prstGeom prst="rect">
              <a:avLst/>
            </a:prstGeom>
            <a:noFill/>
          </p:spPr>
          <p:txBody>
            <a:bodyPr wrap="square" rtlCol="0">
              <a:spAutoFit/>
            </a:bodyPr>
            <a:lstStyle/>
            <a:p>
              <a:r>
                <a:rPr lang="zh-CN" altLang="en-US" sz="2800" dirty="0"/>
                <a:t>内部噪声</a:t>
              </a:r>
              <a:r>
                <a:rPr lang="en-US" altLang="zh-CN" sz="2800" dirty="0"/>
                <a:t>(</a:t>
              </a:r>
              <a:r>
                <a:rPr lang="zh-CN" altLang="en-US" sz="2800" dirty="0"/>
                <a:t>角度噪声）：</a:t>
              </a:r>
              <a:r>
                <a:rPr lang="zh-CN" altLang="en-US" sz="2800" dirty="0">
                  <a:solidFill>
                    <a:srgbClr val="FF0000"/>
                  </a:solidFill>
                </a:rPr>
                <a:t>二</a:t>
              </a:r>
              <a:r>
                <a:rPr lang="zh-CN" altLang="en-US" sz="2800" dirty="0">
                  <a:solidFill>
                    <a:srgbClr val="FF0000"/>
                  </a:solidFill>
                </a:rPr>
                <a:t>级相变</a:t>
              </a:r>
              <a:endParaRPr lang="zh-CN" altLang="en-US" sz="2800" dirty="0">
                <a:solidFill>
                  <a:srgbClr val="FF0000"/>
                </a:solidFill>
              </a:endParaRPr>
            </a:p>
          </p:txBody>
        </p:sp>
        <p:sp>
          <p:nvSpPr>
            <p:cNvPr id="20" name="文本框 19"/>
            <p:cNvSpPr txBox="1"/>
            <p:nvPr/>
          </p:nvSpPr>
          <p:spPr>
            <a:xfrm>
              <a:off x="1077" y="2937"/>
              <a:ext cx="9923" cy="822"/>
            </a:xfrm>
            <a:prstGeom prst="rect">
              <a:avLst/>
            </a:prstGeom>
            <a:noFill/>
          </p:spPr>
          <p:txBody>
            <a:bodyPr wrap="square" rtlCol="0">
              <a:spAutoFit/>
            </a:bodyPr>
            <a:lstStyle/>
            <a:p>
              <a:r>
                <a:rPr lang="zh-CN" altLang="en-US" sz="2800" dirty="0"/>
                <a:t>外部噪声（矢量噪声）：</a:t>
              </a:r>
              <a:r>
                <a:rPr lang="zh-CN" altLang="en-US" sz="2800" dirty="0">
                  <a:solidFill>
                    <a:srgbClr val="FF0000"/>
                  </a:solidFill>
                </a:rPr>
                <a:t>一</a:t>
              </a:r>
              <a:r>
                <a:rPr lang="zh-CN" altLang="en-US" sz="2800" dirty="0">
                  <a:solidFill>
                    <a:srgbClr val="FF0000"/>
                  </a:solidFill>
                </a:rPr>
                <a:t>级相变</a:t>
              </a:r>
              <a:endParaRPr lang="zh-CN" altLang="en-US" sz="2800" dirty="0">
                <a:solidFill>
                  <a:srgbClr val="FF0000"/>
                </a:solidFill>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93" y="3705"/>
              <a:ext cx="7107" cy="1757"/>
            </a:xfrm>
            <a:prstGeom prst="rect">
              <a:avLst/>
            </a:prstGeom>
          </p:spPr>
        </p:pic>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7" y="1252"/>
              <a:ext cx="6989" cy="1684"/>
            </a:xfrm>
            <a:prstGeom prst="rect">
              <a:avLst/>
            </a:prstGeom>
          </p:spPr>
        </p:pic>
      </p:grpSp>
      <p:grpSp>
        <p:nvGrpSpPr>
          <p:cNvPr id="4" name="组合 3"/>
          <p:cNvGrpSpPr/>
          <p:nvPr/>
        </p:nvGrpSpPr>
        <p:grpSpPr>
          <a:xfrm>
            <a:off x="434340" y="4413885"/>
            <a:ext cx="10378440" cy="2143760"/>
            <a:chOff x="904" y="5771"/>
            <a:chExt cx="16344" cy="3376"/>
          </a:xfrm>
        </p:grpSpPr>
        <p:sp>
          <p:nvSpPr>
            <p:cNvPr id="14" name="文本框 13"/>
            <p:cNvSpPr txBox="1"/>
            <p:nvPr/>
          </p:nvSpPr>
          <p:spPr>
            <a:xfrm>
              <a:off x="904" y="5771"/>
              <a:ext cx="16123" cy="1016"/>
            </a:xfrm>
            <a:prstGeom prst="rect">
              <a:avLst/>
            </a:prstGeom>
            <a:noFill/>
          </p:spPr>
          <p:txBody>
            <a:bodyPr wrap="square">
              <a:spAutoFit/>
            </a:bodyPr>
            <a:lstStyle/>
            <a:p>
              <a:r>
                <a:rPr lang="en-US" altLang="zh-CN" b="0" i="0" dirty="0">
                  <a:solidFill>
                    <a:srgbClr val="222222"/>
                  </a:solidFill>
                  <a:effectLst/>
                  <a:latin typeface="Arial" panose="020B0604020202020204" pitchFamily="34" charset="0"/>
                </a:rPr>
                <a:t>Grégoire G, </a:t>
              </a:r>
              <a:r>
                <a:rPr lang="en-US" altLang="zh-CN" b="0" i="0" dirty="0" err="1">
                  <a:solidFill>
                    <a:srgbClr val="222222"/>
                  </a:solidFill>
                  <a:effectLst/>
                  <a:latin typeface="Arial" panose="020B0604020202020204" pitchFamily="34" charset="0"/>
                </a:rPr>
                <a:t>Chaté</a:t>
              </a:r>
              <a:r>
                <a:rPr lang="en-US" altLang="zh-CN" b="0" i="0" dirty="0">
                  <a:solidFill>
                    <a:srgbClr val="222222"/>
                  </a:solidFill>
                  <a:effectLst/>
                  <a:latin typeface="Arial" panose="020B0604020202020204" pitchFamily="34" charset="0"/>
                </a:rPr>
                <a:t> H. Onset of collective and cohesive motion[J]. Physical review letters, 2004, 92(2): 025702.</a:t>
              </a:r>
              <a:endParaRPr lang="zh-CN" altLang="en-US" dirty="0"/>
            </a:p>
          </p:txBody>
        </p:sp>
        <p:grpSp>
          <p:nvGrpSpPr>
            <p:cNvPr id="3" name="组合 2"/>
            <p:cNvGrpSpPr/>
            <p:nvPr/>
          </p:nvGrpSpPr>
          <p:grpSpPr>
            <a:xfrm>
              <a:off x="904" y="6951"/>
              <a:ext cx="16344" cy="2196"/>
              <a:chOff x="904" y="6951"/>
              <a:chExt cx="16344" cy="2196"/>
            </a:xfrm>
          </p:grpSpPr>
          <p:sp>
            <p:nvSpPr>
              <p:cNvPr id="9" name="文本框 8"/>
              <p:cNvSpPr txBox="1"/>
              <p:nvPr/>
            </p:nvSpPr>
            <p:spPr>
              <a:xfrm>
                <a:off x="904" y="6951"/>
                <a:ext cx="16124" cy="1016"/>
              </a:xfrm>
              <a:prstGeom prst="rect">
                <a:avLst/>
              </a:prstGeom>
              <a:noFill/>
            </p:spPr>
            <p:txBody>
              <a:bodyPr wrap="square">
                <a:spAutoFit/>
              </a:bodyPr>
              <a:lstStyle/>
              <a:p>
                <a:r>
                  <a:rPr lang="en-US" altLang="zh-CN" b="0" i="0" dirty="0">
                    <a:solidFill>
                      <a:srgbClr val="222222"/>
                    </a:solidFill>
                    <a:effectLst/>
                    <a:latin typeface="Arial" panose="020B0604020202020204" pitchFamily="34" charset="0"/>
                  </a:rPr>
                  <a:t>Aldana M, </a:t>
                </a:r>
                <a:r>
                  <a:rPr lang="en-US" altLang="zh-CN" b="0" i="0" dirty="0" err="1">
                    <a:solidFill>
                      <a:srgbClr val="222222"/>
                    </a:solidFill>
                    <a:effectLst/>
                    <a:latin typeface="Arial" panose="020B0604020202020204" pitchFamily="34" charset="0"/>
                  </a:rPr>
                  <a:t>Dossetti</a:t>
                </a:r>
                <a:r>
                  <a:rPr lang="en-US" altLang="zh-CN" b="0" i="0" dirty="0">
                    <a:solidFill>
                      <a:srgbClr val="222222"/>
                    </a:solidFill>
                    <a:effectLst/>
                    <a:latin typeface="Arial" panose="020B0604020202020204" pitchFamily="34" charset="0"/>
                  </a:rPr>
                  <a:t> V, </a:t>
                </a:r>
                <a:r>
                  <a:rPr lang="en-US" altLang="zh-CN" b="0" i="0" dirty="0" err="1">
                    <a:solidFill>
                      <a:srgbClr val="222222"/>
                    </a:solidFill>
                    <a:effectLst/>
                    <a:latin typeface="Arial" panose="020B0604020202020204" pitchFamily="34" charset="0"/>
                  </a:rPr>
                  <a:t>Huepe</a:t>
                </a:r>
                <a:r>
                  <a:rPr lang="en-US" altLang="zh-CN" b="0" i="0" dirty="0">
                    <a:solidFill>
                      <a:srgbClr val="222222"/>
                    </a:solidFill>
                    <a:effectLst/>
                    <a:latin typeface="Arial" panose="020B0604020202020204" pitchFamily="34" charset="0"/>
                  </a:rPr>
                  <a:t> C, et al. Phase transitions in systems of self-propelled agents and related network models[J]. Physical review letters, 2007, 98(9): 095702.</a:t>
                </a:r>
                <a:endParaRPr lang="zh-CN" altLang="en-US" dirty="0"/>
              </a:p>
            </p:txBody>
          </p:sp>
          <p:sp>
            <p:nvSpPr>
              <p:cNvPr id="2" name="文本框 1"/>
              <p:cNvSpPr txBox="1"/>
              <p:nvPr/>
            </p:nvSpPr>
            <p:spPr>
              <a:xfrm>
                <a:off x="904" y="8131"/>
                <a:ext cx="16344" cy="1016"/>
              </a:xfrm>
              <a:prstGeom prst="rect">
                <a:avLst/>
              </a:prstGeom>
              <a:noFill/>
            </p:spPr>
            <p:txBody>
              <a:bodyPr wrap="square" rtlCol="0">
                <a:spAutoFit/>
              </a:bodyPr>
              <a:p>
                <a:r>
                  <a:rPr lang="zh-CN" altLang="en-US">
                    <a:latin typeface="Arial" panose="020B0604020202020204" pitchFamily="34" charset="0"/>
                    <a:cs typeface="Arial" panose="020B0604020202020204" pitchFamily="34" charset="0"/>
                  </a:rPr>
                  <a:t>Aldana M, Larralde H, Vázquez B. On the emergence of collective order in swarming systems: a recent debate[J]. International Journal of Modern Physics B, 2009, 23(18): 3661-3685.</a:t>
                </a:r>
                <a:endParaRPr lang="zh-CN" altLang="en-US">
                  <a:latin typeface="Arial" panose="020B0604020202020204" pitchFamily="34" charset="0"/>
                  <a:cs typeface="Arial" panose="020B0604020202020204" pitchFamily="34" charset="0"/>
                </a:endParaRPr>
              </a:p>
            </p:txBody>
          </p:sp>
        </p:grpSp>
      </p:grpSp>
      <p:sp>
        <p:nvSpPr>
          <p:cNvPr id="8" name="文本框 7"/>
          <p:cNvSpPr txBox="1"/>
          <p:nvPr/>
        </p:nvSpPr>
        <p:spPr>
          <a:xfrm>
            <a:off x="434340" y="426720"/>
            <a:ext cx="3068320" cy="583565"/>
          </a:xfrm>
          <a:prstGeom prst="rect">
            <a:avLst/>
          </a:prstGeom>
          <a:noFill/>
        </p:spPr>
        <p:txBody>
          <a:bodyPr wrap="square" rtlCol="0">
            <a:spAutoFit/>
          </a:bodyPr>
          <a:p>
            <a:r>
              <a:rPr lang="zh-CN" altLang="en-US" sz="3200">
                <a:solidFill>
                  <a:schemeClr val="accent1"/>
                </a:solidFill>
              </a:rPr>
              <a:t>噪声产生方式</a:t>
            </a:r>
            <a:endParaRPr lang="zh-CN" altLang="en-US" sz="3200">
              <a:solidFill>
                <a:schemeClr val="accent1"/>
              </a:solidFill>
            </a:endParaRPr>
          </a:p>
        </p:txBody>
      </p:sp>
      <p:sp>
        <p:nvSpPr>
          <p:cNvPr id="12" name="文本框 11"/>
          <p:cNvSpPr txBox="1"/>
          <p:nvPr/>
        </p:nvSpPr>
        <p:spPr>
          <a:xfrm>
            <a:off x="5986780" y="1268730"/>
            <a:ext cx="4826000" cy="368300"/>
          </a:xfrm>
          <a:prstGeom prst="rect">
            <a:avLst/>
          </a:prstGeom>
          <a:noFill/>
        </p:spPr>
        <p:txBody>
          <a:bodyPr wrap="square" rtlCol="0">
            <a:spAutoFit/>
          </a:bodyPr>
          <a:p>
            <a:r>
              <a:rPr lang="zh-CN" altLang="en-US"/>
              <a:t>（小速度</a:t>
            </a:r>
            <a:r>
              <a:rPr lang="zh-CN" altLang="en-US"/>
              <a:t>下）</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83235" y="157480"/>
            <a:ext cx="10515600" cy="1325563"/>
          </a:xfrm>
        </p:spPr>
        <p:txBody>
          <a:bodyPr/>
          <a:p>
            <a:r>
              <a:rPr lang="zh-CN" altLang="en-US" sz="3200">
                <a:solidFill>
                  <a:schemeClr val="accent1"/>
                </a:solidFill>
                <a:latin typeface="+mn-lt"/>
                <a:ea typeface="+mn-lt"/>
              </a:rPr>
              <a:t>相互作用类型</a:t>
            </a:r>
            <a:endParaRPr lang="zh-CN" altLang="en-US" sz="3200">
              <a:solidFill>
                <a:schemeClr val="accent1"/>
              </a:solidFill>
              <a:latin typeface="+mn-lt"/>
              <a:ea typeface="+mn-lt"/>
            </a:endParaRPr>
          </a:p>
        </p:txBody>
      </p:sp>
      <p:sp>
        <p:nvSpPr>
          <p:cNvPr id="4" name="文本框 3"/>
          <p:cNvSpPr txBox="1"/>
          <p:nvPr/>
        </p:nvSpPr>
        <p:spPr>
          <a:xfrm>
            <a:off x="655320" y="4645025"/>
            <a:ext cx="9705340" cy="645160"/>
          </a:xfrm>
          <a:prstGeom prst="rect">
            <a:avLst/>
          </a:prstGeom>
          <a:noFill/>
        </p:spPr>
        <p:txBody>
          <a:bodyPr wrap="square" rtlCol="0">
            <a:spAutoFit/>
          </a:bodyPr>
          <a:p>
            <a:r>
              <a:rPr lang="zh-CN" altLang="en-US"/>
              <a:t>Ginelli, F. &amp; Chaté, H. Relevance of metric-free interactions</a:t>
            </a:r>
            <a:r>
              <a:rPr lang="en-US" altLang="zh-CN"/>
              <a:t> </a:t>
            </a:r>
            <a:r>
              <a:rPr lang="zh-CN" altLang="en-US"/>
              <a:t>in flocking phenomena. Phys. Rev. Lett. 105, 168103 (2010).</a:t>
            </a:r>
            <a:endParaRPr lang="zh-CN" altLang="en-US"/>
          </a:p>
        </p:txBody>
      </p:sp>
      <p:sp>
        <p:nvSpPr>
          <p:cNvPr id="5" name="文本框 4"/>
          <p:cNvSpPr txBox="1"/>
          <p:nvPr/>
        </p:nvSpPr>
        <p:spPr>
          <a:xfrm>
            <a:off x="483235" y="1331595"/>
            <a:ext cx="10878820" cy="2676525"/>
          </a:xfrm>
          <a:prstGeom prst="rect">
            <a:avLst/>
          </a:prstGeom>
          <a:noFill/>
        </p:spPr>
        <p:txBody>
          <a:bodyPr wrap="square" rtlCol="0">
            <a:spAutoFit/>
          </a:bodyPr>
          <a:p>
            <a:r>
              <a:rPr lang="zh-CN" altLang="en-US" sz="2800"/>
              <a:t>度量相互作用：选取距离自身</a:t>
            </a:r>
            <a:r>
              <a:rPr lang="en-US" altLang="zh-CN" sz="2800"/>
              <a:t>R</a:t>
            </a:r>
            <a:r>
              <a:rPr lang="zh-CN" altLang="en-US" sz="2800"/>
              <a:t>范围内的粒子作为近邻</a:t>
            </a:r>
            <a:r>
              <a:rPr lang="en-US" altLang="zh-CN" sz="2800"/>
              <a:t>  </a:t>
            </a:r>
            <a:r>
              <a:rPr lang="zh-CN" altLang="en-US" sz="2800">
                <a:solidFill>
                  <a:srgbClr val="FF0000"/>
                </a:solidFill>
              </a:rPr>
              <a:t>二</a:t>
            </a:r>
            <a:r>
              <a:rPr lang="zh-CN" altLang="en-US" sz="2800">
                <a:solidFill>
                  <a:srgbClr val="FF0000"/>
                </a:solidFill>
              </a:rPr>
              <a:t>级相变</a:t>
            </a:r>
            <a:endParaRPr lang="zh-CN" altLang="en-US" sz="2800"/>
          </a:p>
          <a:p>
            <a:endParaRPr lang="zh-CN" altLang="en-US" sz="2800"/>
          </a:p>
          <a:p>
            <a:endParaRPr lang="zh-CN" altLang="en-US" sz="2800"/>
          </a:p>
          <a:p>
            <a:r>
              <a:rPr lang="zh-CN" altLang="en-US" sz="2800"/>
              <a:t>拓扑相互作用：选取固定</a:t>
            </a:r>
            <a:r>
              <a:rPr lang="en-US" altLang="zh-CN" sz="2800"/>
              <a:t>N</a:t>
            </a:r>
            <a:r>
              <a:rPr lang="zh-CN" altLang="en-US" sz="2800"/>
              <a:t>个粒子作为近邻，每一步都是这</a:t>
            </a:r>
            <a:r>
              <a:rPr lang="en-US" altLang="zh-CN" sz="2800"/>
              <a:t>N</a:t>
            </a:r>
            <a:r>
              <a:rPr lang="zh-CN" altLang="en-US" sz="2800"/>
              <a:t>个粒子</a:t>
            </a:r>
            <a:r>
              <a:rPr lang="en-US" altLang="zh-CN" sz="2800"/>
              <a:t> </a:t>
            </a:r>
            <a:endParaRPr lang="en-US" altLang="zh-CN" sz="2800"/>
          </a:p>
          <a:p>
            <a:r>
              <a:rPr lang="zh-CN" altLang="en-US" sz="2800">
                <a:solidFill>
                  <a:srgbClr val="FF0000"/>
                </a:solidFill>
              </a:rPr>
              <a:t>一</a:t>
            </a:r>
            <a:r>
              <a:rPr lang="zh-CN" altLang="en-US" sz="2800">
                <a:solidFill>
                  <a:srgbClr val="FF0000"/>
                </a:solidFill>
              </a:rPr>
              <a:t>级相变</a:t>
            </a:r>
            <a:endParaRPr lang="zh-CN" altLang="en-US" sz="2800">
              <a:solidFill>
                <a:srgbClr val="FF0000"/>
              </a:solidFill>
            </a:endParaRPr>
          </a:p>
          <a:p>
            <a:endParaRPr lang="zh-CN" altLang="en-US" sz="2800">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3200">
                <a:solidFill>
                  <a:schemeClr val="accent1"/>
                </a:solidFill>
                <a:latin typeface="+mn-lt"/>
                <a:ea typeface="+mn-lt"/>
                <a:cs typeface="+mn-lt"/>
                <a:sym typeface="+mn-ea"/>
              </a:rPr>
              <a:t>         </a:t>
            </a:r>
            <a:r>
              <a:rPr lang="zh-CN" altLang="en-US" sz="3200">
                <a:solidFill>
                  <a:schemeClr val="tx1"/>
                </a:solidFill>
                <a:latin typeface="+mn-lt"/>
                <a:ea typeface="+mn-lt"/>
                <a:cs typeface="+mn-lt"/>
                <a:sym typeface="+mn-ea"/>
              </a:rPr>
              <a:t>和相互作用半径</a:t>
            </a:r>
            <a:r>
              <a:rPr lang="en-US" altLang="zh-CN" sz="3200">
                <a:solidFill>
                  <a:schemeClr val="tx1"/>
                </a:solidFill>
                <a:latin typeface="+mn-lt"/>
                <a:ea typeface="+mn-lt"/>
                <a:cs typeface="+mn-lt"/>
                <a:sym typeface="+mn-ea"/>
              </a:rPr>
              <a:t>R</a:t>
            </a:r>
            <a:r>
              <a:rPr lang="zh-CN" altLang="en-US" sz="3200">
                <a:solidFill>
                  <a:schemeClr val="tx1"/>
                </a:solidFill>
                <a:latin typeface="+mn-lt"/>
                <a:ea typeface="+mn-lt"/>
                <a:cs typeface="+mn-lt"/>
                <a:sym typeface="+mn-ea"/>
              </a:rPr>
              <a:t>的大小关系</a:t>
            </a:r>
            <a:endParaRPr lang="zh-CN" altLang="en-US" sz="3200">
              <a:solidFill>
                <a:schemeClr val="tx1"/>
              </a:solidFill>
              <a:latin typeface="+mn-lt"/>
              <a:ea typeface="+mn-lt"/>
              <a:cs typeface="+mn-lt"/>
              <a:sym typeface="+mn-ea"/>
            </a:endParaRPr>
          </a:p>
        </p:txBody>
      </p:sp>
      <p:pic>
        <p:nvPicPr>
          <p:cNvPr id="6" name="图片 5" descr="屏幕截图 2024-01-06 035729"/>
          <p:cNvPicPr>
            <a:picLocks noChangeAspect="1"/>
          </p:cNvPicPr>
          <p:nvPr>
            <p:custDataLst>
              <p:tags r:id="rId1"/>
            </p:custDataLst>
          </p:nvPr>
        </p:nvPicPr>
        <p:blipFill>
          <a:blip r:embed="rId2"/>
          <a:stretch>
            <a:fillRect/>
          </a:stretch>
        </p:blipFill>
        <p:spPr>
          <a:xfrm>
            <a:off x="935990" y="785495"/>
            <a:ext cx="1013460" cy="485140"/>
          </a:xfrm>
          <a:prstGeom prst="rect">
            <a:avLst/>
          </a:prstGeom>
        </p:spPr>
      </p:pic>
      <p:sp>
        <p:nvSpPr>
          <p:cNvPr id="4" name="文本框 3"/>
          <p:cNvSpPr txBox="1"/>
          <p:nvPr/>
        </p:nvSpPr>
        <p:spPr>
          <a:xfrm>
            <a:off x="765175" y="5194300"/>
            <a:ext cx="10916285" cy="645160"/>
          </a:xfrm>
          <a:prstGeom prst="rect">
            <a:avLst/>
          </a:prstGeom>
          <a:noFill/>
        </p:spPr>
        <p:txBody>
          <a:bodyPr wrap="square" rtlCol="0">
            <a:spAutoFit/>
          </a:bodyPr>
          <a:p>
            <a:r>
              <a:rPr lang="zh-CN" altLang="en-US"/>
              <a:t>Nagy M, Daruka I, Vicsek T. New aspects of the continuous phase transition in the scalar noise model (SNM) of collective motion[J]. Physica A: Statistical Mechanics and its Applications, 2007, 373: 445-454.</a:t>
            </a:r>
            <a:endParaRPr lang="zh-CN" altLang="en-US"/>
          </a:p>
        </p:txBody>
      </p:sp>
      <p:pic>
        <p:nvPicPr>
          <p:cNvPr id="5" name="图片 4" descr="屏幕截图 2024-01-06 123040"/>
          <p:cNvPicPr>
            <a:picLocks noChangeAspect="1"/>
          </p:cNvPicPr>
          <p:nvPr/>
        </p:nvPicPr>
        <p:blipFill>
          <a:blip r:embed="rId3"/>
          <a:stretch>
            <a:fillRect/>
          </a:stretch>
        </p:blipFill>
        <p:spPr>
          <a:xfrm>
            <a:off x="7830820" y="1050925"/>
            <a:ext cx="2651760" cy="534670"/>
          </a:xfrm>
          <a:prstGeom prst="rect">
            <a:avLst/>
          </a:prstGeom>
        </p:spPr>
      </p:pic>
      <p:pic>
        <p:nvPicPr>
          <p:cNvPr id="7" name="图片 6" descr="屏幕截图 2024-01-06 123238"/>
          <p:cNvPicPr>
            <a:picLocks noChangeAspect="1"/>
          </p:cNvPicPr>
          <p:nvPr/>
        </p:nvPicPr>
        <p:blipFill>
          <a:blip r:embed="rId4"/>
          <a:stretch>
            <a:fillRect/>
          </a:stretch>
        </p:blipFill>
        <p:spPr>
          <a:xfrm>
            <a:off x="765175" y="1910080"/>
            <a:ext cx="1579245" cy="527685"/>
          </a:xfrm>
          <a:prstGeom prst="rect">
            <a:avLst/>
          </a:prstGeom>
        </p:spPr>
      </p:pic>
      <p:pic>
        <p:nvPicPr>
          <p:cNvPr id="9" name="图片 8" descr="屏幕截图 2024-01-06 123307"/>
          <p:cNvPicPr>
            <a:picLocks noChangeAspect="1"/>
          </p:cNvPicPr>
          <p:nvPr/>
        </p:nvPicPr>
        <p:blipFill>
          <a:blip r:embed="rId5"/>
          <a:stretch>
            <a:fillRect/>
          </a:stretch>
        </p:blipFill>
        <p:spPr>
          <a:xfrm>
            <a:off x="765175" y="3765550"/>
            <a:ext cx="4550410" cy="473075"/>
          </a:xfrm>
          <a:prstGeom prst="rect">
            <a:avLst/>
          </a:prstGeom>
        </p:spPr>
      </p:pic>
      <p:sp>
        <p:nvSpPr>
          <p:cNvPr id="10" name="文本框 9"/>
          <p:cNvSpPr txBox="1"/>
          <p:nvPr/>
        </p:nvSpPr>
        <p:spPr>
          <a:xfrm>
            <a:off x="3283585" y="1918335"/>
            <a:ext cx="1662430" cy="521970"/>
          </a:xfrm>
          <a:prstGeom prst="rect">
            <a:avLst/>
          </a:prstGeom>
          <a:noFill/>
        </p:spPr>
        <p:txBody>
          <a:bodyPr wrap="square" rtlCol="0">
            <a:spAutoFit/>
          </a:bodyPr>
          <a:p>
            <a:r>
              <a:rPr lang="zh-CN" altLang="en-US" sz="2800">
                <a:solidFill>
                  <a:srgbClr val="FF0000"/>
                </a:solidFill>
              </a:rPr>
              <a:t>二级相变</a:t>
            </a:r>
            <a:endParaRPr lang="zh-CN" altLang="en-US" sz="2800">
              <a:solidFill>
                <a:srgbClr val="FF0000"/>
              </a:solidFill>
            </a:endParaRPr>
          </a:p>
        </p:txBody>
      </p:sp>
      <p:grpSp>
        <p:nvGrpSpPr>
          <p:cNvPr id="13" name="组合 12"/>
          <p:cNvGrpSpPr/>
          <p:nvPr/>
        </p:nvGrpSpPr>
        <p:grpSpPr>
          <a:xfrm>
            <a:off x="765175" y="2892425"/>
            <a:ext cx="4339590" cy="521970"/>
            <a:chOff x="1205" y="4555"/>
            <a:chExt cx="6834" cy="822"/>
          </a:xfrm>
        </p:grpSpPr>
        <p:pic>
          <p:nvPicPr>
            <p:cNvPr id="8" name="图片 7" descr="屏幕截图 2024-01-06 123241"/>
            <p:cNvPicPr>
              <a:picLocks noChangeAspect="1"/>
            </p:cNvPicPr>
            <p:nvPr/>
          </p:nvPicPr>
          <p:blipFill>
            <a:blip r:embed="rId6"/>
            <a:stretch>
              <a:fillRect/>
            </a:stretch>
          </p:blipFill>
          <p:spPr>
            <a:xfrm>
              <a:off x="1205" y="4555"/>
              <a:ext cx="2342" cy="766"/>
            </a:xfrm>
            <a:prstGeom prst="rect">
              <a:avLst/>
            </a:prstGeom>
          </p:spPr>
        </p:pic>
        <p:sp>
          <p:nvSpPr>
            <p:cNvPr id="11" name="文本框 10"/>
            <p:cNvSpPr txBox="1"/>
            <p:nvPr/>
          </p:nvSpPr>
          <p:spPr>
            <a:xfrm>
              <a:off x="5171" y="4555"/>
              <a:ext cx="2868" cy="822"/>
            </a:xfrm>
            <a:prstGeom prst="rect">
              <a:avLst/>
            </a:prstGeom>
            <a:noFill/>
          </p:spPr>
          <p:txBody>
            <a:bodyPr wrap="square" rtlCol="0">
              <a:spAutoFit/>
            </a:bodyPr>
            <a:p>
              <a:r>
                <a:rPr lang="zh-CN" altLang="en-US" sz="2800">
                  <a:solidFill>
                    <a:srgbClr val="FF0000"/>
                  </a:solidFill>
                </a:rPr>
                <a:t>一级相变</a:t>
              </a:r>
              <a:endParaRPr lang="zh-CN" altLang="en-US" sz="2800">
                <a:solidFill>
                  <a:srgbClr val="FF0000"/>
                </a:solidFill>
              </a:endParaRPr>
            </a:p>
          </p:txBody>
        </p:sp>
      </p:grpSp>
      <p:sp>
        <p:nvSpPr>
          <p:cNvPr id="12" name="文本框 11"/>
          <p:cNvSpPr txBox="1"/>
          <p:nvPr/>
        </p:nvSpPr>
        <p:spPr>
          <a:xfrm>
            <a:off x="5642610" y="3788410"/>
            <a:ext cx="1687195" cy="521970"/>
          </a:xfrm>
          <a:prstGeom prst="rect">
            <a:avLst/>
          </a:prstGeom>
          <a:noFill/>
        </p:spPr>
        <p:txBody>
          <a:bodyPr wrap="square" rtlCol="0">
            <a:spAutoFit/>
          </a:bodyPr>
          <a:p>
            <a:r>
              <a:rPr lang="zh-CN" altLang="en-US" sz="2800">
                <a:solidFill>
                  <a:srgbClr val="FF0000"/>
                </a:solidFill>
              </a:rPr>
              <a:t>二级相变</a:t>
            </a:r>
            <a:endParaRPr lang="zh-CN" altLang="en-US" sz="2800">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 name="组合 12"/>
          <p:cNvGrpSpPr/>
          <p:nvPr/>
        </p:nvGrpSpPr>
        <p:grpSpPr>
          <a:xfrm>
            <a:off x="374015" y="215265"/>
            <a:ext cx="4339590" cy="521970"/>
            <a:chOff x="1205" y="4555"/>
            <a:chExt cx="6834" cy="822"/>
          </a:xfrm>
        </p:grpSpPr>
        <p:pic>
          <p:nvPicPr>
            <p:cNvPr id="8" name="图片 7" descr="屏幕截图 2024-01-06 123241"/>
            <p:cNvPicPr>
              <a:picLocks noChangeAspect="1"/>
            </p:cNvPicPr>
            <p:nvPr>
              <p:custDataLst>
                <p:tags r:id="rId1"/>
              </p:custDataLst>
            </p:nvPr>
          </p:nvPicPr>
          <p:blipFill>
            <a:blip r:embed="rId2"/>
            <a:stretch>
              <a:fillRect/>
            </a:stretch>
          </p:blipFill>
          <p:spPr>
            <a:xfrm>
              <a:off x="1205" y="4555"/>
              <a:ext cx="2342" cy="766"/>
            </a:xfrm>
            <a:prstGeom prst="rect">
              <a:avLst/>
            </a:prstGeom>
          </p:spPr>
        </p:pic>
        <p:sp>
          <p:nvSpPr>
            <p:cNvPr id="11" name="文本框 10"/>
            <p:cNvSpPr txBox="1"/>
            <p:nvPr>
              <p:custDataLst>
                <p:tags r:id="rId3"/>
              </p:custDataLst>
            </p:nvPr>
          </p:nvSpPr>
          <p:spPr>
            <a:xfrm>
              <a:off x="5171" y="4555"/>
              <a:ext cx="2868" cy="822"/>
            </a:xfrm>
            <a:prstGeom prst="rect">
              <a:avLst/>
            </a:prstGeom>
            <a:noFill/>
          </p:spPr>
          <p:txBody>
            <a:bodyPr wrap="square" rtlCol="0">
              <a:spAutoFit/>
            </a:bodyPr>
            <a:p>
              <a:r>
                <a:rPr lang="en-US" altLang="zh-CN" sz="2800">
                  <a:solidFill>
                    <a:srgbClr val="FF0000"/>
                  </a:solidFill>
                </a:rPr>
                <a:t>“</a:t>
              </a:r>
              <a:r>
                <a:rPr lang="zh-CN" altLang="en-US" sz="2800">
                  <a:solidFill>
                    <a:srgbClr val="FF0000"/>
                  </a:solidFill>
                </a:rPr>
                <a:t>一级相变</a:t>
              </a:r>
              <a:r>
                <a:rPr lang="en-US" altLang="zh-CN" sz="2800">
                  <a:solidFill>
                    <a:srgbClr val="FF0000"/>
                  </a:solidFill>
                </a:rPr>
                <a:t>”</a:t>
              </a:r>
              <a:endParaRPr lang="en-US" altLang="zh-CN" sz="2800">
                <a:solidFill>
                  <a:srgbClr val="FF0000"/>
                </a:solidFill>
              </a:endParaRPr>
            </a:p>
          </p:txBody>
        </p:sp>
      </p:grpSp>
      <p:pic>
        <p:nvPicPr>
          <p:cNvPr id="5" name="图片 4" descr="1"/>
          <p:cNvPicPr>
            <a:picLocks noChangeAspect="1"/>
          </p:cNvPicPr>
          <p:nvPr/>
        </p:nvPicPr>
        <p:blipFill>
          <a:blip r:embed="rId4"/>
          <a:stretch>
            <a:fillRect/>
          </a:stretch>
        </p:blipFill>
        <p:spPr>
          <a:xfrm>
            <a:off x="7702550" y="1479550"/>
            <a:ext cx="4339590" cy="1786890"/>
          </a:xfrm>
          <a:prstGeom prst="rect">
            <a:avLst/>
          </a:prstGeom>
        </p:spPr>
      </p:pic>
      <p:sp>
        <p:nvSpPr>
          <p:cNvPr id="6" name="文本框 5"/>
          <p:cNvSpPr txBox="1"/>
          <p:nvPr/>
        </p:nvSpPr>
        <p:spPr>
          <a:xfrm>
            <a:off x="845820" y="4180205"/>
            <a:ext cx="4755515" cy="460375"/>
          </a:xfrm>
          <a:prstGeom prst="rect">
            <a:avLst/>
          </a:prstGeom>
          <a:noFill/>
        </p:spPr>
        <p:txBody>
          <a:bodyPr wrap="square" rtlCol="0">
            <a:spAutoFit/>
          </a:bodyPr>
          <a:p>
            <a:r>
              <a:rPr lang="zh-CN" altLang="en-US" sz="2400"/>
              <a:t>旅行带的方向取决于边界的对称性</a:t>
            </a:r>
            <a:endParaRPr lang="zh-CN" altLang="en-US" sz="2400"/>
          </a:p>
        </p:txBody>
      </p:sp>
      <p:sp>
        <p:nvSpPr>
          <p:cNvPr id="7" name="文本框 6"/>
          <p:cNvSpPr txBox="1"/>
          <p:nvPr/>
        </p:nvSpPr>
        <p:spPr>
          <a:xfrm>
            <a:off x="845820" y="4798060"/>
            <a:ext cx="10573385" cy="1568450"/>
          </a:xfrm>
          <a:prstGeom prst="rect">
            <a:avLst/>
          </a:prstGeom>
          <a:noFill/>
        </p:spPr>
        <p:txBody>
          <a:bodyPr wrap="square" rtlCol="0">
            <a:spAutoFit/>
          </a:bodyPr>
          <a:p>
            <a:r>
              <a:rPr lang="en-US" altLang="zh-CN" sz="2400"/>
              <a:t>vicsek</a:t>
            </a:r>
            <a:r>
              <a:rPr lang="zh-CN" altLang="en-US" sz="2400"/>
              <a:t>等人认为旅行带的形成并不是系统的固有属性，而是周期性边界条件的人为因素</a:t>
            </a:r>
            <a:endParaRPr lang="zh-CN" altLang="en-US" sz="2400"/>
          </a:p>
          <a:p>
            <a:r>
              <a:rPr lang="zh-CN" altLang="en-US" sz="2400"/>
              <a:t>在总结中说边界条件的存在，使得我们无法得出关于大速度状态下的物理状态的任何</a:t>
            </a:r>
            <a:r>
              <a:rPr lang="zh-CN" altLang="en-US" sz="2400"/>
              <a:t>结论</a:t>
            </a:r>
            <a:endParaRPr lang="zh-CN" altLang="en-US" sz="2400"/>
          </a:p>
        </p:txBody>
      </p:sp>
      <p:pic>
        <p:nvPicPr>
          <p:cNvPr id="9" name="图片 8" descr="第7页-3"/>
          <p:cNvPicPr>
            <a:picLocks noChangeAspect="1"/>
          </p:cNvPicPr>
          <p:nvPr/>
        </p:nvPicPr>
        <p:blipFill>
          <a:blip r:embed="rId5"/>
          <a:stretch>
            <a:fillRect/>
          </a:stretch>
        </p:blipFill>
        <p:spPr>
          <a:xfrm>
            <a:off x="4965065" y="1404620"/>
            <a:ext cx="2258060" cy="1936750"/>
          </a:xfrm>
          <a:prstGeom prst="rect">
            <a:avLst/>
          </a:prstGeom>
        </p:spPr>
      </p:pic>
      <p:pic>
        <p:nvPicPr>
          <p:cNvPr id="10" name="图片 9"/>
          <p:cNvPicPr>
            <a:picLocks noChangeAspect="1"/>
          </p:cNvPicPr>
          <p:nvPr>
            <p:custDataLst>
              <p:tags r:id="rId6"/>
            </p:custDataLst>
          </p:nvPr>
        </p:nvPicPr>
        <p:blipFill>
          <a:blip r:embed="rId7">
            <a:extLst>
              <a:ext uri="{28A0092B-C50C-407E-A947-70E740481C1C}">
                <a14:useLocalDpi xmlns:a14="http://schemas.microsoft.com/office/drawing/2010/main" val="0"/>
              </a:ext>
            </a:extLst>
          </a:blip>
          <a:stretch>
            <a:fillRect/>
          </a:stretch>
        </p:blipFill>
        <p:spPr>
          <a:xfrm>
            <a:off x="659765" y="1120775"/>
            <a:ext cx="3244215" cy="29019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类vicsek模型"/>
          <p:cNvPicPr>
            <a:picLocks noChangeAspect="1"/>
          </p:cNvPicPr>
          <p:nvPr/>
        </p:nvPicPr>
        <p:blipFill>
          <a:blip r:embed="rId1"/>
          <a:stretch>
            <a:fillRect/>
          </a:stretch>
        </p:blipFill>
        <p:spPr>
          <a:xfrm>
            <a:off x="0" y="-55880"/>
            <a:ext cx="7536815" cy="6913880"/>
          </a:xfrm>
          <a:prstGeom prst="rect">
            <a:avLst/>
          </a:prstGeom>
        </p:spPr>
      </p:pic>
      <p:sp>
        <p:nvSpPr>
          <p:cNvPr id="6" name="文本框 5"/>
          <p:cNvSpPr txBox="1"/>
          <p:nvPr/>
        </p:nvSpPr>
        <p:spPr>
          <a:xfrm>
            <a:off x="8246745" y="5586095"/>
            <a:ext cx="3863340" cy="1198880"/>
          </a:xfrm>
          <a:prstGeom prst="rect">
            <a:avLst/>
          </a:prstGeom>
          <a:noFill/>
        </p:spPr>
        <p:txBody>
          <a:bodyPr wrap="square" rtlCol="0">
            <a:spAutoFit/>
          </a:bodyPr>
          <a:p>
            <a:r>
              <a:rPr lang="zh-CN" altLang="en-US"/>
              <a:t>Shaebani M R, Wysocki A, Winkler R G, et al. Computational models for active matter[J]. Nature Reviews Physics, 2020, 2(4): 181-199.</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2430" y="668020"/>
            <a:ext cx="11597640" cy="1269365"/>
          </a:xfrm>
        </p:spPr>
        <p:txBody>
          <a:bodyPr>
            <a:normAutofit/>
          </a:bodyPr>
          <a:lstStyle/>
          <a:p>
            <a:r>
              <a:rPr lang="en-US" altLang="zh-CN" sz="2800" dirty="0">
                <a:solidFill>
                  <a:srgbClr val="FF0000"/>
                </a:solidFill>
                <a:latin typeface="+mn-lt"/>
                <a:ea typeface="+mn-lt"/>
                <a:cs typeface="+mn-lt"/>
              </a:rPr>
              <a:t>M</a:t>
            </a:r>
            <a:r>
              <a:rPr lang="en-US" altLang="zh-CN" sz="2800" dirty="0">
                <a:solidFill>
                  <a:srgbClr val="FF0000"/>
                </a:solidFill>
                <a:effectLst/>
                <a:latin typeface="+mn-lt"/>
                <a:ea typeface="+mn-lt"/>
                <a:cs typeface="+mn-lt"/>
              </a:rPr>
              <a:t>ermin-</a:t>
            </a:r>
            <a:r>
              <a:rPr lang="en-US" altLang="zh-CN" sz="2800" dirty="0">
                <a:solidFill>
                  <a:srgbClr val="FF0000"/>
                </a:solidFill>
                <a:latin typeface="+mn-lt"/>
                <a:ea typeface="+mn-lt"/>
                <a:cs typeface="+mn-lt"/>
              </a:rPr>
              <a:t>W</a:t>
            </a:r>
            <a:r>
              <a:rPr lang="en-US" altLang="zh-CN" sz="2800" dirty="0">
                <a:solidFill>
                  <a:srgbClr val="FF0000"/>
                </a:solidFill>
                <a:effectLst/>
                <a:latin typeface="+mn-lt"/>
                <a:ea typeface="+mn-lt"/>
                <a:cs typeface="+mn-lt"/>
              </a:rPr>
              <a:t>agner </a:t>
            </a:r>
            <a:r>
              <a:rPr lang="zh-CN" altLang="en-US" sz="2800" dirty="0">
                <a:solidFill>
                  <a:srgbClr val="FF0000"/>
                </a:solidFill>
                <a:effectLst/>
                <a:latin typeface="+mn-lt"/>
                <a:ea typeface="+mn-lt"/>
                <a:cs typeface="+mn-lt"/>
              </a:rPr>
              <a:t>定理指出：在二维空间中打破连续对称的系统都不能实现长程序</a:t>
            </a:r>
            <a:endParaRPr lang="zh-CN" altLang="en-US" sz="2800" dirty="0">
              <a:solidFill>
                <a:srgbClr val="FF0000"/>
              </a:solidFill>
              <a:effectLst/>
              <a:latin typeface="+mn-lt"/>
              <a:ea typeface="+mn-lt"/>
              <a:cs typeface="+mn-lt"/>
            </a:endParaRPr>
          </a:p>
        </p:txBody>
      </p:sp>
      <p:sp>
        <p:nvSpPr>
          <p:cNvPr id="3" name="内容占位符 2"/>
          <p:cNvSpPr>
            <a:spLocks noGrp="1"/>
          </p:cNvSpPr>
          <p:nvPr>
            <p:ph idx="1"/>
          </p:nvPr>
        </p:nvSpPr>
        <p:spPr>
          <a:xfrm>
            <a:off x="838200" y="1825625"/>
            <a:ext cx="10515600" cy="1712705"/>
          </a:xfrm>
        </p:spPr>
        <p:txBody>
          <a:bodyPr>
            <a:noAutofit/>
          </a:bodyPr>
          <a:lstStyle/>
          <a:p>
            <a:r>
              <a:rPr lang="en-US" altLang="zh-CN" sz="2400" dirty="0" err="1">
                <a:ea typeface="+mn-lt"/>
                <a:cs typeface="+mn-lt"/>
              </a:rPr>
              <a:t>xy</a:t>
            </a:r>
            <a:r>
              <a:rPr lang="zh-CN" altLang="en-US" sz="2400" dirty="0">
                <a:ea typeface="+mn-lt"/>
                <a:cs typeface="+mn-lt"/>
              </a:rPr>
              <a:t>模型不存在长程序，相变类型是</a:t>
            </a:r>
            <a:r>
              <a:rPr lang="en-US" altLang="zh-CN" sz="2400" dirty="0">
                <a:ea typeface="+mn-lt"/>
                <a:cs typeface="+mn-lt"/>
              </a:rPr>
              <a:t>KT</a:t>
            </a:r>
            <a:r>
              <a:rPr lang="zh-CN" altLang="en-US" sz="2400" dirty="0">
                <a:ea typeface="+mn-lt"/>
                <a:cs typeface="+mn-lt"/>
              </a:rPr>
              <a:t>相变</a:t>
            </a:r>
            <a:endParaRPr lang="en-US" altLang="zh-CN" sz="2400" dirty="0">
              <a:ea typeface="+mn-lt"/>
              <a:cs typeface="+mn-lt"/>
            </a:endParaRPr>
          </a:p>
          <a:p>
            <a:endParaRPr lang="en-US" altLang="zh-CN" sz="2400" dirty="0">
              <a:ea typeface="+mn-lt"/>
              <a:cs typeface="+mn-lt"/>
            </a:endParaRPr>
          </a:p>
          <a:p>
            <a:r>
              <a:rPr lang="en-US" altLang="zh-CN" sz="2400" dirty="0" err="1">
                <a:ea typeface="+mn-lt"/>
                <a:cs typeface="+mn-lt"/>
              </a:rPr>
              <a:t>Vicsek</a:t>
            </a:r>
            <a:r>
              <a:rPr lang="zh-CN" altLang="en-US" sz="2400" dirty="0">
                <a:ea typeface="+mn-lt"/>
                <a:cs typeface="+mn-lt"/>
              </a:rPr>
              <a:t>模型具有长程序</a:t>
            </a:r>
            <a:endParaRPr lang="en-US" altLang="zh-CN" sz="2400" dirty="0">
              <a:ea typeface="+mn-lt"/>
              <a:cs typeface="+mn-lt"/>
            </a:endParaRPr>
          </a:p>
          <a:p>
            <a:endParaRPr lang="en-US" altLang="zh-CN" sz="2400" dirty="0">
              <a:ea typeface="+mn-lt"/>
              <a:cs typeface="+mn-lt"/>
            </a:endParaRPr>
          </a:p>
          <a:p>
            <a:r>
              <a:rPr lang="en-US" altLang="zh-CN" sz="2400" dirty="0">
                <a:solidFill>
                  <a:srgbClr val="131413"/>
                </a:solidFill>
                <a:ea typeface="+mn-lt"/>
                <a:cs typeface="+mn-lt"/>
              </a:rPr>
              <a:t>M</a:t>
            </a:r>
            <a:r>
              <a:rPr lang="en-US" altLang="zh-CN" sz="2400" dirty="0">
                <a:solidFill>
                  <a:srgbClr val="131413"/>
                </a:solidFill>
                <a:effectLst/>
                <a:ea typeface="+mn-lt"/>
                <a:cs typeface="+mn-lt"/>
              </a:rPr>
              <a:t>ermin-</a:t>
            </a:r>
            <a:r>
              <a:rPr lang="en-US" altLang="zh-CN" sz="2400" dirty="0">
                <a:solidFill>
                  <a:srgbClr val="131413"/>
                </a:solidFill>
                <a:ea typeface="+mn-lt"/>
                <a:cs typeface="+mn-lt"/>
              </a:rPr>
              <a:t>W</a:t>
            </a:r>
            <a:r>
              <a:rPr lang="en-US" altLang="zh-CN" sz="2400" dirty="0">
                <a:solidFill>
                  <a:srgbClr val="131413"/>
                </a:solidFill>
                <a:effectLst/>
                <a:ea typeface="+mn-lt"/>
                <a:cs typeface="+mn-lt"/>
              </a:rPr>
              <a:t>agner </a:t>
            </a:r>
            <a:r>
              <a:rPr lang="zh-CN" altLang="en-US" sz="2400" dirty="0">
                <a:solidFill>
                  <a:srgbClr val="131413"/>
                </a:solidFill>
                <a:effectLst/>
                <a:ea typeface="+mn-lt"/>
                <a:cs typeface="+mn-lt"/>
              </a:rPr>
              <a:t>定理只适用于平衡态，而</a:t>
            </a:r>
            <a:r>
              <a:rPr lang="en-US" altLang="zh-CN" sz="2400" dirty="0" err="1">
                <a:solidFill>
                  <a:srgbClr val="131413"/>
                </a:solidFill>
                <a:effectLst/>
                <a:ea typeface="+mn-lt"/>
                <a:cs typeface="+mn-lt"/>
              </a:rPr>
              <a:t>vicsek</a:t>
            </a:r>
            <a:r>
              <a:rPr lang="zh-CN" altLang="en-US" sz="2400" dirty="0">
                <a:solidFill>
                  <a:srgbClr val="131413"/>
                </a:solidFill>
                <a:ea typeface="+mn-lt"/>
                <a:cs typeface="+mn-lt"/>
              </a:rPr>
              <a:t>模型不是平衡态，粒子在移动</a:t>
            </a:r>
            <a:endParaRPr lang="zh-CN" altLang="en-US" sz="2400" dirty="0">
              <a:ea typeface="+mn-lt"/>
              <a:cs typeface="+mn-lt"/>
            </a:endParaRPr>
          </a:p>
        </p:txBody>
      </p:sp>
      <p:sp>
        <p:nvSpPr>
          <p:cNvPr id="4" name="文本框 3"/>
          <p:cNvSpPr txBox="1"/>
          <p:nvPr/>
        </p:nvSpPr>
        <p:spPr>
          <a:xfrm>
            <a:off x="605423" y="4782204"/>
            <a:ext cx="10515600" cy="523220"/>
          </a:xfrm>
          <a:prstGeom prst="rect">
            <a:avLst/>
          </a:prstGeom>
          <a:noFill/>
        </p:spPr>
        <p:txBody>
          <a:bodyPr wrap="square" rtlCol="0">
            <a:spAutoFit/>
          </a:bodyPr>
          <a:lstStyle/>
          <a:p>
            <a:r>
              <a:rPr lang="en-US" altLang="zh-CN" sz="2800" dirty="0" err="1">
                <a:solidFill>
                  <a:srgbClr val="FF0000"/>
                </a:solidFill>
              </a:rPr>
              <a:t>Vicsek</a:t>
            </a:r>
            <a:r>
              <a:rPr lang="zh-CN" altLang="en-US" sz="2800" dirty="0">
                <a:solidFill>
                  <a:srgbClr val="FF0000"/>
                </a:solidFill>
              </a:rPr>
              <a:t>模型中粒子的移动能力是如何击败</a:t>
            </a:r>
            <a:r>
              <a:rPr lang="en-US" altLang="zh-CN" sz="2800" dirty="0">
                <a:solidFill>
                  <a:srgbClr val="FF0000"/>
                </a:solidFill>
              </a:rPr>
              <a:t>Mermin Wagner</a:t>
            </a:r>
            <a:r>
              <a:rPr lang="zh-CN" altLang="en-US" sz="2800" dirty="0">
                <a:solidFill>
                  <a:srgbClr val="FF0000"/>
                </a:solidFill>
              </a:rPr>
              <a:t>定理的？</a:t>
            </a:r>
            <a:endParaRPr lang="zh-CN" altLang="en-US" sz="2800" dirty="0">
              <a:solidFill>
                <a:srgbClr val="FF0000"/>
              </a:solidFill>
            </a:endParaRPr>
          </a:p>
        </p:txBody>
      </p:sp>
      <p:sp>
        <p:nvSpPr>
          <p:cNvPr id="5" name="文本框 4"/>
          <p:cNvSpPr txBox="1"/>
          <p:nvPr/>
        </p:nvSpPr>
        <p:spPr>
          <a:xfrm>
            <a:off x="392430" y="84455"/>
            <a:ext cx="3912870" cy="829945"/>
          </a:xfrm>
          <a:prstGeom prst="rect">
            <a:avLst/>
          </a:prstGeom>
          <a:noFill/>
        </p:spPr>
        <p:txBody>
          <a:bodyPr wrap="square" rtlCol="0">
            <a:spAutoFit/>
          </a:bodyPr>
          <a:p>
            <a:r>
              <a:rPr lang="zh-CN" altLang="en-US" sz="4800">
                <a:solidFill>
                  <a:schemeClr val="accent1"/>
                </a:solidFill>
              </a:rPr>
              <a:t>长程有序</a:t>
            </a:r>
            <a:endParaRPr lang="zh-CN" altLang="en-US" sz="4800">
              <a:solidFill>
                <a:schemeClr val="accen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p:cNvSpPr/>
          <p:nvPr/>
        </p:nvSpPr>
        <p:spPr>
          <a:xfrm>
            <a:off x="5697813" y="5467973"/>
            <a:ext cx="75458" cy="21723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748653" y="199663"/>
            <a:ext cx="2442781" cy="495680"/>
          </a:xfrm>
        </p:spPr>
        <p:txBody>
          <a:bodyPr>
            <a:normAutofit fontScale="90000"/>
          </a:bodyPr>
          <a:lstStyle/>
          <a:p>
            <a:r>
              <a:rPr lang="en-US" altLang="zh-CN" sz="3110" dirty="0">
                <a:latin typeface="+mn-lt"/>
                <a:ea typeface="+mn-lt"/>
                <a:cs typeface="+mn-lt"/>
              </a:rPr>
              <a:t>XY</a:t>
            </a:r>
            <a:r>
              <a:rPr lang="zh-CN" altLang="en-US" sz="3110" dirty="0">
                <a:latin typeface="+mn-lt"/>
                <a:ea typeface="+mn-lt"/>
                <a:cs typeface="+mn-lt"/>
              </a:rPr>
              <a:t>模型（</a:t>
            </a:r>
            <a:r>
              <a:rPr lang="en-US" altLang="zh-CN" sz="3110" dirty="0">
                <a:latin typeface="+mn-lt"/>
                <a:ea typeface="+mn-lt"/>
                <a:cs typeface="+mn-lt"/>
              </a:rPr>
              <a:t>d</a:t>
            </a:r>
            <a:r>
              <a:rPr lang="zh-CN" altLang="en-US" sz="3110" dirty="0">
                <a:latin typeface="+mn-lt"/>
                <a:ea typeface="+mn-lt"/>
                <a:cs typeface="+mn-lt"/>
              </a:rPr>
              <a:t>维）</a:t>
            </a:r>
            <a:endParaRPr lang="zh-CN" altLang="en-US" sz="3110" dirty="0">
              <a:latin typeface="+mn-lt"/>
              <a:ea typeface="+mn-lt"/>
              <a:cs typeface="+mn-lt"/>
            </a:endParaRPr>
          </a:p>
        </p:txBody>
      </p:sp>
      <p:grpSp>
        <p:nvGrpSpPr>
          <p:cNvPr id="11" name="组合 10"/>
          <p:cNvGrpSpPr/>
          <p:nvPr/>
        </p:nvGrpSpPr>
        <p:grpSpPr>
          <a:xfrm>
            <a:off x="748653" y="768219"/>
            <a:ext cx="10544337" cy="1014730"/>
            <a:chOff x="838200" y="855474"/>
            <a:chExt cx="4030846" cy="1493337"/>
          </a:xfrm>
        </p:grpSpPr>
        <p:sp>
          <p:nvSpPr>
            <p:cNvPr id="4" name="文本框 3"/>
            <p:cNvSpPr txBox="1"/>
            <p:nvPr/>
          </p:nvSpPr>
          <p:spPr>
            <a:xfrm>
              <a:off x="838200" y="855474"/>
              <a:ext cx="4030846" cy="1493337"/>
            </a:xfrm>
            <a:prstGeom prst="rect">
              <a:avLst/>
            </a:prstGeom>
            <a:noFill/>
          </p:spPr>
          <p:txBody>
            <a:bodyPr wrap="square" rtlCol="0">
              <a:spAutoFit/>
            </a:bodyPr>
            <a:lstStyle/>
            <a:p>
              <a:r>
                <a:rPr lang="zh-CN" altLang="en-US" sz="2000" dirty="0">
                  <a:ea typeface="+mn-lt"/>
                  <a:cs typeface="+mn-lt"/>
                </a:rPr>
                <a:t>晶格上所有的自旋都是同一个方向，除了一个“</a:t>
              </a:r>
              <a:r>
                <a:rPr lang="en-US" altLang="zh-CN" sz="2000" dirty="0">
                  <a:ea typeface="+mn-lt"/>
                  <a:cs typeface="+mn-lt"/>
                </a:rPr>
                <a:t>mistaken</a:t>
              </a:r>
              <a:r>
                <a:rPr lang="zh-CN" altLang="en-US" sz="2000" dirty="0">
                  <a:ea typeface="+mn-lt"/>
                  <a:cs typeface="+mn-lt"/>
                </a:rPr>
                <a:t>”自旋，和其他自旋相差        ，周围的自旋会去“</a:t>
              </a:r>
              <a:r>
                <a:rPr lang="en-US" altLang="zh-CN" sz="2000" dirty="0">
                  <a:ea typeface="+mn-lt"/>
                  <a:cs typeface="+mn-lt"/>
                </a:rPr>
                <a:t>iron it out”</a:t>
              </a:r>
              <a:r>
                <a:rPr lang="zh-CN" altLang="en-US" sz="2000" dirty="0">
                  <a:ea typeface="+mn-lt"/>
                  <a:cs typeface="+mn-lt"/>
                </a:rPr>
                <a:t>，如果这个“</a:t>
              </a:r>
              <a:r>
                <a:rPr lang="en-US" altLang="zh-CN" sz="2000" dirty="0">
                  <a:ea typeface="+mn-lt"/>
                  <a:cs typeface="+mn-lt"/>
                </a:rPr>
                <a:t>mistake</a:t>
              </a:r>
              <a:r>
                <a:rPr lang="zh-CN" altLang="en-US" sz="2000" dirty="0">
                  <a:ea typeface="+mn-lt"/>
                  <a:cs typeface="+mn-lt"/>
                </a:rPr>
                <a:t>”能够影响到无穷远处的自旋，说明一个小扰动就能破坏长程序，长程序就不存在了</a:t>
              </a:r>
              <a:endParaRPr lang="zh-CN" altLang="en-US" sz="2000" dirty="0">
                <a:ea typeface="+mn-lt"/>
                <a:cs typeface="+mn-lt"/>
              </a:endParaRPr>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254618" y="894199"/>
              <a:ext cx="146993" cy="495621"/>
            </a:xfrm>
            <a:prstGeom prst="rect">
              <a:avLst/>
            </a:prstGeom>
          </p:spPr>
        </p:pic>
      </p:grpSp>
      <p:grpSp>
        <p:nvGrpSpPr>
          <p:cNvPr id="16" name="组合 15"/>
          <p:cNvGrpSpPr/>
          <p:nvPr/>
        </p:nvGrpSpPr>
        <p:grpSpPr>
          <a:xfrm>
            <a:off x="825805" y="2475222"/>
            <a:ext cx="5425257" cy="494833"/>
            <a:chOff x="955090" y="1867493"/>
            <a:chExt cx="5425257" cy="494833"/>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5090" y="1867493"/>
              <a:ext cx="1671569" cy="494833"/>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89708" y="1867493"/>
              <a:ext cx="1238332" cy="417415"/>
            </a:xfrm>
            <a:prstGeom prst="rect">
              <a:avLst/>
            </a:prstGeom>
          </p:spPr>
        </p:pic>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61721" y="1881881"/>
              <a:ext cx="1218626" cy="397520"/>
            </a:xfrm>
            <a:prstGeom prst="rect">
              <a:avLst/>
            </a:prstGeom>
          </p:spPr>
        </p:pic>
        <p:sp>
          <p:nvSpPr>
            <p:cNvPr id="10" name="文本框 9"/>
            <p:cNvSpPr txBox="1"/>
            <p:nvPr/>
          </p:nvSpPr>
          <p:spPr>
            <a:xfrm>
              <a:off x="2790438" y="1945381"/>
              <a:ext cx="311350" cy="369332"/>
            </a:xfrm>
            <a:prstGeom prst="rect">
              <a:avLst/>
            </a:prstGeom>
            <a:noFill/>
          </p:spPr>
          <p:txBody>
            <a:bodyPr wrap="square" rtlCol="0">
              <a:spAutoFit/>
            </a:bodyPr>
            <a:lstStyle/>
            <a:p>
              <a:r>
                <a:rPr lang="zh-CN" altLang="en-US" dirty="0"/>
                <a:t>→</a:t>
              </a:r>
              <a:endParaRPr lang="zh-CN" altLang="en-US" dirty="0"/>
            </a:p>
          </p:txBody>
        </p:sp>
        <p:sp>
          <p:nvSpPr>
            <p:cNvPr id="12" name="文本框 11"/>
            <p:cNvSpPr txBox="1"/>
            <p:nvPr/>
          </p:nvSpPr>
          <p:spPr>
            <a:xfrm>
              <a:off x="4715960" y="1924163"/>
              <a:ext cx="311350" cy="369332"/>
            </a:xfrm>
            <a:prstGeom prst="rect">
              <a:avLst/>
            </a:prstGeom>
            <a:noFill/>
          </p:spPr>
          <p:txBody>
            <a:bodyPr wrap="square" rtlCol="0">
              <a:spAutoFit/>
            </a:bodyPr>
            <a:lstStyle/>
            <a:p>
              <a:r>
                <a:rPr lang="zh-CN" altLang="en-US" dirty="0"/>
                <a:t>→</a:t>
              </a:r>
              <a:endParaRPr lang="zh-CN" altLang="en-US" dirty="0"/>
            </a:p>
          </p:txBody>
        </p:sp>
      </p:grpSp>
      <p:sp>
        <p:nvSpPr>
          <p:cNvPr id="18" name="文本框 17"/>
          <p:cNvSpPr txBox="1"/>
          <p:nvPr/>
        </p:nvSpPr>
        <p:spPr>
          <a:xfrm>
            <a:off x="748653" y="1992075"/>
            <a:ext cx="5468926" cy="461665"/>
          </a:xfrm>
          <a:prstGeom prst="rect">
            <a:avLst/>
          </a:prstGeom>
          <a:noFill/>
        </p:spPr>
        <p:txBody>
          <a:bodyPr wrap="square" rtlCol="0">
            <a:spAutoFit/>
          </a:bodyPr>
          <a:lstStyle/>
          <a:p>
            <a:r>
              <a:rPr lang="zh-CN" altLang="en-US" sz="2400" dirty="0"/>
              <a:t>在晶格中，这种传播机制是扩散型的</a:t>
            </a:r>
            <a:endParaRPr lang="zh-CN" altLang="en-US" sz="2400" dirty="0"/>
          </a:p>
        </p:txBody>
      </p:sp>
      <p:grpSp>
        <p:nvGrpSpPr>
          <p:cNvPr id="22" name="组合 21"/>
          <p:cNvGrpSpPr/>
          <p:nvPr/>
        </p:nvGrpSpPr>
        <p:grpSpPr>
          <a:xfrm>
            <a:off x="838200" y="4280207"/>
            <a:ext cx="4859613" cy="469945"/>
            <a:chOff x="881869" y="4396831"/>
            <a:chExt cx="4859613" cy="469945"/>
          </a:xfrm>
        </p:grpSpPr>
        <p:pic>
          <p:nvPicPr>
            <p:cNvPr id="19" name="图片 1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18476" y="4490387"/>
              <a:ext cx="2423006" cy="376389"/>
            </a:xfrm>
            <a:prstGeom prst="rect">
              <a:avLst/>
            </a:prstGeom>
          </p:spPr>
        </p:pic>
        <p:sp>
          <p:nvSpPr>
            <p:cNvPr id="20" name="文本框 19"/>
            <p:cNvSpPr txBox="1"/>
            <p:nvPr/>
          </p:nvSpPr>
          <p:spPr>
            <a:xfrm>
              <a:off x="881869" y="4396831"/>
              <a:ext cx="2566481" cy="461665"/>
            </a:xfrm>
            <a:prstGeom prst="rect">
              <a:avLst/>
            </a:prstGeom>
            <a:noFill/>
          </p:spPr>
          <p:txBody>
            <a:bodyPr wrap="square" rtlCol="0">
              <a:spAutoFit/>
            </a:bodyPr>
            <a:lstStyle/>
            <a:p>
              <a:r>
                <a:rPr lang="zh-CN" altLang="en-US" sz="2400" dirty="0"/>
                <a:t>由中心极限定理</a:t>
              </a:r>
              <a:endParaRPr lang="zh-CN" altLang="en-US" sz="2400" dirty="0"/>
            </a:p>
          </p:txBody>
        </p:sp>
      </p:grpSp>
      <p:grpSp>
        <p:nvGrpSpPr>
          <p:cNvPr id="30" name="组合 29"/>
          <p:cNvGrpSpPr/>
          <p:nvPr/>
        </p:nvGrpSpPr>
        <p:grpSpPr>
          <a:xfrm>
            <a:off x="782569" y="4785284"/>
            <a:ext cx="8812834" cy="1127214"/>
            <a:chOff x="838199" y="5503004"/>
            <a:chExt cx="8812834" cy="1127214"/>
          </a:xfrm>
        </p:grpSpPr>
        <p:pic>
          <p:nvPicPr>
            <p:cNvPr id="21" name="图片 2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36887" y="5503004"/>
              <a:ext cx="6414146" cy="1127214"/>
            </a:xfrm>
            <a:prstGeom prst="rect">
              <a:avLst/>
            </a:prstGeom>
          </p:spPr>
        </p:pic>
        <p:sp>
          <p:nvSpPr>
            <p:cNvPr id="23" name="文本框 22"/>
            <p:cNvSpPr txBox="1"/>
            <p:nvPr/>
          </p:nvSpPr>
          <p:spPr>
            <a:xfrm>
              <a:off x="838199" y="5761131"/>
              <a:ext cx="2622111" cy="461665"/>
            </a:xfrm>
            <a:prstGeom prst="rect">
              <a:avLst/>
            </a:prstGeom>
            <a:noFill/>
          </p:spPr>
          <p:txBody>
            <a:bodyPr wrap="square" rtlCol="0">
              <a:spAutoFit/>
            </a:bodyPr>
            <a:lstStyle/>
            <a:p>
              <a:r>
                <a:rPr lang="zh-CN" altLang="en-US" sz="2400" dirty="0"/>
                <a:t>每个自旋的误差</a:t>
              </a:r>
              <a:endParaRPr lang="zh-CN" altLang="en-US" sz="2400" dirty="0"/>
            </a:p>
          </p:txBody>
        </p:sp>
      </p:grpSp>
      <p:grpSp>
        <p:nvGrpSpPr>
          <p:cNvPr id="29" name="组合 28"/>
          <p:cNvGrpSpPr/>
          <p:nvPr/>
        </p:nvGrpSpPr>
        <p:grpSpPr>
          <a:xfrm>
            <a:off x="750824" y="3574116"/>
            <a:ext cx="2523983" cy="464687"/>
            <a:chOff x="787052" y="4324231"/>
            <a:chExt cx="2523983" cy="464687"/>
          </a:xfrm>
        </p:grpSpPr>
        <p:pic>
          <p:nvPicPr>
            <p:cNvPr id="17" name="图片 16"/>
            <p:cNvPicPr>
              <a:picLocks noChangeAspect="1"/>
            </p:cNvPicPr>
            <p:nvPr/>
          </p:nvPicPr>
          <p:blipFill rotWithShape="1">
            <a:blip r:embed="rId7">
              <a:extLst>
                <a:ext uri="{28A0092B-C50C-407E-A947-70E740481C1C}">
                  <a14:useLocalDpi xmlns:a14="http://schemas.microsoft.com/office/drawing/2010/main" val="0"/>
                </a:ext>
              </a:extLst>
            </a:blip>
            <a:srcRect r="38370" b="297"/>
            <a:stretch>
              <a:fillRect/>
            </a:stretch>
          </p:blipFill>
          <p:spPr>
            <a:xfrm>
              <a:off x="1898161" y="4324231"/>
              <a:ext cx="1412874" cy="426032"/>
            </a:xfrm>
            <a:prstGeom prst="rect">
              <a:avLst/>
            </a:prstGeom>
          </p:spPr>
        </p:pic>
        <p:sp>
          <p:nvSpPr>
            <p:cNvPr id="25" name="文本框 24"/>
            <p:cNvSpPr txBox="1"/>
            <p:nvPr/>
          </p:nvSpPr>
          <p:spPr>
            <a:xfrm>
              <a:off x="787052" y="4327253"/>
              <a:ext cx="1176443" cy="461665"/>
            </a:xfrm>
            <a:prstGeom prst="rect">
              <a:avLst/>
            </a:prstGeom>
            <a:noFill/>
          </p:spPr>
          <p:txBody>
            <a:bodyPr wrap="square" rtlCol="0">
              <a:spAutoFit/>
            </a:bodyPr>
            <a:lstStyle/>
            <a:p>
              <a:r>
                <a:rPr lang="zh-CN" altLang="en-US" sz="2400" dirty="0"/>
                <a:t>总误差</a:t>
              </a:r>
              <a:endParaRPr lang="zh-CN" altLang="en-US" sz="2400" dirty="0"/>
            </a:p>
          </p:txBody>
        </p:sp>
      </p:grpSp>
      <p:sp>
        <p:nvSpPr>
          <p:cNvPr id="24" name="文本框 23"/>
          <p:cNvSpPr txBox="1"/>
          <p:nvPr/>
        </p:nvSpPr>
        <p:spPr>
          <a:xfrm>
            <a:off x="782569" y="3002698"/>
            <a:ext cx="10658606" cy="461665"/>
          </a:xfrm>
          <a:prstGeom prst="rect">
            <a:avLst/>
          </a:prstGeom>
          <a:noFill/>
        </p:spPr>
        <p:txBody>
          <a:bodyPr wrap="square" rtlCol="0">
            <a:spAutoFit/>
          </a:bodyPr>
          <a:lstStyle/>
          <a:p>
            <a:r>
              <a:rPr lang="zh-CN" altLang="en-US" sz="2400" dirty="0"/>
              <a:t>噪声波动会不断造成局部误差（</a:t>
            </a:r>
            <a:r>
              <a:rPr lang="en-US" altLang="zh-CN" sz="2400" dirty="0"/>
              <a:t>error</a:t>
            </a:r>
            <a:r>
              <a:rPr lang="zh-CN" altLang="en-US" sz="2400" dirty="0"/>
              <a:t>），每个自旋的误差和时间成正比</a:t>
            </a:r>
            <a:endParaRPr lang="zh-CN" altLang="en-US" sz="2400" dirty="0"/>
          </a:p>
        </p:txBody>
      </p:sp>
      <p:sp>
        <p:nvSpPr>
          <p:cNvPr id="33" name="矩形 32"/>
          <p:cNvSpPr/>
          <p:nvPr/>
        </p:nvSpPr>
        <p:spPr>
          <a:xfrm>
            <a:off x="6388330" y="2953439"/>
            <a:ext cx="4159836" cy="56238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屏幕截图 2024-01-06 185232"/>
          <p:cNvPicPr>
            <a:picLocks noChangeAspect="1"/>
          </p:cNvPicPr>
          <p:nvPr/>
        </p:nvPicPr>
        <p:blipFill>
          <a:blip r:embed="rId8"/>
          <a:stretch>
            <a:fillRect/>
          </a:stretch>
        </p:blipFill>
        <p:spPr>
          <a:xfrm>
            <a:off x="7603490" y="2254885"/>
            <a:ext cx="2681605" cy="4438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5821017" cy="738118"/>
          </a:xfrm>
        </p:spPr>
        <p:txBody>
          <a:bodyPr>
            <a:normAutofit/>
          </a:bodyPr>
          <a:lstStyle/>
          <a:p>
            <a:r>
              <a:rPr lang="en-US" altLang="zh-CN" sz="2800" dirty="0" err="1">
                <a:latin typeface="+mn-lt"/>
                <a:ea typeface="+mn-lt"/>
                <a:cs typeface="+mn-lt"/>
              </a:rPr>
              <a:t>Vicsek</a:t>
            </a:r>
            <a:r>
              <a:rPr lang="zh-CN" altLang="en-US" sz="2800" dirty="0">
                <a:latin typeface="+mn-lt"/>
                <a:ea typeface="+mn-lt"/>
                <a:cs typeface="+mn-lt"/>
              </a:rPr>
              <a:t>模型</a:t>
            </a:r>
            <a:endParaRPr lang="zh-CN" altLang="en-US" sz="2800" dirty="0">
              <a:latin typeface="+mn-lt"/>
              <a:ea typeface="+mn-lt"/>
              <a:cs typeface="+mn-lt"/>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38201" y="1158300"/>
            <a:ext cx="3296054" cy="337899"/>
          </a:xfrm>
          <a:prstGeom prst="rect">
            <a:avLst/>
          </a:prstGeom>
        </p:spPr>
      </p:pic>
      <p:grpSp>
        <p:nvGrpSpPr>
          <p:cNvPr id="10" name="组合 9"/>
          <p:cNvGrpSpPr/>
          <p:nvPr/>
        </p:nvGrpSpPr>
        <p:grpSpPr>
          <a:xfrm>
            <a:off x="827672" y="1644618"/>
            <a:ext cx="4016702" cy="492643"/>
            <a:chOff x="838199" y="2529762"/>
            <a:chExt cx="10143099" cy="1122290"/>
          </a:xfrm>
        </p:grpSpPr>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99" y="2653745"/>
              <a:ext cx="8176969" cy="998307"/>
            </a:xfrm>
            <a:prstGeom prst="rect">
              <a:avLst/>
            </a:prstGeom>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5168" y="2529762"/>
              <a:ext cx="1966130" cy="899238"/>
            </a:xfrm>
            <a:prstGeom prst="rect">
              <a:avLst/>
            </a:prstGeom>
          </p:spPr>
        </p:pic>
      </p:grpSp>
      <p:pic>
        <p:nvPicPr>
          <p:cNvPr id="14" name="图片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6132" y="2748754"/>
            <a:ext cx="2709093" cy="1056814"/>
          </a:xfrm>
          <a:prstGeom prst="rect">
            <a:avLst/>
          </a:prstGeom>
        </p:spPr>
      </p:pic>
      <p:pic>
        <p:nvPicPr>
          <p:cNvPr id="16" name="图片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7671" y="2338699"/>
            <a:ext cx="1425284" cy="394360"/>
          </a:xfrm>
          <a:prstGeom prst="rect">
            <a:avLst/>
          </a:prstGeom>
        </p:spPr>
      </p:pic>
      <p:pic>
        <p:nvPicPr>
          <p:cNvPr id="18" name="图片 1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0908" y="4281255"/>
            <a:ext cx="3129251" cy="2211619"/>
          </a:xfrm>
          <a:prstGeom prst="rect">
            <a:avLst/>
          </a:prstGeom>
        </p:spPr>
      </p:pic>
      <p:pic>
        <p:nvPicPr>
          <p:cNvPr id="4" name="图片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93266" y="881542"/>
            <a:ext cx="3373200" cy="2901230"/>
          </a:xfrm>
          <a:prstGeom prst="rect">
            <a:avLst/>
          </a:prstGeom>
        </p:spPr>
      </p:pic>
      <p:sp>
        <p:nvSpPr>
          <p:cNvPr id="6" name="箭头: 下 5"/>
          <p:cNvSpPr/>
          <p:nvPr/>
        </p:nvSpPr>
        <p:spPr>
          <a:xfrm>
            <a:off x="1792941" y="3782772"/>
            <a:ext cx="403412" cy="38581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组合 28"/>
          <p:cNvGrpSpPr/>
          <p:nvPr/>
        </p:nvGrpSpPr>
        <p:grpSpPr>
          <a:xfrm>
            <a:off x="488932" y="2670189"/>
            <a:ext cx="11578071" cy="1052136"/>
            <a:chOff x="714836" y="5478440"/>
            <a:chExt cx="9559029" cy="1052136"/>
          </a:xfrm>
        </p:grpSpPr>
        <p:sp>
          <p:nvSpPr>
            <p:cNvPr id="17" name="文本框 16"/>
            <p:cNvSpPr txBox="1"/>
            <p:nvPr/>
          </p:nvSpPr>
          <p:spPr>
            <a:xfrm>
              <a:off x="728538" y="5478440"/>
              <a:ext cx="9545327" cy="461665"/>
            </a:xfrm>
            <a:prstGeom prst="rect">
              <a:avLst/>
            </a:prstGeom>
            <a:noFill/>
          </p:spPr>
          <p:txBody>
            <a:bodyPr wrap="square" rtlCol="0">
              <a:spAutoFit/>
            </a:bodyPr>
            <a:lstStyle/>
            <a:p>
              <a:r>
                <a:rPr lang="en-US" altLang="zh-CN" sz="2400" dirty="0" err="1"/>
                <a:t>Toner&amp;Tu</a:t>
              </a:r>
              <a:r>
                <a:rPr lang="zh-CN" altLang="en-US" sz="2400" dirty="0"/>
                <a:t>用水动力学重整化群计算表明：</a:t>
              </a:r>
              <a:endParaRPr lang="zh-CN" altLang="en-US" sz="2400" dirty="0"/>
            </a:p>
          </p:txBody>
        </p:sp>
        <p:sp>
          <p:nvSpPr>
            <p:cNvPr id="24" name="文本框 23"/>
            <p:cNvSpPr txBox="1"/>
            <p:nvPr/>
          </p:nvSpPr>
          <p:spPr>
            <a:xfrm>
              <a:off x="714836" y="6068911"/>
              <a:ext cx="5377069" cy="461665"/>
            </a:xfrm>
            <a:prstGeom prst="rect">
              <a:avLst/>
            </a:prstGeom>
            <a:noFill/>
          </p:spPr>
          <p:txBody>
            <a:bodyPr wrap="square" rtlCol="0">
              <a:spAutoFit/>
            </a:bodyPr>
            <a:lstStyle/>
            <a:p>
              <a:r>
                <a:rPr lang="zh-CN" altLang="en-US" sz="2400" dirty="0"/>
                <a:t>因此 </a:t>
              </a:r>
              <a:r>
                <a:rPr lang="en-US" altLang="zh-CN" sz="2400" dirty="0"/>
                <a:t>(1) </a:t>
              </a:r>
              <a:r>
                <a:rPr lang="zh-CN" altLang="en-US" sz="2400" dirty="0"/>
                <a:t>式无效 </a:t>
              </a:r>
              <a:r>
                <a:rPr lang="en-US" altLang="zh-CN" sz="2400" dirty="0"/>
                <a:t>, (2) </a:t>
              </a:r>
              <a:r>
                <a:rPr lang="zh-CN" altLang="en-US" sz="2400" dirty="0"/>
                <a:t>式定义域扩充到</a:t>
              </a:r>
              <a:r>
                <a:rPr lang="en-US" altLang="zh-CN" sz="2400" dirty="0"/>
                <a:t>d&lt;4</a:t>
              </a:r>
              <a:endParaRPr lang="zh-CN" altLang="en-US" sz="2400" dirty="0"/>
            </a:p>
          </p:txBody>
        </p:sp>
      </p:grpSp>
      <p:grpSp>
        <p:nvGrpSpPr>
          <p:cNvPr id="13" name="组合 12"/>
          <p:cNvGrpSpPr/>
          <p:nvPr/>
        </p:nvGrpSpPr>
        <p:grpSpPr>
          <a:xfrm>
            <a:off x="600147" y="198537"/>
            <a:ext cx="9430380" cy="843813"/>
            <a:chOff x="652222" y="764270"/>
            <a:chExt cx="9430380" cy="843813"/>
          </a:xfrm>
        </p:grpSpPr>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2222" y="995712"/>
              <a:ext cx="1320355" cy="427453"/>
            </a:xfrm>
            <a:prstGeom prst="rect">
              <a:avLst/>
            </a:prstGeom>
          </p:spPr>
        </p:pic>
        <p:pic>
          <p:nvPicPr>
            <p:cNvPr id="16" name="图片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3773" y="764270"/>
              <a:ext cx="5505881" cy="843813"/>
            </a:xfrm>
            <a:prstGeom prst="rect">
              <a:avLst/>
            </a:prstGeom>
          </p:spPr>
        </p:pic>
        <p:sp>
          <p:nvSpPr>
            <p:cNvPr id="25" name="文本框 24"/>
            <p:cNvSpPr txBox="1"/>
            <p:nvPr/>
          </p:nvSpPr>
          <p:spPr>
            <a:xfrm>
              <a:off x="9168202" y="1094924"/>
              <a:ext cx="914400" cy="369332"/>
            </a:xfrm>
            <a:prstGeom prst="rect">
              <a:avLst/>
            </a:prstGeom>
            <a:noFill/>
          </p:spPr>
          <p:txBody>
            <a:bodyPr wrap="square" rtlCol="0">
              <a:spAutoFit/>
            </a:bodyPr>
            <a:lstStyle/>
            <a:p>
              <a:r>
                <a:rPr lang="zh-CN"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ea typeface="Sans Serif Collection" panose="020B0502040504020204" pitchFamily="34" charset="0"/>
                  <a:cs typeface="Arial" panose="020B0604020202020204" pitchFamily="34" charset="0"/>
                </a:rPr>
                <a:t>1</a:t>
              </a:r>
              <a:r>
                <a:rPr lang="zh-CN" altLang="en-US"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p:txBody>
        </p:sp>
      </p:grpSp>
      <p:grpSp>
        <p:nvGrpSpPr>
          <p:cNvPr id="15" name="组合 14"/>
          <p:cNvGrpSpPr/>
          <p:nvPr/>
        </p:nvGrpSpPr>
        <p:grpSpPr>
          <a:xfrm>
            <a:off x="516758" y="956461"/>
            <a:ext cx="9164403" cy="832155"/>
            <a:chOff x="600147" y="1629269"/>
            <a:chExt cx="9164403" cy="832155"/>
          </a:xfrm>
        </p:grpSpPr>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0147" y="1937572"/>
              <a:ext cx="1636347" cy="345143"/>
            </a:xfrm>
            <a:prstGeom prst="rect">
              <a:avLst/>
            </a:prstGeom>
          </p:spPr>
        </p:pic>
        <p:pic>
          <p:nvPicPr>
            <p:cNvPr id="12" name="图片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90469" y="1629269"/>
              <a:ext cx="5614944" cy="832155"/>
            </a:xfrm>
            <a:prstGeom prst="rect">
              <a:avLst/>
            </a:prstGeom>
          </p:spPr>
        </p:pic>
        <p:sp>
          <p:nvSpPr>
            <p:cNvPr id="26" name="文本框 25"/>
            <p:cNvSpPr txBox="1"/>
            <p:nvPr/>
          </p:nvSpPr>
          <p:spPr>
            <a:xfrm>
              <a:off x="9168202" y="1920657"/>
              <a:ext cx="596348" cy="369332"/>
            </a:xfrm>
            <a:prstGeom prst="rect">
              <a:avLst/>
            </a:prstGeom>
            <a:noFill/>
          </p:spPr>
          <p:txBody>
            <a:bodyPr wrap="square" rtlCol="0">
              <a:spAutoFit/>
            </a:bodyPr>
            <a:lstStyle/>
            <a:p>
              <a:r>
                <a:rPr lang="zh-CN" altLang="en-US" dirty="0"/>
                <a:t>（</a:t>
              </a:r>
              <a:r>
                <a:rPr lang="en-US" altLang="zh-CN" dirty="0"/>
                <a:t>2</a:t>
              </a:r>
              <a:r>
                <a:rPr lang="zh-CN" altLang="en-US" dirty="0"/>
                <a:t>）</a:t>
              </a:r>
              <a:endParaRPr lang="zh-CN" altLang="en-US" dirty="0"/>
            </a:p>
          </p:txBody>
        </p:sp>
      </p:grpSp>
      <p:grpSp>
        <p:nvGrpSpPr>
          <p:cNvPr id="18" name="组合 17"/>
          <p:cNvGrpSpPr/>
          <p:nvPr/>
        </p:nvGrpSpPr>
        <p:grpSpPr>
          <a:xfrm>
            <a:off x="505528" y="1693586"/>
            <a:ext cx="9175633" cy="875501"/>
            <a:chOff x="600147" y="2474355"/>
            <a:chExt cx="9175633" cy="875501"/>
          </a:xfrm>
        </p:grpSpPr>
        <p:grpSp>
          <p:nvGrpSpPr>
            <p:cNvPr id="3" name="组合 2"/>
            <p:cNvGrpSpPr/>
            <p:nvPr/>
          </p:nvGrpSpPr>
          <p:grpSpPr>
            <a:xfrm>
              <a:off x="600147" y="2474355"/>
              <a:ext cx="6063306" cy="875501"/>
              <a:chOff x="652222" y="2482651"/>
              <a:chExt cx="6063306" cy="875501"/>
            </a:xfrm>
          </p:grpSpPr>
          <p:pic>
            <p:nvPicPr>
              <p:cNvPr id="14" name="图片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59155" y="2482651"/>
                <a:ext cx="4156373" cy="875501"/>
              </a:xfrm>
              <a:prstGeom prst="rect">
                <a:avLst/>
              </a:prstGeom>
            </p:spPr>
          </p:pic>
          <p:pic>
            <p:nvPicPr>
              <p:cNvPr id="9" name="图片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2222" y="2770579"/>
                <a:ext cx="812902" cy="345143"/>
              </a:xfrm>
              <a:prstGeom prst="rect">
                <a:avLst/>
              </a:prstGeom>
            </p:spPr>
          </p:pic>
        </p:grpSp>
        <p:sp>
          <p:nvSpPr>
            <p:cNvPr id="28" name="文本框 27"/>
            <p:cNvSpPr txBox="1"/>
            <p:nvPr/>
          </p:nvSpPr>
          <p:spPr>
            <a:xfrm>
              <a:off x="9168202" y="2746390"/>
              <a:ext cx="607578" cy="369332"/>
            </a:xfrm>
            <a:prstGeom prst="rect">
              <a:avLst/>
            </a:prstGeom>
            <a:noFill/>
          </p:spPr>
          <p:txBody>
            <a:bodyPr wrap="square">
              <a:spAutoFit/>
            </a:bodyPr>
            <a:lstStyle/>
            <a:p>
              <a:r>
                <a:rPr lang="zh-CN" altLang="en-US" dirty="0"/>
                <a:t>（</a:t>
              </a:r>
              <a:r>
                <a:rPr lang="en-US" altLang="zh-CN" dirty="0"/>
                <a:t>3</a:t>
              </a:r>
              <a:r>
                <a:rPr lang="zh-CN" altLang="en-US" dirty="0"/>
                <a:t>）</a:t>
              </a:r>
              <a:endParaRPr lang="zh-CN" altLang="en-US" dirty="0"/>
            </a:p>
          </p:txBody>
        </p:sp>
      </p:grpSp>
      <p:grpSp>
        <p:nvGrpSpPr>
          <p:cNvPr id="5" name="组合 4"/>
          <p:cNvGrpSpPr/>
          <p:nvPr/>
        </p:nvGrpSpPr>
        <p:grpSpPr>
          <a:xfrm>
            <a:off x="516758" y="4817725"/>
            <a:ext cx="6094619" cy="875501"/>
            <a:chOff x="652222" y="2553499"/>
            <a:chExt cx="6094619" cy="875501"/>
          </a:xfrm>
        </p:grpSpPr>
        <p:pic>
          <p:nvPicPr>
            <p:cNvPr id="6" name="图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90468" y="2553499"/>
              <a:ext cx="4156373" cy="875501"/>
            </a:xfrm>
            <a:prstGeom prst="rect">
              <a:avLst/>
            </a:prstGeom>
          </p:spPr>
        </p:pic>
        <p:pic>
          <p:nvPicPr>
            <p:cNvPr id="7" name="图片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2222" y="2770579"/>
              <a:ext cx="812902" cy="345143"/>
            </a:xfrm>
            <a:prstGeom prst="rect">
              <a:avLst/>
            </a:prstGeom>
          </p:spPr>
        </p:pic>
      </p:grpSp>
      <p:grpSp>
        <p:nvGrpSpPr>
          <p:cNvPr id="19" name="组合 18"/>
          <p:cNvGrpSpPr/>
          <p:nvPr/>
        </p:nvGrpSpPr>
        <p:grpSpPr>
          <a:xfrm>
            <a:off x="516758" y="3844261"/>
            <a:ext cx="7868530" cy="875501"/>
            <a:chOff x="1034330" y="4655577"/>
            <a:chExt cx="7868530" cy="875501"/>
          </a:xfrm>
        </p:grpSpPr>
        <p:pic>
          <p:nvPicPr>
            <p:cNvPr id="2" name="图片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4330" y="4946636"/>
              <a:ext cx="812902" cy="386784"/>
            </a:xfrm>
            <a:prstGeom prst="rect">
              <a:avLst/>
            </a:prstGeom>
          </p:spPr>
        </p:pic>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95441" y="4655577"/>
              <a:ext cx="5907419" cy="875501"/>
            </a:xfrm>
            <a:prstGeom prst="rect">
              <a:avLst/>
            </a:prstGeom>
          </p:spPr>
        </p:pic>
      </p:grpSp>
      <p:pic>
        <p:nvPicPr>
          <p:cNvPr id="20" name="图片 19"/>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80498" y="5901946"/>
            <a:ext cx="6255798" cy="593905"/>
          </a:xfrm>
          <a:prstGeom prst="rect">
            <a:avLst/>
          </a:prstGeom>
        </p:spPr>
      </p:pic>
      <p:pic>
        <p:nvPicPr>
          <p:cNvPr id="34" name="图片 33"/>
          <p:cNvPicPr>
            <a:picLocks noChangeAspect="1"/>
          </p:cNvPicPr>
          <p:nvPr>
            <p:custDataLst>
              <p:tags r:id="rId9"/>
            </p:custDataLst>
          </p:nvPr>
        </p:nvPicPr>
        <p:blipFill>
          <a:blip r:embed="rId4">
            <a:extLst>
              <a:ext uri="{28A0092B-C50C-407E-A947-70E740481C1C}">
                <a14:useLocalDpi xmlns:a14="http://schemas.microsoft.com/office/drawing/2010/main" val="0"/>
              </a:ext>
            </a:extLst>
          </a:blip>
          <a:srcRect l="79597"/>
          <a:stretch>
            <a:fillRect/>
          </a:stretch>
        </p:blipFill>
        <p:spPr>
          <a:xfrm>
            <a:off x="6279515" y="2552700"/>
            <a:ext cx="1145540" cy="69659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40410" y="267335"/>
            <a:ext cx="10515600" cy="1325563"/>
          </a:xfrm>
        </p:spPr>
        <p:txBody>
          <a:bodyPr>
            <a:normAutofit/>
          </a:bodyPr>
          <a:lstStyle/>
          <a:p>
            <a:r>
              <a:rPr lang="zh-CN" altLang="en-US" sz="4800" dirty="0">
                <a:solidFill>
                  <a:schemeClr val="accent1"/>
                </a:solidFill>
                <a:latin typeface="+mn-lt"/>
                <a:ea typeface="+mn-lt"/>
              </a:rPr>
              <a:t>巨粒子数涨落</a:t>
            </a:r>
            <a:endParaRPr lang="zh-CN" altLang="en-US" sz="4800" dirty="0">
              <a:solidFill>
                <a:schemeClr val="accent1"/>
              </a:solidFill>
              <a:latin typeface="+mn-lt"/>
              <a:ea typeface="+mn-lt"/>
            </a:endParaRPr>
          </a:p>
        </p:txBody>
      </p:sp>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7211245" y="275309"/>
            <a:ext cx="3508636" cy="3119940"/>
          </a:xfrm>
        </p:spPr>
      </p:pic>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78757" y="3485065"/>
            <a:ext cx="3508636" cy="3221220"/>
          </a:xfrm>
          <a:prstGeom prst="rect">
            <a:avLst/>
          </a:prstGeom>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0310" y="1482725"/>
            <a:ext cx="2066290" cy="588010"/>
          </a:xfrm>
          <a:prstGeom prst="rect">
            <a:avLst/>
          </a:prstGeom>
        </p:spPr>
      </p:pic>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0310" y="2173605"/>
            <a:ext cx="4078605" cy="560070"/>
          </a:xfrm>
          <a:prstGeom prst="rect">
            <a:avLst/>
          </a:prstGeom>
        </p:spPr>
      </p:pic>
      <p:pic>
        <p:nvPicPr>
          <p:cNvPr id="13" name="图片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10310" y="3026410"/>
            <a:ext cx="1870075" cy="572135"/>
          </a:xfrm>
          <a:prstGeom prst="rect">
            <a:avLst/>
          </a:prstGeom>
        </p:spPr>
      </p:pic>
      <p:sp>
        <p:nvSpPr>
          <p:cNvPr id="14" name="文本框 13"/>
          <p:cNvSpPr txBox="1"/>
          <p:nvPr/>
        </p:nvSpPr>
        <p:spPr>
          <a:xfrm>
            <a:off x="1089660" y="3874135"/>
            <a:ext cx="4857115" cy="521970"/>
          </a:xfrm>
          <a:prstGeom prst="rect">
            <a:avLst/>
          </a:prstGeom>
          <a:noFill/>
        </p:spPr>
        <p:txBody>
          <a:bodyPr wrap="square" rtlCol="0">
            <a:spAutoFit/>
          </a:bodyPr>
          <a:lstStyle/>
          <a:p>
            <a:r>
              <a:rPr lang="zh-CN" altLang="en-US" sz="2800" dirty="0"/>
              <a:t>中心极限定理里，</a:t>
            </a:r>
            <a:r>
              <a:rPr lang="el-GR" altLang="zh-CN" sz="2800" dirty="0"/>
              <a:t>α</a:t>
            </a:r>
            <a:r>
              <a:rPr lang="en-US" altLang="zh-CN" sz="2800" dirty="0"/>
              <a:t>=0.5</a:t>
            </a:r>
            <a:endParaRPr lang="zh-CN" altLang="en-US" sz="2800" dirty="0"/>
          </a:p>
        </p:txBody>
      </p:sp>
      <p:sp>
        <p:nvSpPr>
          <p:cNvPr id="15" name="文本框 14"/>
          <p:cNvSpPr txBox="1"/>
          <p:nvPr/>
        </p:nvSpPr>
        <p:spPr>
          <a:xfrm>
            <a:off x="1089660" y="4532630"/>
            <a:ext cx="5676900" cy="521970"/>
          </a:xfrm>
          <a:prstGeom prst="rect">
            <a:avLst/>
          </a:prstGeom>
          <a:noFill/>
        </p:spPr>
        <p:txBody>
          <a:bodyPr wrap="square" rtlCol="0">
            <a:spAutoFit/>
          </a:bodyPr>
          <a:lstStyle/>
          <a:p>
            <a:r>
              <a:rPr lang="zh-CN" altLang="en-US" sz="2800" dirty="0"/>
              <a:t>在</a:t>
            </a:r>
            <a:r>
              <a:rPr lang="en-US" altLang="zh-CN" sz="2800" dirty="0" err="1"/>
              <a:t>vicsek</a:t>
            </a:r>
            <a:r>
              <a:rPr lang="zh-CN" altLang="en-US" sz="2800" dirty="0"/>
              <a:t>模型的有序相中，</a:t>
            </a:r>
            <a:r>
              <a:rPr lang="el-GR" altLang="zh-CN" sz="2800" dirty="0"/>
              <a:t> α</a:t>
            </a:r>
            <a:r>
              <a:rPr lang="en-US" altLang="zh-CN" sz="2800" dirty="0"/>
              <a:t>=0.8</a:t>
            </a:r>
            <a:endParaRPr lang="zh-CN" altLang="en-US" sz="2800" dirty="0"/>
          </a:p>
        </p:txBody>
      </p:sp>
      <p:sp>
        <p:nvSpPr>
          <p:cNvPr id="16" name="文本框 15"/>
          <p:cNvSpPr txBox="1"/>
          <p:nvPr/>
        </p:nvSpPr>
        <p:spPr>
          <a:xfrm>
            <a:off x="1143165" y="5034432"/>
            <a:ext cx="3610582" cy="521970"/>
          </a:xfrm>
          <a:prstGeom prst="rect">
            <a:avLst/>
          </a:prstGeom>
          <a:noFill/>
        </p:spPr>
        <p:txBody>
          <a:bodyPr wrap="square" rtlCol="0">
            <a:spAutoFit/>
          </a:bodyPr>
          <a:lstStyle/>
          <a:p>
            <a:r>
              <a:rPr lang="zh-CN" altLang="en-US" sz="2800" dirty="0"/>
              <a:t>（因为存在长程关联）</a:t>
            </a:r>
            <a:endParaRPr lang="zh-CN" alt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94207" y="1024259"/>
            <a:ext cx="5326843" cy="655377"/>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2982" y="2920180"/>
            <a:ext cx="2963384" cy="882710"/>
          </a:xfrm>
          <a:prstGeom prst="rect">
            <a:avLst/>
          </a:prstGeom>
        </p:spPr>
      </p:pic>
      <p:sp>
        <p:nvSpPr>
          <p:cNvPr id="15" name="文本框 14"/>
          <p:cNvSpPr txBox="1"/>
          <p:nvPr/>
        </p:nvSpPr>
        <p:spPr>
          <a:xfrm>
            <a:off x="508590" y="484571"/>
            <a:ext cx="1887949" cy="461665"/>
          </a:xfrm>
          <a:prstGeom prst="rect">
            <a:avLst/>
          </a:prstGeom>
          <a:noFill/>
        </p:spPr>
        <p:txBody>
          <a:bodyPr wrap="square" rtlCol="0">
            <a:spAutoFit/>
          </a:bodyPr>
          <a:lstStyle/>
          <a:p>
            <a:r>
              <a:rPr lang="zh-CN" altLang="en-US" sz="2400" dirty="0"/>
              <a:t>结构因子</a:t>
            </a:r>
            <a:endParaRPr lang="zh-CN" altLang="en-US" sz="2400" dirty="0"/>
          </a:p>
        </p:txBody>
      </p:sp>
      <p:sp>
        <p:nvSpPr>
          <p:cNvPr id="16" name="文本框 15"/>
          <p:cNvSpPr txBox="1"/>
          <p:nvPr/>
        </p:nvSpPr>
        <p:spPr>
          <a:xfrm>
            <a:off x="508590" y="1724123"/>
            <a:ext cx="10269656" cy="461665"/>
          </a:xfrm>
          <a:prstGeom prst="rect">
            <a:avLst/>
          </a:prstGeom>
          <a:noFill/>
        </p:spPr>
        <p:txBody>
          <a:bodyPr wrap="square" rtlCol="0">
            <a:spAutoFit/>
          </a:bodyPr>
          <a:lstStyle/>
          <a:p>
            <a:r>
              <a:rPr lang="zh-CN" altLang="en-US" sz="2400" dirty="0"/>
              <a:t>将</a:t>
            </a:r>
            <a:r>
              <a:rPr lang="en-US" altLang="zh-CN" sz="2400" dirty="0"/>
              <a:t>Toner-Tu</a:t>
            </a:r>
            <a:r>
              <a:rPr lang="zh-CN" altLang="en-US" sz="2400" dirty="0"/>
              <a:t>方程在系统有序相的稳态附近做线性展开，可以算出结构因子</a:t>
            </a:r>
            <a:endParaRPr lang="zh-CN" altLang="en-US" sz="2400" dirty="0"/>
          </a:p>
        </p:txBody>
      </p:sp>
      <p:sp>
        <p:nvSpPr>
          <p:cNvPr id="17" name="文本框 16"/>
          <p:cNvSpPr txBox="1"/>
          <p:nvPr/>
        </p:nvSpPr>
        <p:spPr>
          <a:xfrm>
            <a:off x="508590" y="2414380"/>
            <a:ext cx="4199206" cy="460375"/>
          </a:xfrm>
          <a:prstGeom prst="rect">
            <a:avLst/>
          </a:prstGeom>
          <a:noFill/>
        </p:spPr>
        <p:txBody>
          <a:bodyPr wrap="square" rtlCol="0">
            <a:spAutoFit/>
          </a:bodyPr>
          <a:lstStyle/>
          <a:p>
            <a:r>
              <a:rPr lang="zh-CN" altLang="en-US" sz="2400" dirty="0"/>
              <a:t>结构因子和粒子</a:t>
            </a:r>
            <a:r>
              <a:rPr lang="zh-CN" altLang="en-US" sz="2400" dirty="0"/>
              <a:t>数波动有关系</a:t>
            </a:r>
            <a:endParaRPr lang="zh-CN" altLang="en-US" sz="2400" dirty="0"/>
          </a:p>
        </p:txBody>
      </p:sp>
      <p:grpSp>
        <p:nvGrpSpPr>
          <p:cNvPr id="19" name="组合 18"/>
          <p:cNvGrpSpPr/>
          <p:nvPr/>
        </p:nvGrpSpPr>
        <p:grpSpPr>
          <a:xfrm>
            <a:off x="669487" y="4280266"/>
            <a:ext cx="6285790" cy="649862"/>
            <a:chOff x="669487" y="4280266"/>
            <a:chExt cx="6285790" cy="649862"/>
          </a:xfrm>
        </p:grpSpPr>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1461" y="4421805"/>
              <a:ext cx="2406729" cy="501403"/>
            </a:xfrm>
            <a:prstGeom prst="rect">
              <a:avLst/>
            </a:prstGeom>
          </p:spPr>
        </p:pic>
        <p:pic>
          <p:nvPicPr>
            <p:cNvPr id="14" name="图片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25725" y="4280266"/>
              <a:ext cx="1529552" cy="649862"/>
            </a:xfrm>
            <a:prstGeom prst="rect">
              <a:avLst/>
            </a:prstGeom>
          </p:spPr>
        </p:pic>
        <p:sp>
          <p:nvSpPr>
            <p:cNvPr id="18" name="文本框 17"/>
            <p:cNvSpPr txBox="1"/>
            <p:nvPr/>
          </p:nvSpPr>
          <p:spPr>
            <a:xfrm>
              <a:off x="669487" y="4421805"/>
              <a:ext cx="1566154" cy="461665"/>
            </a:xfrm>
            <a:prstGeom prst="rect">
              <a:avLst/>
            </a:prstGeom>
            <a:noFill/>
          </p:spPr>
          <p:txBody>
            <a:bodyPr wrap="square" rtlCol="0">
              <a:spAutoFit/>
            </a:bodyPr>
            <a:lstStyle/>
            <a:p>
              <a:r>
                <a:rPr lang="zh-CN" altLang="en-US" sz="2400" dirty="0"/>
                <a:t>可以算出</a:t>
              </a:r>
              <a:endParaRPr lang="zh-CN" altLang="en-US" sz="2400" dirty="0"/>
            </a:p>
          </p:txBody>
        </p:sp>
      </p:grpSp>
      <p:pic>
        <p:nvPicPr>
          <p:cNvPr id="21" name="图片 2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26328" y="4421805"/>
            <a:ext cx="2589444" cy="417214"/>
          </a:xfrm>
          <a:prstGeom prst="rect">
            <a:avLst/>
          </a:prstGeom>
        </p:spPr>
      </p:pic>
      <p:sp>
        <p:nvSpPr>
          <p:cNvPr id="4" name="文本框 3"/>
          <p:cNvSpPr txBox="1"/>
          <p:nvPr/>
        </p:nvSpPr>
        <p:spPr>
          <a:xfrm>
            <a:off x="5887720" y="341630"/>
            <a:ext cx="5574030" cy="460375"/>
          </a:xfrm>
          <a:prstGeom prst="rect">
            <a:avLst/>
          </a:prstGeom>
          <a:noFill/>
        </p:spPr>
        <p:txBody>
          <a:bodyPr wrap="square" rtlCol="0">
            <a:spAutoFit/>
          </a:bodyPr>
          <a:p>
            <a:r>
              <a:rPr lang="zh-CN" altLang="en-US" sz="2400">
                <a:solidFill>
                  <a:srgbClr val="FF0000"/>
                </a:solidFill>
              </a:rPr>
              <a:t>密度关联函数</a:t>
            </a:r>
            <a:r>
              <a:rPr lang="en-US" altLang="zh-CN" sz="2400">
                <a:solidFill>
                  <a:srgbClr val="FF0000"/>
                </a:solidFill>
              </a:rPr>
              <a:t>-</a:t>
            </a:r>
            <a:r>
              <a:rPr lang="zh-CN" altLang="en-US" sz="2400">
                <a:solidFill>
                  <a:srgbClr val="FF0000"/>
                </a:solidFill>
              </a:rPr>
              <a:t>结构因子</a:t>
            </a:r>
            <a:r>
              <a:rPr lang="en-US" altLang="zh-CN" sz="2400">
                <a:solidFill>
                  <a:srgbClr val="FF0000"/>
                </a:solidFill>
              </a:rPr>
              <a:t>-</a:t>
            </a:r>
            <a:r>
              <a:rPr lang="zh-CN" altLang="en-US" sz="2400">
                <a:solidFill>
                  <a:srgbClr val="FF0000"/>
                </a:solidFill>
              </a:rPr>
              <a:t>粒子数波动</a:t>
            </a:r>
            <a:endParaRPr lang="zh-CN" altLang="en-US" sz="2400">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屏幕截图 2024-01-06 133216"/>
          <p:cNvPicPr>
            <a:picLocks noChangeAspect="1"/>
          </p:cNvPicPr>
          <p:nvPr/>
        </p:nvPicPr>
        <p:blipFill>
          <a:blip r:embed="rId1"/>
          <a:stretch>
            <a:fillRect/>
          </a:stretch>
        </p:blipFill>
        <p:spPr>
          <a:xfrm>
            <a:off x="287655" y="104140"/>
            <a:ext cx="7693025" cy="638683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屏幕截图 2024-01-06 125605"/>
          <p:cNvPicPr>
            <a:picLocks noChangeAspect="1"/>
          </p:cNvPicPr>
          <p:nvPr/>
        </p:nvPicPr>
        <p:blipFill>
          <a:blip r:embed="rId1"/>
          <a:stretch>
            <a:fillRect/>
          </a:stretch>
        </p:blipFill>
        <p:spPr>
          <a:xfrm>
            <a:off x="0" y="78105"/>
            <a:ext cx="8254365" cy="677989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82494" y="398834"/>
            <a:ext cx="9075906" cy="830997"/>
          </a:xfrm>
          <a:prstGeom prst="rect">
            <a:avLst/>
          </a:prstGeom>
          <a:noFill/>
        </p:spPr>
        <p:txBody>
          <a:bodyPr wrap="square" rtlCol="0">
            <a:spAutoFit/>
          </a:bodyPr>
          <a:lstStyle/>
          <a:p>
            <a:r>
              <a:rPr lang="zh-CN" altLang="en-US" sz="2400" dirty="0"/>
              <a:t>由于对称性破缺，空间各向异性，横向纵向表现出不同的行为，需要对</a:t>
            </a:r>
            <a:r>
              <a:rPr lang="en-US" altLang="zh-CN" sz="2400" dirty="0"/>
              <a:t>S(q)</a:t>
            </a:r>
            <a:r>
              <a:rPr lang="zh-CN" altLang="en-US" sz="2400" dirty="0"/>
              <a:t>从不同方向求值</a:t>
            </a:r>
            <a:endParaRPr lang="zh-CN" altLang="en-US" sz="2400" dirty="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49133" y="1229831"/>
            <a:ext cx="4917448" cy="4635948"/>
          </a:xfrm>
          <a:prstGeom prst="rect">
            <a:avLst/>
          </a:prstGeom>
        </p:spPr>
      </p:pic>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2494" y="1455249"/>
            <a:ext cx="5479255" cy="1973751"/>
          </a:xfrm>
          <a:prstGeom prst="rect">
            <a:avLst/>
          </a:prstGeom>
        </p:spPr>
      </p:pic>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462" y="3500835"/>
            <a:ext cx="1555012" cy="450823"/>
          </a:xfrm>
          <a:prstGeom prst="rect">
            <a:avLst/>
          </a:prstGeom>
        </p:spPr>
      </p:pic>
      <p:pic>
        <p:nvPicPr>
          <p:cNvPr id="12" name="图片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59441" y="3174645"/>
            <a:ext cx="3063505" cy="883997"/>
          </a:xfrm>
          <a:prstGeom prst="rect">
            <a:avLst/>
          </a:prstGeom>
        </p:spPr>
      </p:pic>
      <p:pic>
        <p:nvPicPr>
          <p:cNvPr id="13" name="图片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3462" y="4587730"/>
            <a:ext cx="3988519" cy="797704"/>
          </a:xfrm>
          <a:prstGeom prst="rect">
            <a:avLst/>
          </a:prstGeom>
        </p:spPr>
      </p:pic>
      <p:sp>
        <p:nvSpPr>
          <p:cNvPr id="14" name="文本框 13"/>
          <p:cNvSpPr txBox="1"/>
          <p:nvPr/>
        </p:nvSpPr>
        <p:spPr>
          <a:xfrm>
            <a:off x="1060313" y="4143984"/>
            <a:ext cx="5710137" cy="461665"/>
          </a:xfrm>
          <a:prstGeom prst="rect">
            <a:avLst/>
          </a:prstGeom>
          <a:noFill/>
        </p:spPr>
        <p:txBody>
          <a:bodyPr wrap="square" rtlCol="0">
            <a:spAutoFit/>
          </a:bodyPr>
          <a:lstStyle/>
          <a:p>
            <a:r>
              <a:rPr lang="zh-CN" altLang="en-US" sz="2400" dirty="0"/>
              <a:t>结构因子主要以               为主</a:t>
            </a:r>
            <a:endParaRPr lang="zh-CN" altLang="en-US" sz="2400" dirty="0"/>
          </a:p>
        </p:txBody>
      </p:sp>
      <p:pic>
        <p:nvPicPr>
          <p:cNvPr id="16" name="图片 1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67317" y="4187266"/>
            <a:ext cx="1196993" cy="380260"/>
          </a:xfrm>
          <a:prstGeom prst="rect">
            <a:avLst/>
          </a:prstGeom>
        </p:spPr>
      </p:pic>
      <p:pic>
        <p:nvPicPr>
          <p:cNvPr id="18" name="图片 1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43462" y="5228300"/>
            <a:ext cx="1867890" cy="82781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00355" y="118110"/>
            <a:ext cx="10515600" cy="1325563"/>
          </a:xfrm>
        </p:spPr>
        <p:txBody>
          <a:bodyPr/>
          <a:p>
            <a:r>
              <a:rPr lang="zh-CN" altLang="en-US" sz="3600">
                <a:solidFill>
                  <a:schemeClr val="accent1"/>
                </a:solidFill>
              </a:rPr>
              <a:t>总结</a:t>
            </a:r>
            <a:endParaRPr lang="zh-CN" altLang="en-US" sz="3600">
              <a:solidFill>
                <a:schemeClr val="accent1"/>
              </a:solidFill>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564515" y="1102360"/>
                <a:ext cx="10515600" cy="4351338"/>
              </a:xfrm>
            </p:spPr>
            <p:txBody>
              <a:bodyPr/>
              <a:p>
                <a:pPr marL="0" indent="0">
                  <a:buNone/>
                </a:pPr>
                <a:r>
                  <a:rPr lang="zh-CN" altLang="en-US"/>
                  <a:t>（</a:t>
                </a:r>
                <a:r>
                  <a:rPr lang="en-US" altLang="zh-CN"/>
                  <a:t>1</a:t>
                </a:r>
                <a:r>
                  <a:rPr lang="zh-CN" altLang="en-US"/>
                  <a:t>）相变类型会根据参数的选取方式而改变，比如噪声强度的产生方式、相互作用类型、</a:t>
                </a:r>
                <a14:m>
                  <m:oMath xmlns:m="http://schemas.openxmlformats.org/officeDocument/2006/math">
                    <m:r>
                      <a:rPr lang="en-US" altLang="zh-CN" i="1">
                        <a:latin typeface="Cambria Math" panose="02040503050406030204" pitchFamily="18" charset="0"/>
                        <a:cs typeface="Cambria Math" panose="02040503050406030204" pitchFamily="18" charset="0"/>
                      </a:rPr>
                      <m:t>vt</m:t>
                    </m:r>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𝑅</m:t>
                    </m:r>
                  </m:oMath>
                </a14:m>
                <a:r>
                  <a:rPr lang="zh-CN" altLang="en-US">
                    <a:latin typeface="Cambria Math" panose="02040503050406030204" pitchFamily="18" charset="0"/>
                    <a:cs typeface="Cambria Math" panose="02040503050406030204" pitchFamily="18" charset="0"/>
                  </a:rPr>
                  <a:t>的</a:t>
                </a:r>
                <a:r>
                  <a:rPr lang="zh-CN" altLang="en-US">
                    <a:latin typeface="Cambria Math" panose="02040503050406030204" pitchFamily="18" charset="0"/>
                    <a:cs typeface="Cambria Math" panose="02040503050406030204" pitchFamily="18" charset="0"/>
                  </a:rPr>
                  <a:t>大小。</a:t>
                </a:r>
                <a:endParaRPr lang="zh-CN" altLang="en-US">
                  <a:latin typeface="Cambria Math" panose="02040503050406030204" pitchFamily="18" charset="0"/>
                  <a:cs typeface="Cambria Math" panose="02040503050406030204" pitchFamily="18" charset="0"/>
                </a:endParaRPr>
              </a:p>
              <a:p>
                <a:pPr marL="0" indent="0">
                  <a:buNone/>
                </a:pPr>
                <a:r>
                  <a:rPr lang="zh-CN" altLang="en-US">
                    <a:latin typeface="Cambria Math" panose="02040503050406030204" pitchFamily="18" charset="0"/>
                    <a:cs typeface="Cambria Math" panose="02040503050406030204" pitchFamily="18" charset="0"/>
                  </a:rPr>
                  <a:t>（</a:t>
                </a:r>
                <a:r>
                  <a:rPr lang="en-US" altLang="zh-CN">
                    <a:latin typeface="Cambria Math" panose="02040503050406030204" pitchFamily="18" charset="0"/>
                    <a:cs typeface="Cambria Math" panose="02040503050406030204" pitchFamily="18" charset="0"/>
                  </a:rPr>
                  <a:t>2</a:t>
                </a:r>
                <a:r>
                  <a:rPr lang="zh-CN" altLang="en-US">
                    <a:latin typeface="Cambria Math" panose="02040503050406030204" pitchFamily="18" charset="0"/>
                    <a:cs typeface="Cambria Math" panose="02040503050406030204" pitchFamily="18" charset="0"/>
                  </a:rPr>
                  <a:t>）分别通过信息是否能传到无穷远处和局部的错误是否能传到无穷远处两个角度分析了</a:t>
                </a:r>
                <a:r>
                  <a:rPr lang="en-US" altLang="zh-CN">
                    <a:latin typeface="Cambria Math" panose="02040503050406030204" pitchFamily="18" charset="0"/>
                    <a:cs typeface="Cambria Math" panose="02040503050406030204" pitchFamily="18" charset="0"/>
                  </a:rPr>
                  <a:t>vicsek</a:t>
                </a:r>
                <a:r>
                  <a:rPr lang="zh-CN" altLang="en-US">
                    <a:latin typeface="Cambria Math" panose="02040503050406030204" pitchFamily="18" charset="0"/>
                    <a:cs typeface="Cambria Math" panose="02040503050406030204" pitchFamily="18" charset="0"/>
                  </a:rPr>
                  <a:t>模型中的长城</a:t>
                </a:r>
                <a:r>
                  <a:rPr lang="zh-CN" altLang="en-US">
                    <a:latin typeface="Cambria Math" panose="02040503050406030204" pitchFamily="18" charset="0"/>
                    <a:cs typeface="Cambria Math" panose="02040503050406030204" pitchFamily="18" charset="0"/>
                  </a:rPr>
                  <a:t>有序</a:t>
                </a:r>
                <a:endParaRPr lang="zh-CN" altLang="en-US">
                  <a:latin typeface="Cambria Math" panose="02040503050406030204" pitchFamily="18" charset="0"/>
                  <a:cs typeface="Cambria Math" panose="02040503050406030204" pitchFamily="18" charset="0"/>
                </a:endParaRPr>
              </a:p>
              <a:p>
                <a:pPr marL="0" indent="0">
                  <a:buNone/>
                </a:pPr>
                <a:r>
                  <a:rPr lang="zh-CN" altLang="en-US">
                    <a:latin typeface="Cambria Math" panose="02040503050406030204" pitchFamily="18" charset="0"/>
                    <a:cs typeface="Cambria Math" panose="02040503050406030204" pitchFamily="18" charset="0"/>
                  </a:rPr>
                  <a:t>（</a:t>
                </a:r>
                <a:r>
                  <a:rPr lang="en-US" altLang="zh-CN">
                    <a:latin typeface="Cambria Math" panose="02040503050406030204" pitchFamily="18" charset="0"/>
                    <a:cs typeface="Cambria Math" panose="02040503050406030204" pitchFamily="18" charset="0"/>
                  </a:rPr>
                  <a:t>3</a:t>
                </a:r>
                <a:r>
                  <a:rPr lang="zh-CN" altLang="en-US">
                    <a:latin typeface="Cambria Math" panose="02040503050406030204" pitchFamily="18" charset="0"/>
                    <a:cs typeface="Cambria Math" panose="02040503050406030204" pitchFamily="18" charset="0"/>
                  </a:rPr>
                  <a:t>）通过</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密度关联函数</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结构因子</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粒子数涨落</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的桥梁算出涨落的</a:t>
                </a:r>
                <a:r>
                  <a:rPr lang="zh-CN" altLang="en-US">
                    <a:latin typeface="Cambria Math" panose="02040503050406030204" pitchFamily="18" charset="0"/>
                    <a:cs typeface="Cambria Math" panose="02040503050406030204" pitchFamily="18" charset="0"/>
                  </a:rPr>
                  <a:t>指数</a:t>
                </a:r>
                <a:endParaRPr lang="zh-CN" altLang="en-US">
                  <a:latin typeface="Cambria Math" panose="02040503050406030204" pitchFamily="18" charset="0"/>
                  <a:cs typeface="Cambria Math" panose="02040503050406030204" pitchFamily="18"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564515" y="1102360"/>
                <a:ext cx="10515600" cy="4351338"/>
              </a:xfrm>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commondata" val="eyJoZGlkIjoiNDFiNWEyNDFiNzViYWY5MmIwMjg0NmM3ODU1MmU3NG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2465</Words>
  <Application>WPS 演示</Application>
  <PresentationFormat>宽屏</PresentationFormat>
  <Paragraphs>200</Paragraphs>
  <Slides>23</Slides>
  <Notes>0</Notes>
  <HiddenSlides>2</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1</vt:i4>
      </vt:variant>
      <vt:variant>
        <vt:lpstr>幻灯片标题</vt:lpstr>
      </vt:variant>
      <vt:variant>
        <vt:i4>23</vt:i4>
      </vt:variant>
    </vt:vector>
  </HeadingPairs>
  <TitlesOfParts>
    <vt:vector size="36" baseType="lpstr">
      <vt:lpstr>Arial</vt:lpstr>
      <vt:lpstr>宋体</vt:lpstr>
      <vt:lpstr>Wingdings</vt:lpstr>
      <vt:lpstr>Cambria Math</vt:lpstr>
      <vt:lpstr>等线 Light</vt:lpstr>
      <vt:lpstr>等线</vt:lpstr>
      <vt:lpstr>微软雅黑</vt:lpstr>
      <vt:lpstr>Arial Unicode MS</vt:lpstr>
      <vt:lpstr>Sans Serif Collection</vt:lpstr>
      <vt:lpstr>Calibri</vt:lpstr>
      <vt:lpstr>Office 主题​​</vt:lpstr>
      <vt:lpstr>1_Office 主题​​</vt:lpstr>
      <vt:lpstr>latexeqedit.Formula</vt:lpstr>
      <vt:lpstr>The physics of vicsek model Francesco Ginelli. Eur. Phys. J. Special Topics 225, 2099–2117 (2016)</vt:lpstr>
      <vt:lpstr>PowerPoint 演示文稿</vt:lpstr>
      <vt:lpstr>Vicsek模型</vt:lpstr>
      <vt:lpstr>PowerPoint 演示文稿</vt:lpstr>
      <vt:lpstr>相分离和相图</vt:lpstr>
      <vt:lpstr>PowerPoint 演示文稿</vt:lpstr>
      <vt:lpstr>PowerPoint 演示文稿</vt:lpstr>
      <vt:lpstr>相变类型</vt:lpstr>
      <vt:lpstr>PowerPoint 演示文稿</vt:lpstr>
      <vt:lpstr>相互作用类型</vt:lpstr>
      <vt:lpstr>         和相互作用半径R的大小关系</vt:lpstr>
      <vt:lpstr>PowerPoint 演示文稿</vt:lpstr>
      <vt:lpstr>PowerPoint 演示文稿</vt:lpstr>
      <vt:lpstr>Mermin-Wagner 定理指出：在二维空间中打破连续对称的系统都不能实现长程序</vt:lpstr>
      <vt:lpstr>XY模型（d维）</vt:lpstr>
      <vt:lpstr>Vicsek模型</vt:lpstr>
      <vt:lpstr>PowerPoint 演示文稿</vt:lpstr>
      <vt:lpstr>巨粒子数涨落</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physics of vicsek model Francesco Ginelli. Eur. Phys. J. Special Topics 225, 2099–2117 (2016)</dc:title>
  <dc:creator>溪能 曹</dc:creator>
  <cp:lastModifiedBy>WPS_1601999913</cp:lastModifiedBy>
  <cp:revision>14</cp:revision>
  <dcterms:created xsi:type="dcterms:W3CDTF">2023-12-28T12:59:00Z</dcterms:created>
  <dcterms:modified xsi:type="dcterms:W3CDTF">2024-01-06T10:53:03Z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11CC127C590B489E9D8CDA63A1FF8C35_12</vt:lpwstr>
  </property>
  <property fmtid="{D5CDD505-2E9C-101B-9397-08002B2CF9AE}" pid="3" name="KSOProductBuildVer">
    <vt:lpwstr>2052-12.1.0.16120</vt:lpwstr>
  </property>
</Properties>
</file>
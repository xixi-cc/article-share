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6" r:id="rId3"/>
    <p:sldId id="297" r:id="rId5"/>
    <p:sldId id="298" r:id="rId6"/>
    <p:sldId id="299" r:id="rId7"/>
    <p:sldId id="300" r:id="rId8"/>
    <p:sldId id="301" r:id="rId9"/>
    <p:sldId id="305" r:id="rId10"/>
    <p:sldId id="306" r:id="rId11"/>
    <p:sldId id="324" r:id="rId12"/>
    <p:sldId id="307" r:id="rId13"/>
    <p:sldId id="309" r:id="rId14"/>
    <p:sldId id="310" r:id="rId15"/>
    <p:sldId id="311" r:id="rId16"/>
    <p:sldId id="313" r:id="rId17"/>
    <p:sldId id="317" r:id="rId18"/>
    <p:sldId id="318" r:id="rId19"/>
    <p:sldId id="319" r:id="rId20"/>
    <p:sldId id="320" r:id="rId21"/>
    <p:sldId id="32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6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这里的</a:t>
            </a:r>
            <a:r>
              <a:rPr lang="en-US" altLang="zh-CN"/>
              <a:t>ward identity</a:t>
            </a:r>
            <a:r>
              <a:rPr lang="zh-CN" altLang="en-US"/>
              <a:t>要再说明</a:t>
            </a:r>
            <a:r>
              <a:rPr lang="zh-CN" altLang="en-US"/>
              <a:t>一下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37.png"/><Relationship Id="rId4" Type="http://schemas.openxmlformats.org/officeDocument/2006/relationships/tags" Target="../tags/tag64.xml"/><Relationship Id="rId34" Type="http://schemas.openxmlformats.org/officeDocument/2006/relationships/slideLayout" Target="../slideLayouts/slideLayout2.xml"/><Relationship Id="rId33" Type="http://schemas.openxmlformats.org/officeDocument/2006/relationships/image" Target="../media/image6.png"/><Relationship Id="rId32" Type="http://schemas.openxmlformats.org/officeDocument/2006/relationships/image" Target="../media/image8.png"/><Relationship Id="rId31" Type="http://schemas.openxmlformats.org/officeDocument/2006/relationships/image" Target="../media/image7.png"/><Relationship Id="rId30" Type="http://schemas.openxmlformats.org/officeDocument/2006/relationships/tags" Target="../tags/tag82.xml"/><Relationship Id="rId3" Type="http://schemas.openxmlformats.org/officeDocument/2006/relationships/image" Target="../media/image36.png"/><Relationship Id="rId29" Type="http://schemas.openxmlformats.org/officeDocument/2006/relationships/tags" Target="../tags/tag81.xml"/><Relationship Id="rId28" Type="http://schemas.openxmlformats.org/officeDocument/2006/relationships/image" Target="../media/image44.png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image" Target="../media/image43.png"/><Relationship Id="rId24" Type="http://schemas.openxmlformats.org/officeDocument/2006/relationships/image" Target="../media/image42.png"/><Relationship Id="rId23" Type="http://schemas.openxmlformats.org/officeDocument/2006/relationships/tags" Target="../tags/tag78.xml"/><Relationship Id="rId22" Type="http://schemas.openxmlformats.org/officeDocument/2006/relationships/tags" Target="../tags/tag77.xml"/><Relationship Id="rId21" Type="http://schemas.openxmlformats.org/officeDocument/2006/relationships/tags" Target="../tags/tag76.xml"/><Relationship Id="rId20" Type="http://schemas.openxmlformats.org/officeDocument/2006/relationships/image" Target="../media/image41.png"/><Relationship Id="rId2" Type="http://schemas.openxmlformats.org/officeDocument/2006/relationships/tags" Target="../tags/tag63.xml"/><Relationship Id="rId19" Type="http://schemas.openxmlformats.org/officeDocument/2006/relationships/tags" Target="../tags/tag75.xml"/><Relationship Id="rId18" Type="http://schemas.openxmlformats.org/officeDocument/2006/relationships/image" Target="../media/image40.png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image" Target="../media/image39.png"/><Relationship Id="rId10" Type="http://schemas.openxmlformats.org/officeDocument/2006/relationships/tags" Target="../tags/tag68.xml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56.png"/><Relationship Id="rId1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53.png"/><Relationship Id="rId5" Type="http://schemas.openxmlformats.org/officeDocument/2006/relationships/image" Target="../media/image71.png"/><Relationship Id="rId4" Type="http://schemas.openxmlformats.org/officeDocument/2006/relationships/image" Target="../media/image68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56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4.png"/><Relationship Id="rId4" Type="http://schemas.openxmlformats.org/officeDocument/2006/relationships/image" Target="../media/image79.png"/><Relationship Id="rId3" Type="http://schemas.openxmlformats.org/officeDocument/2006/relationships/image" Target="../media/image73.png"/><Relationship Id="rId2" Type="http://schemas.openxmlformats.org/officeDocument/2006/relationships/image" Target="../media/image78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8.png"/><Relationship Id="rId15" Type="http://schemas.openxmlformats.org/officeDocument/2006/relationships/image" Target="../media/image87.png"/><Relationship Id="rId14" Type="http://schemas.openxmlformats.org/officeDocument/2006/relationships/image" Target="../media/image86.png"/><Relationship Id="rId13" Type="http://schemas.openxmlformats.org/officeDocument/2006/relationships/image" Target="../media/image63.png"/><Relationship Id="rId12" Type="http://schemas.openxmlformats.org/officeDocument/2006/relationships/image" Target="../media/image85.png"/><Relationship Id="rId11" Type="http://schemas.openxmlformats.org/officeDocument/2006/relationships/image" Target="../media/image84.png"/><Relationship Id="rId10" Type="http://schemas.openxmlformats.org/officeDocument/2006/relationships/image" Target="../media/image83.png"/><Relationship Id="rId1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0.png"/><Relationship Id="rId6" Type="http://schemas.openxmlformats.org/officeDocument/2006/relationships/image" Target="../media/image88.png"/><Relationship Id="rId5" Type="http://schemas.openxmlformats.org/officeDocument/2006/relationships/image" Target="../media/image78.png"/><Relationship Id="rId4" Type="http://schemas.openxmlformats.org/officeDocument/2006/relationships/image" Target="../media/image68.png"/><Relationship Id="rId3" Type="http://schemas.openxmlformats.org/officeDocument/2006/relationships/image" Target="../media/image63.png"/><Relationship Id="rId2" Type="http://schemas.openxmlformats.org/officeDocument/2006/relationships/image" Target="../media/image89.png"/><Relationship Id="rId1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35.png"/><Relationship Id="rId7" Type="http://schemas.openxmlformats.org/officeDocument/2006/relationships/image" Target="../media/image93.png"/><Relationship Id="rId6" Type="http://schemas.openxmlformats.org/officeDocument/2006/relationships/image" Target="../media/image37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5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1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5706" y="1394234"/>
            <a:ext cx="46548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2" descr="https://gss0.bdstatic.com/-4o3dSag_xI4khGkpoWK1HF6hhy/baike/c0%3Dbaike272%2C5%2C5%2C272%2C90/sign=8a9a0b9d3787e950561afb3e71513826/2fdda3cc7cd98d103d73086f2c3fb80e7aec90cc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5" y="0"/>
            <a:ext cx="1145264" cy="13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680" y="-437810"/>
            <a:ext cx="3331845" cy="3074670"/>
          </a:xfrm>
          <a:prstGeom prst="rect">
            <a:avLst/>
          </a:prstGeom>
        </p:spPr>
      </p:pic>
      <p:pic>
        <p:nvPicPr>
          <p:cNvPr id="11" name="图片 10" descr="logo-06 -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9894"/>
            <a:ext cx="2627948" cy="24245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545" y="1661795"/>
            <a:ext cx="9398000" cy="19069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87315" y="4307205"/>
            <a:ext cx="685609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charset="-122"/>
              </a:rPr>
              <a:t>Maitra A, Jentsch P, Chen L, et al. The inconvenient truth about flocks[J]. arXiv preprint arXiv:2503.17064, 2025.</a:t>
            </a:r>
            <a:endParaRPr lang="en-US" altLang="zh-CN" sz="1600" b="0" i="0">
              <a:solidFill>
                <a:srgbClr val="22222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87315" y="5196205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曹溪能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90575" y="758825"/>
            <a:ext cx="11259185" cy="583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auto">
              <a:lnSpc>
                <a:spcPts val="3200"/>
              </a:lnSpc>
              <a:buFont typeface="+mj-lt"/>
              <a:buAutoNum type="arabicPeriod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914400" lvl="4" indent="457200" fontAlgn="auto">
              <a:lnSpc>
                <a:spcPts val="3200"/>
              </a:lnSpc>
              <a:buFont typeface="+mj-lt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multhusian flock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immortal flock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goldstone mode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，标度指数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Toner-Tu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理论的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历史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动力学重整化群（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）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 fontAlgn="auto">
              <a:lnSpc>
                <a:spcPts val="3200"/>
              </a:lnSpc>
              <a:buFont typeface="+mj-lt"/>
              <a:buAutoNum type="arabicPeriod"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方程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线性理论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dynamical Renormalization Group (DRG) analysis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 fontAlgn="auto">
              <a:lnSpc>
                <a:spcPts val="3200"/>
              </a:lnSpc>
              <a:buFont typeface="+mj-lt"/>
              <a:buAutoNum type="arabicPeriod"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immortal flocks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方程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线性理论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457200" fontAlgn="auto">
              <a:lnSpc>
                <a:spcPts val="3200"/>
              </a:lnSpc>
              <a:buFont typeface="+mj-lt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dynamical Renormalization Group (DRG) analysis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fontAlgn="auto">
              <a:lnSpc>
                <a:spcPts val="32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3.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目录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7724140" y="2211705"/>
            <a:ext cx="4400550" cy="2342515"/>
            <a:chOff x="5735" y="3943"/>
            <a:chExt cx="11564" cy="647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35" y="3943"/>
              <a:ext cx="11564" cy="647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rcRect l="68524" r="18929" b="-30748"/>
            <a:stretch>
              <a:fillRect/>
            </a:stretch>
          </p:blipFill>
          <p:spPr>
            <a:xfrm>
              <a:off x="7993" y="5160"/>
              <a:ext cx="897" cy="643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9473565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-multhusian flock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immortal flock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" y="2531745"/>
            <a:ext cx="4693920" cy="10864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9450" y="3994785"/>
            <a:ext cx="112769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满足旋转对称性的，到二阶的，</a:t>
            </a:r>
            <a:r>
              <a:rPr lang="en-US" altLang="zh-CN" sz="1600"/>
              <a:t>“</a:t>
            </a:r>
            <a:r>
              <a:rPr lang="zh-CN" altLang="en-US" sz="1600"/>
              <a:t>最大理论</a:t>
            </a:r>
            <a:r>
              <a:rPr lang="en-US" altLang="zh-CN" sz="1600"/>
              <a:t>”</a:t>
            </a:r>
            <a:endParaRPr lang="en-US" altLang="zh-CN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蓝色框内的三项是</a:t>
            </a:r>
            <a:r>
              <a:rPr lang="en-US" altLang="zh-CN" sz="1600"/>
              <a:t>“</a:t>
            </a:r>
            <a:r>
              <a:rPr lang="zh-CN" altLang="en-US" sz="1600"/>
              <a:t>不可变分</a:t>
            </a:r>
            <a:r>
              <a:rPr lang="en-US" altLang="zh-CN" sz="1600"/>
              <a:t>”</a:t>
            </a:r>
            <a:r>
              <a:rPr lang="zh-CN" altLang="en-US" sz="1600"/>
              <a:t>的，是非平衡效应，其他项都是</a:t>
            </a:r>
            <a:r>
              <a:rPr lang="en-US" altLang="zh-CN" sz="1600"/>
              <a:t>“</a:t>
            </a:r>
            <a:r>
              <a:rPr lang="zh-CN" altLang="en-US" sz="1600"/>
              <a:t>可变分的</a:t>
            </a:r>
            <a:r>
              <a:rPr lang="en-US" altLang="zh-CN" sz="1600"/>
              <a:t>”</a:t>
            </a:r>
            <a:endParaRPr lang="en-US" altLang="zh-CN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                                               </a:t>
            </a:r>
            <a:r>
              <a:rPr lang="zh-CN" altLang="en-US" sz="1600"/>
              <a:t>反映从无序到有序</a:t>
            </a:r>
            <a:r>
              <a:rPr lang="en-US" altLang="zh-CN" sz="1600"/>
              <a:t>flock</a:t>
            </a:r>
            <a:r>
              <a:rPr lang="zh-CN" altLang="en-US" sz="1600"/>
              <a:t>的</a:t>
            </a:r>
            <a:r>
              <a:rPr lang="zh-CN" altLang="en-US" sz="1600"/>
              <a:t>相变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红色框内的两项体现</a:t>
            </a:r>
            <a:r>
              <a:rPr lang="zh-CN" altLang="en-US" sz="1600"/>
              <a:t>鸟儿出生</a:t>
            </a:r>
            <a:r>
              <a:rPr lang="en-US" altLang="zh-CN" sz="1600"/>
              <a:t>-</a:t>
            </a:r>
            <a:r>
              <a:rPr lang="zh-CN" altLang="en-US" sz="1600"/>
              <a:t>死亡的项，密度不守恒。有这两项是</a:t>
            </a:r>
            <a:r>
              <a:rPr lang="en-US" altLang="zh-CN" sz="1600"/>
              <a:t>multhusian flock</a:t>
            </a:r>
            <a:r>
              <a:rPr lang="zh-CN" altLang="en-US" sz="1600"/>
              <a:t>，没有这两项</a:t>
            </a:r>
            <a:r>
              <a:rPr lang="zh-CN" altLang="en-US" sz="1600"/>
              <a:t>则是</a:t>
            </a:r>
            <a:r>
              <a:rPr lang="en-US" altLang="zh-CN" sz="1600"/>
              <a:t>immortal flock</a:t>
            </a:r>
            <a:endParaRPr lang="en-US" altLang="zh-CN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研究</a:t>
            </a:r>
            <a:r>
              <a:rPr lang="en-US" altLang="zh-CN" sz="1600"/>
              <a:t>multhusian flock</a:t>
            </a:r>
            <a:r>
              <a:rPr lang="zh-CN" altLang="en-US" sz="1600"/>
              <a:t>的动机：出生</a:t>
            </a:r>
            <a:r>
              <a:rPr lang="en-US" altLang="zh-CN" sz="1600"/>
              <a:t>-</a:t>
            </a:r>
            <a:r>
              <a:rPr lang="zh-CN" altLang="en-US" sz="1600"/>
              <a:t>死亡的时间尺度明显大于鸟儿飞行的时间尺度，加入出生</a:t>
            </a:r>
            <a:r>
              <a:rPr lang="en-US" altLang="zh-CN" sz="1600"/>
              <a:t>-</a:t>
            </a:r>
            <a:r>
              <a:rPr lang="zh-CN" altLang="en-US" sz="1600"/>
              <a:t>死亡项明明不合理。一开始的</a:t>
            </a:r>
            <a:r>
              <a:rPr lang="en-US" altLang="zh-CN" sz="1600"/>
              <a:t>Toner-Tu</a:t>
            </a:r>
            <a:r>
              <a:rPr lang="zh-CN" altLang="en-US" sz="1600"/>
              <a:t>理论是为了研究</a:t>
            </a:r>
            <a:r>
              <a:rPr lang="en-US" altLang="zh-CN" sz="1600"/>
              <a:t>immortal flock</a:t>
            </a:r>
            <a:r>
              <a:rPr lang="zh-CN" altLang="en-US" sz="1600"/>
              <a:t>，但是由于数量守恒导致研究太难，因此加入出生</a:t>
            </a:r>
            <a:r>
              <a:rPr lang="en-US" altLang="zh-CN" sz="1600"/>
              <a:t>-</a:t>
            </a:r>
            <a:r>
              <a:rPr lang="zh-CN" altLang="en-US" sz="1600"/>
              <a:t>死亡项使数量不守恒，让问题</a:t>
            </a:r>
            <a:r>
              <a:rPr lang="zh-CN" altLang="en-US" sz="1600"/>
              <a:t>更简单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/>
          </a:p>
        </p:txBody>
      </p:sp>
      <p:grpSp>
        <p:nvGrpSpPr>
          <p:cNvPr id="16" name="组合 15"/>
          <p:cNvGrpSpPr/>
          <p:nvPr/>
        </p:nvGrpSpPr>
        <p:grpSpPr>
          <a:xfrm>
            <a:off x="866775" y="1105535"/>
            <a:ext cx="8051800" cy="1134745"/>
            <a:chOff x="1214" y="1349"/>
            <a:chExt cx="12680" cy="1787"/>
          </a:xfrm>
        </p:grpSpPr>
        <p:grpSp>
          <p:nvGrpSpPr>
            <p:cNvPr id="46" name="组合 45"/>
            <p:cNvGrpSpPr/>
            <p:nvPr/>
          </p:nvGrpSpPr>
          <p:grpSpPr>
            <a:xfrm>
              <a:off x="1214" y="1426"/>
              <a:ext cx="12680" cy="1710"/>
              <a:chOff x="742" y="1168"/>
              <a:chExt cx="12680" cy="1710"/>
            </a:xfrm>
          </p:grpSpPr>
          <p:pic>
            <p:nvPicPr>
              <p:cNvPr id="43" name="图片 4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" y="1168"/>
                <a:ext cx="12681" cy="1038"/>
              </a:xfrm>
              <a:prstGeom prst="rect">
                <a:avLst/>
              </a:prstGeom>
            </p:spPr>
          </p:pic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" y="2156"/>
                <a:ext cx="10538" cy="722"/>
              </a:xfrm>
              <a:prstGeom prst="rect">
                <a:avLst/>
              </a:prstGeom>
            </p:spPr>
          </p:pic>
        </p:grpSp>
        <p:sp>
          <p:nvSpPr>
            <p:cNvPr id="7" name="矩形 6"/>
            <p:cNvSpPr/>
            <p:nvPr/>
          </p:nvSpPr>
          <p:spPr>
            <a:xfrm>
              <a:off x="2087" y="1349"/>
              <a:ext cx="5168" cy="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406" y="2521"/>
              <a:ext cx="2053" cy="61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640" y="4881880"/>
            <a:ext cx="2407920" cy="327025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4574540" y="1193165"/>
            <a:ext cx="1038225" cy="3175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29285" y="678815"/>
            <a:ext cx="2870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流体力学理论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9969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-goldstone mode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，标度指数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025" y="803910"/>
            <a:ext cx="4356735" cy="35109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9390" y="682625"/>
            <a:ext cx="4444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Toner-Tu</a:t>
            </a:r>
            <a:r>
              <a:rPr lang="zh-CN" altLang="en-US" sz="1600"/>
              <a:t>方程</a:t>
            </a:r>
            <a:endParaRPr lang="zh-CN" altLang="en-US" sz="1600"/>
          </a:p>
        </p:txBody>
      </p:sp>
      <p:grpSp>
        <p:nvGrpSpPr>
          <p:cNvPr id="28" name="组合 27"/>
          <p:cNvGrpSpPr/>
          <p:nvPr/>
        </p:nvGrpSpPr>
        <p:grpSpPr>
          <a:xfrm>
            <a:off x="1287780" y="1021715"/>
            <a:ext cx="4210050" cy="958850"/>
            <a:chOff x="2080" y="1706"/>
            <a:chExt cx="6630" cy="151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0" y="1706"/>
              <a:ext cx="5815" cy="50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rcRect t="5190"/>
            <a:stretch>
              <a:fillRect/>
            </a:stretch>
          </p:blipFill>
          <p:spPr>
            <a:xfrm>
              <a:off x="4881" y="2634"/>
              <a:ext cx="3829" cy="582"/>
            </a:xfrm>
            <a:prstGeom prst="rect">
              <a:avLst/>
            </a:prstGeom>
          </p:spPr>
        </p:pic>
        <p:cxnSp>
          <p:nvCxnSpPr>
            <p:cNvPr id="12" name="直接连接符 11"/>
            <p:cNvCxnSpPr/>
            <p:nvPr/>
          </p:nvCxnSpPr>
          <p:spPr>
            <a:xfrm flipV="1">
              <a:off x="3909" y="2387"/>
              <a:ext cx="2925" cy="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191770" y="2042160"/>
            <a:ext cx="7374255" cy="2345055"/>
            <a:chOff x="681" y="3216"/>
            <a:chExt cx="11613" cy="3693"/>
          </a:xfrm>
        </p:grpSpPr>
        <p:sp>
          <p:nvSpPr>
            <p:cNvPr id="10" name="文本框 9"/>
            <p:cNvSpPr txBox="1"/>
            <p:nvPr/>
          </p:nvSpPr>
          <p:spPr>
            <a:xfrm>
              <a:off x="2995" y="3844"/>
              <a:ext cx="415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临界点</a:t>
              </a:r>
              <a:endParaRPr lang="zh-CN" altLang="en-US" sz="1600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4" y="3844"/>
              <a:ext cx="1516" cy="53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4" y="4514"/>
              <a:ext cx="1518" cy="53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9" y="4262"/>
              <a:ext cx="1632" cy="95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2995" y="4472"/>
              <a:ext cx="163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有序相</a:t>
              </a:r>
              <a:endParaRPr lang="zh-CN" altLang="en-US" sz="1600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/>
            <a:srcRect r="47761" b="-13158"/>
            <a:stretch>
              <a:fillRect/>
            </a:stretch>
          </p:blipFill>
          <p:spPr>
            <a:xfrm>
              <a:off x="1164" y="3216"/>
              <a:ext cx="783" cy="609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81" y="3216"/>
              <a:ext cx="64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/>
                <a:t>         </a:t>
              </a:r>
              <a:r>
                <a:rPr lang="zh-CN" altLang="en-US" sz="1600"/>
                <a:t>是场的质量</a:t>
              </a:r>
              <a:endParaRPr lang="zh-CN" altLang="en-US" sz="1600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2861" y="5021"/>
              <a:ext cx="9433" cy="1888"/>
              <a:chOff x="2861" y="5021"/>
              <a:chExt cx="9433" cy="1888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2861" y="5021"/>
                <a:ext cx="9433" cy="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1600"/>
                  <a:t>旋转对称性破缺，有两种</a:t>
                </a:r>
                <a:r>
                  <a:rPr lang="en-US" altLang="zh-CN" sz="1600"/>
                  <a:t>mode</a:t>
                </a:r>
                <a:r>
                  <a:rPr lang="zh-CN" altLang="en-US" sz="1600"/>
                  <a:t>：</a:t>
                </a:r>
                <a:endParaRPr lang="zh-CN" altLang="en-US" sz="1600"/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1</a:t>
                </a:r>
                <a:r>
                  <a:rPr lang="zh-CN" altLang="en-US" sz="1600"/>
                  <a:t>个有质量的</a:t>
                </a:r>
                <a:r>
                  <a:rPr lang="en-US" altLang="zh-CN" sz="1600"/>
                  <a:t>Higgs mode</a:t>
                </a:r>
                <a:r>
                  <a:rPr lang="zh-CN" altLang="en-US" sz="1600"/>
                  <a:t>：</a:t>
                </a:r>
                <a:endParaRPr lang="zh-CN" altLang="en-US" sz="1600"/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N-1</a:t>
                </a:r>
                <a:r>
                  <a:rPr lang="zh-CN" altLang="en-US" sz="1600"/>
                  <a:t>个无质量的</a:t>
                </a:r>
                <a:r>
                  <a:rPr lang="en-US" altLang="zh-CN" sz="1600"/>
                  <a:t>goldstone mode</a:t>
                </a:r>
                <a:r>
                  <a:rPr lang="zh-CN" altLang="en-US" sz="1600"/>
                  <a:t>：</a:t>
                </a:r>
                <a:endParaRPr lang="zh-CN" altLang="en-US" sz="1600"/>
              </a:p>
            </p:txBody>
          </p:sp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1" y="5867"/>
                <a:ext cx="544" cy="459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14" y="6383"/>
                <a:ext cx="508" cy="412"/>
              </a:xfrm>
              <a:prstGeom prst="rect">
                <a:avLst/>
              </a:prstGeom>
            </p:spPr>
          </p:pic>
        </p:grpSp>
      </p:grpSp>
      <p:sp>
        <p:nvSpPr>
          <p:cNvPr id="24" name="文本框 23"/>
          <p:cNvSpPr txBox="1"/>
          <p:nvPr/>
        </p:nvSpPr>
        <p:spPr>
          <a:xfrm>
            <a:off x="199390" y="4426585"/>
            <a:ext cx="10044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长波极限下的物理是无质量的</a:t>
            </a:r>
            <a:r>
              <a:rPr lang="en-US" altLang="zh-CN" sz="1600"/>
              <a:t>mode</a:t>
            </a:r>
            <a:r>
              <a:rPr lang="zh-CN" altLang="en-US" sz="1600"/>
              <a:t>描述的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因此临界点处的临界指数（</a:t>
            </a:r>
            <a:r>
              <a:rPr lang="en-US" altLang="zh-CN" sz="1600"/>
              <a:t>critical exponent</a:t>
            </a:r>
            <a:r>
              <a:rPr lang="zh-CN" altLang="en-US" sz="1600"/>
              <a:t>）刻画的是</a:t>
            </a:r>
            <a:r>
              <a:rPr lang="en-US" altLang="zh-CN" sz="1600"/>
              <a:t>critical mode</a:t>
            </a:r>
            <a:r>
              <a:rPr lang="zh-CN" altLang="en-US" sz="1600"/>
              <a:t>的时空结构</a:t>
            </a:r>
            <a:endParaRPr lang="zh-CN" altLang="en-US" sz="1600"/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1600"/>
              <a:t> </a:t>
            </a:r>
            <a:r>
              <a:rPr lang="en-US" altLang="zh-CN" sz="1600"/>
              <a:t>           </a:t>
            </a:r>
            <a:r>
              <a:rPr lang="zh-CN" altLang="en-US" sz="1600"/>
              <a:t>有序相里的标度指数（</a:t>
            </a:r>
            <a:r>
              <a:rPr lang="en-US" altLang="zh-CN" sz="1600"/>
              <a:t>scaling exponent</a:t>
            </a:r>
            <a:r>
              <a:rPr lang="zh-CN" altLang="en-US" sz="1600"/>
              <a:t>）刻画的是</a:t>
            </a:r>
            <a:r>
              <a:rPr lang="en-US" altLang="zh-CN" sz="1600"/>
              <a:t>goldstone mode</a:t>
            </a:r>
            <a:r>
              <a:rPr lang="zh-CN" altLang="en-US" sz="1600"/>
              <a:t>的时空结构</a:t>
            </a:r>
            <a:endParaRPr lang="zh-CN" altLang="en-US" sz="1600"/>
          </a:p>
        </p:txBody>
      </p:sp>
      <p:grpSp>
        <p:nvGrpSpPr>
          <p:cNvPr id="29" name="组合 28"/>
          <p:cNvGrpSpPr/>
          <p:nvPr/>
        </p:nvGrpSpPr>
        <p:grpSpPr>
          <a:xfrm>
            <a:off x="2831465" y="2428240"/>
            <a:ext cx="4734560" cy="363220"/>
            <a:chOff x="5216" y="4039"/>
            <a:chExt cx="7456" cy="572"/>
          </a:xfrm>
        </p:grpSpPr>
        <p:sp>
          <p:nvSpPr>
            <p:cNvPr id="18" name="文本框 17"/>
            <p:cNvSpPr txBox="1"/>
            <p:nvPr/>
          </p:nvSpPr>
          <p:spPr>
            <a:xfrm>
              <a:off x="5372" y="4039"/>
              <a:ext cx="73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是无质量</a:t>
              </a:r>
              <a:r>
                <a:rPr lang="en-US" altLang="zh-CN" sz="1600"/>
                <a:t> </a:t>
              </a:r>
              <a:r>
                <a:rPr lang="en-US" altLang="zh-CN" sz="1600"/>
                <a:t>critical mode</a:t>
              </a:r>
              <a:r>
                <a:rPr lang="zh-CN" altLang="en-US" sz="1600"/>
                <a:t>（</a:t>
              </a:r>
              <a:r>
                <a:rPr lang="en-US" altLang="zh-CN" sz="1600"/>
                <a:t>N</a:t>
              </a:r>
              <a:r>
                <a:rPr lang="zh-CN" altLang="en-US" sz="1600"/>
                <a:t>个）</a:t>
              </a:r>
              <a:endParaRPr lang="zh-CN" altLang="en-US" sz="1600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rcRect l="78315" t="11395" r="17300" b="-23772"/>
            <a:stretch>
              <a:fillRect/>
            </a:stretch>
          </p:blipFill>
          <p:spPr>
            <a:xfrm>
              <a:off x="5216" y="4039"/>
              <a:ext cx="255" cy="572"/>
            </a:xfrm>
            <a:prstGeom prst="rect">
              <a:avLst/>
            </a:prstGeom>
          </p:spPr>
        </p:pic>
      </p:grpSp>
      <p:sp>
        <p:nvSpPr>
          <p:cNvPr id="32" name="文本框 31"/>
          <p:cNvSpPr txBox="1"/>
          <p:nvPr/>
        </p:nvSpPr>
        <p:spPr>
          <a:xfrm>
            <a:off x="199390" y="5564505"/>
            <a:ext cx="102031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Toner-Tu</a:t>
            </a:r>
            <a:r>
              <a:rPr lang="zh-CN" altLang="en-US" sz="1600"/>
              <a:t>理论</a:t>
            </a:r>
            <a:r>
              <a:rPr lang="zh-CN" altLang="en-US" sz="1600">
                <a:sym typeface="+mn-ea"/>
              </a:rPr>
              <a:t>建立之初是为了检查</a:t>
            </a:r>
            <a:r>
              <a:rPr lang="en-US" altLang="zh-CN" sz="1600">
                <a:sym typeface="+mn-ea"/>
              </a:rPr>
              <a:t>vicsek model</a:t>
            </a:r>
            <a:r>
              <a:rPr lang="zh-CN" altLang="en-US" sz="1600">
                <a:sym typeface="+mn-ea"/>
              </a:rPr>
              <a:t>是否真的有长程序，</a:t>
            </a:r>
            <a:r>
              <a:rPr lang="zh-CN" altLang="en-US" sz="1600"/>
              <a:t>是描述有序相行为的理论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Toner-Tu</a:t>
            </a:r>
            <a:r>
              <a:rPr lang="zh-CN" altLang="en-US" sz="1600"/>
              <a:t>的三个标度指数：各向异性指数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ζ，动力学指数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z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，粗糙度指数χ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/>
          </a:p>
        </p:txBody>
      </p:sp>
      <p:grpSp>
        <p:nvGrpSpPr>
          <p:cNvPr id="33" name="组合 32"/>
          <p:cNvGrpSpPr/>
          <p:nvPr/>
        </p:nvGrpSpPr>
        <p:grpSpPr>
          <a:xfrm>
            <a:off x="1287780" y="6336030"/>
            <a:ext cx="3180080" cy="521970"/>
            <a:chOff x="3153" y="3024"/>
            <a:chExt cx="5008" cy="822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53" y="3105"/>
              <a:ext cx="1420" cy="613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35" y="3024"/>
              <a:ext cx="1353" cy="822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50" y="3253"/>
              <a:ext cx="1311" cy="465"/>
            </a:xfrm>
            <a:prstGeom prst="rect">
              <a:avLst/>
            </a:prstGeom>
          </p:spPr>
        </p:pic>
      </p:grpSp>
      <p:sp>
        <p:nvSpPr>
          <p:cNvPr id="37" name="文本框 36"/>
          <p:cNvSpPr txBox="1"/>
          <p:nvPr/>
        </p:nvSpPr>
        <p:spPr>
          <a:xfrm>
            <a:off x="4529455" y="6387465"/>
            <a:ext cx="508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200"/>
              <a:t>x</a:t>
            </a:r>
            <a:r>
              <a:rPr lang="zh-CN" altLang="en-US" sz="1200"/>
              <a:t>是平行于运动方向；</a:t>
            </a:r>
            <a:r>
              <a:rPr lang="en-US" altLang="zh-CN" sz="1200"/>
              <a:t>y</a:t>
            </a:r>
            <a:r>
              <a:rPr lang="zh-CN" altLang="en-US" sz="1200"/>
              <a:t>是垂直于运动方向</a:t>
            </a:r>
            <a:endParaRPr lang="zh-CN" alt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7925435" y="6212205"/>
            <a:ext cx="3487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χ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&lt;0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意味着长程序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95942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-Toner-Tu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理论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56210" y="1922780"/>
            <a:ext cx="118446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ea typeface="微软雅黑" panose="020B0503020204020204" charset="-122"/>
              </a:rPr>
              <a:t>使用</a:t>
            </a:r>
            <a:r>
              <a:rPr lang="en-US" altLang="zh-CN" sz="1600">
                <a:ea typeface="微软雅黑" panose="020B0503020204020204" charset="-122"/>
              </a:rPr>
              <a:t>vicsek</a:t>
            </a:r>
            <a:r>
              <a:rPr lang="zh-CN" altLang="en-US" sz="1600">
                <a:ea typeface="微软雅黑" panose="020B0503020204020204" charset="-122"/>
              </a:rPr>
              <a:t>模型模拟得到</a:t>
            </a:r>
            <a:r>
              <a:rPr lang="zh-CN" altLang="en-US" sz="1600">
                <a:ea typeface="微软雅黑" panose="020B0503020204020204" charset="-122"/>
              </a:rPr>
              <a:t>的标度指数和</a:t>
            </a:r>
            <a:r>
              <a:rPr lang="en-US" altLang="zh-CN" sz="1600">
                <a:ea typeface="微软雅黑" panose="020B0503020204020204" charset="-122"/>
              </a:rPr>
              <a:t>TT95</a:t>
            </a:r>
            <a:r>
              <a:rPr lang="zh-CN" altLang="en-US" sz="1600">
                <a:ea typeface="微软雅黑" panose="020B0503020204020204" charset="-122"/>
              </a:rPr>
              <a:t>的理论值不一样</a:t>
            </a:r>
            <a:r>
              <a:rPr lang="en-US" altLang="zh-CN" sz="1600">
                <a:ea typeface="微软雅黑" panose="020B0503020204020204" charset="-122"/>
              </a:rPr>
              <a:t>  </a:t>
            </a:r>
            <a:r>
              <a:rPr lang="en-US" altLang="zh-CN" sz="1600">
                <a:solidFill>
                  <a:schemeClr val="accent1"/>
                </a:solidFill>
                <a:ea typeface="微软雅黑" panose="020B0503020204020204" charset="-122"/>
                <a:cs typeface="+mn-lt"/>
                <a:sym typeface="+mn-ea"/>
              </a:rPr>
              <a:t>B. Mahault et al., Phys. Rev. Lett. 123, 218001 (2019).</a:t>
            </a:r>
            <a:endParaRPr lang="en-US" altLang="zh-CN" sz="1600">
              <a:solidFill>
                <a:schemeClr val="accent1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6210" y="1504315"/>
            <a:ext cx="11908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指出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TT95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遗漏了线性项，不过不影响标度指数；不确定非线性项是否会影响标度指数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lang="en-US" altLang="zh-CN" sz="16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j-lt"/>
                <a:sym typeface="+mn-ea"/>
              </a:rPr>
              <a:t>J. Toner, Phys. Rev. E 86, 031918 (2012).</a:t>
            </a:r>
            <a:endParaRPr lang="en-US" altLang="zh-CN" sz="16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j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6210" y="632460"/>
            <a:ext cx="120262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ea typeface="微软雅黑" panose="020B0503020204020204" charset="-122"/>
              </a:rPr>
              <a:t>开创</a:t>
            </a:r>
            <a:r>
              <a:rPr lang="en-US" altLang="zh-CN" sz="1600">
                <a:ea typeface="微软雅黑" panose="020B0503020204020204" charset="-122"/>
              </a:rPr>
              <a:t>Toner-Tu</a:t>
            </a:r>
            <a:r>
              <a:rPr lang="zh-CN" altLang="en-US" sz="1600">
                <a:ea typeface="微软雅黑" panose="020B0503020204020204" charset="-122"/>
              </a:rPr>
              <a:t>理论</a:t>
            </a:r>
            <a:r>
              <a:rPr lang="en-US" altLang="zh-CN" sz="1600">
                <a:ea typeface="微软雅黑" panose="020B0503020204020204" charset="-122"/>
              </a:rPr>
              <a:t>(TT95),</a:t>
            </a:r>
            <a:r>
              <a:rPr lang="zh-CN" altLang="en-US" sz="1600">
                <a:ea typeface="微软雅黑" panose="020B0503020204020204" charset="-122"/>
              </a:rPr>
              <a:t>认为标度指数可被精确计算</a:t>
            </a:r>
            <a:r>
              <a:rPr lang="en-US" altLang="zh-CN" sz="1600">
                <a:ea typeface="微软雅黑" panose="020B0503020204020204" charset="-122"/>
              </a:rPr>
              <a:t>  </a:t>
            </a:r>
            <a:r>
              <a:rPr lang="en-US" altLang="zh-CN" sz="1600">
                <a:solidFill>
                  <a:schemeClr val="accent1"/>
                </a:solidFill>
                <a:ea typeface="微软雅黑" panose="020B0503020204020204" charset="-122"/>
                <a:cs typeface="+mn-lt"/>
                <a:sym typeface="+mn-ea"/>
              </a:rPr>
              <a:t>J. Toner and Y. Tu, Phys. Rev. Lett. 75, 4326 (1995).</a:t>
            </a:r>
            <a:endParaRPr lang="en-US" altLang="zh-CN" sz="1600">
              <a:solidFill>
                <a:schemeClr val="accent1"/>
              </a:solidFill>
              <a:ea typeface="微软雅黑" panose="020B0503020204020204" charset="-122"/>
              <a:cs typeface="+mn-lt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6210" y="1059815"/>
            <a:ext cx="11922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ea typeface="微软雅黑" panose="020B0503020204020204" charset="-122"/>
              </a:rPr>
              <a:t>认为</a:t>
            </a:r>
            <a:r>
              <a:rPr lang="en-US" altLang="zh-CN" sz="1600">
                <a:ea typeface="微软雅黑" panose="020B0503020204020204" charset="-122"/>
              </a:rPr>
              <a:t>TT95</a:t>
            </a:r>
            <a:r>
              <a:rPr lang="zh-CN" altLang="en-US" sz="1600">
                <a:ea typeface="微软雅黑" panose="020B0503020204020204" charset="-122"/>
              </a:rPr>
              <a:t>标度指数控制的是</a:t>
            </a:r>
            <a:r>
              <a:rPr lang="en-US" altLang="zh-CN" sz="1600">
                <a:ea typeface="微软雅黑" panose="020B0503020204020204" charset="-122"/>
              </a:rPr>
              <a:t>2</a:t>
            </a:r>
            <a:r>
              <a:rPr lang="zh-CN" altLang="en-US" sz="1600">
                <a:ea typeface="微软雅黑" panose="020B0503020204020204" charset="-122"/>
              </a:rPr>
              <a:t>维</a:t>
            </a:r>
            <a:r>
              <a:rPr lang="en-US" altLang="zh-CN" sz="1600">
                <a:ea typeface="微软雅黑" panose="020B0503020204020204" charset="-122"/>
              </a:rPr>
              <a:t>multhusian flock</a:t>
            </a:r>
            <a:r>
              <a:rPr lang="zh-CN" altLang="en-US" sz="1600">
                <a:ea typeface="微软雅黑" panose="020B0503020204020204" charset="-122"/>
              </a:rPr>
              <a:t>的标度</a:t>
            </a:r>
            <a:r>
              <a:rPr lang="en-US" altLang="zh-CN" sz="1600">
                <a:solidFill>
                  <a:schemeClr val="accent1"/>
                </a:solidFill>
                <a:ea typeface="微软雅黑" panose="020B0503020204020204" charset="-122"/>
                <a:cs typeface="+mn-lt"/>
                <a:sym typeface="+mn-ea"/>
              </a:rPr>
              <a:t>J. Toner, Phys. Rev. Lett. 108, 088102 (2012).</a:t>
            </a:r>
            <a:endParaRPr lang="en-US" altLang="zh-CN" sz="1600">
              <a:solidFill>
                <a:schemeClr val="accent1"/>
              </a:solidFill>
              <a:ea typeface="微软雅黑" panose="020B0503020204020204" charset="-122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accent1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6210" y="2372360"/>
            <a:ext cx="11727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通过对称性分析，得到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multhusian flock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immortal flock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的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goldstone mode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方程，得到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multhusian flock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immortal flock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的标度指数，模拟和理论符合的很好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lang="en-US" altLang="zh-CN" sz="16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H. Chat</a:t>
            </a:r>
            <a:r>
              <a:rPr lang="en-US" altLang="en-US" sz="16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é</a:t>
            </a:r>
            <a:r>
              <a:rPr lang="en-US" altLang="zh-CN" sz="16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and A. Solon, Phys. Rev. Lett. 132, 268302 (2024).</a:t>
            </a:r>
            <a:endParaRPr lang="en-US" altLang="zh-CN" sz="16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6210" y="3068320"/>
            <a:ext cx="11563985" cy="717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驳斥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H. Chat</a:t>
            </a:r>
            <a:r>
              <a:rPr lang="en-US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é et al.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(2024)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，指出文中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“goldstone mode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的时间导数必须是全散度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的论断是错误的，方程推错了。并从理论上证明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multhusian flock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immortal flock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的标度指数无法精确算出</a:t>
            </a:r>
            <a:r>
              <a:rPr lang="en-US" altLang="zh-CN" sz="160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Maitra A et al., arXiv:2503.17064 (2025).</a:t>
            </a:r>
            <a:endParaRPr lang="en-US" altLang="zh-CN" sz="16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15060" y="751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4244340"/>
            <a:ext cx="6018530" cy="1880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77720" y="6152515"/>
            <a:ext cx="2138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multhusian flock</a:t>
            </a:r>
            <a:endParaRPr lang="en-US" altLang="zh-CN" sz="1600"/>
          </a:p>
        </p:txBody>
      </p:sp>
      <p:sp>
        <p:nvSpPr>
          <p:cNvPr id="21" name="文本框 20"/>
          <p:cNvSpPr txBox="1"/>
          <p:nvPr/>
        </p:nvSpPr>
        <p:spPr>
          <a:xfrm>
            <a:off x="8171180" y="612521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immortal flock</a:t>
            </a:r>
            <a:endParaRPr lang="en-US" altLang="zh-CN" sz="1600"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08780"/>
            <a:ext cx="6096000" cy="1798955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>
            <a:off x="6048375" y="4121785"/>
            <a:ext cx="0" cy="211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103174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-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动力学重整化群（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）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95935" y="863600"/>
            <a:ext cx="83851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将场傅里叶变换</a:t>
            </a:r>
            <a:r>
              <a:rPr lang="en-US" altLang="zh-CN" sz="1600"/>
              <a:t>             </a:t>
            </a:r>
            <a:r>
              <a:rPr lang="zh-CN" altLang="en-US" sz="1600"/>
              <a:t>，分为快分量（</a:t>
            </a:r>
            <a:r>
              <a:rPr lang="zh-CN" altLang="en-US" sz="1600"/>
              <a:t>短波长）和慢分量（长波长）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快分量</a:t>
            </a:r>
            <a:endParaRPr lang="zh-CN" altLang="en-US" sz="1600">
              <a:sym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慢分量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755" y="1014730"/>
            <a:ext cx="622935" cy="2546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835" y="1365885"/>
            <a:ext cx="782320" cy="2914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835" y="1753870"/>
            <a:ext cx="781685" cy="2717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5373"/>
          <a:stretch>
            <a:fillRect/>
          </a:stretch>
        </p:blipFill>
        <p:spPr>
          <a:xfrm>
            <a:off x="2901315" y="1413510"/>
            <a:ext cx="1311275" cy="2508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t="20850" r="3712"/>
          <a:stretch>
            <a:fillRect/>
          </a:stretch>
        </p:blipFill>
        <p:spPr>
          <a:xfrm>
            <a:off x="2901315" y="1769745"/>
            <a:ext cx="1263015" cy="2559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2160" y="3719830"/>
            <a:ext cx="5399405" cy="40957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016000" y="2084705"/>
            <a:ext cx="4692650" cy="336550"/>
            <a:chOff x="2214" y="3272"/>
            <a:chExt cx="7390" cy="53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rcRect l="85314" t="22680" b="13137"/>
            <a:stretch>
              <a:fillRect/>
            </a:stretch>
          </p:blipFill>
          <p:spPr>
            <a:xfrm>
              <a:off x="2968" y="3342"/>
              <a:ext cx="363" cy="391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214" y="3272"/>
              <a:ext cx="73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其中</a:t>
              </a:r>
              <a:r>
                <a:rPr lang="en-US" altLang="zh-CN" sz="1600"/>
                <a:t>    </a:t>
              </a:r>
              <a:r>
                <a:rPr lang="zh-CN" altLang="en-US" sz="1600"/>
                <a:t>是紫外截断，</a:t>
              </a:r>
              <a:endParaRPr lang="zh-CN" altLang="en-US" sz="1600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08" y="3346"/>
              <a:ext cx="1830" cy="411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1077595" y="2921635"/>
            <a:ext cx="7726045" cy="337185"/>
            <a:chOff x="626" y="4050"/>
            <a:chExt cx="12167" cy="531"/>
          </a:xfrm>
        </p:grpSpPr>
        <p:sp>
          <p:nvSpPr>
            <p:cNvPr id="16" name="文本框 15"/>
            <p:cNvSpPr txBox="1"/>
            <p:nvPr/>
          </p:nvSpPr>
          <p:spPr>
            <a:xfrm>
              <a:off x="626" y="4050"/>
              <a:ext cx="1216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buFont typeface="Arial" panose="020B0604020202020204" pitchFamily="34" charset="0"/>
                <a:buNone/>
              </a:pPr>
              <a:r>
                <a:rPr lang="en-US" altLang="zh-CN" sz="1600"/>
                <a:t>1</a:t>
              </a:r>
              <a:r>
                <a:rPr lang="zh-CN" altLang="en-US" sz="1600"/>
                <a:t>、通过对</a:t>
              </a:r>
              <a:r>
                <a:rPr lang="en-US" altLang="zh-CN" sz="1600"/>
                <a:t>                </a:t>
              </a:r>
              <a:r>
                <a:rPr lang="zh-CN" altLang="en-US" sz="1600"/>
                <a:t>微扰展开将</a:t>
              </a:r>
              <a:r>
                <a:rPr lang="en-US" altLang="zh-CN" sz="1600"/>
                <a:t>                 </a:t>
              </a:r>
              <a:r>
                <a:rPr lang="zh-CN" altLang="en-US" sz="1600"/>
                <a:t>消除（费曼图</a:t>
              </a:r>
              <a:r>
                <a:rPr lang="zh-CN" altLang="en-US" sz="1600"/>
                <a:t>计算）</a:t>
              </a:r>
              <a:r>
                <a:rPr lang="en-US" altLang="zh-CN" sz="1600"/>
                <a:t>                 </a:t>
              </a:r>
              <a:endParaRPr lang="en-US" altLang="zh-CN" sz="1600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6" y="4122"/>
              <a:ext cx="1232" cy="45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1" y="4122"/>
              <a:ext cx="1231" cy="428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546100" y="2557145"/>
            <a:ext cx="5302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DRG</a:t>
            </a:r>
            <a:r>
              <a:rPr lang="zh-CN" altLang="en-US" sz="1600"/>
              <a:t>步骤</a:t>
            </a:r>
            <a:endParaRPr lang="zh-CN" altLang="en-US" sz="1600"/>
          </a:p>
        </p:txBody>
      </p:sp>
      <p:sp>
        <p:nvSpPr>
          <p:cNvPr id="21" name="文本框 20"/>
          <p:cNvSpPr txBox="1"/>
          <p:nvPr/>
        </p:nvSpPr>
        <p:spPr>
          <a:xfrm>
            <a:off x="1077595" y="3365500"/>
            <a:ext cx="71450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r>
              <a:rPr lang="zh-CN" altLang="en-US" sz="1600"/>
              <a:t>、对场，时空进行重标度</a:t>
            </a:r>
            <a:endParaRPr lang="zh-CN" altLang="en-US" sz="1600"/>
          </a:p>
        </p:txBody>
      </p:sp>
      <p:sp>
        <p:nvSpPr>
          <p:cNvPr id="22" name="文本框 21"/>
          <p:cNvSpPr txBox="1"/>
          <p:nvPr/>
        </p:nvSpPr>
        <p:spPr>
          <a:xfrm>
            <a:off x="1077595" y="4197350"/>
            <a:ext cx="97961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en-US" altLang="zh-CN" sz="1600"/>
              <a:t>3</a:t>
            </a:r>
            <a:r>
              <a:rPr lang="zh-CN" altLang="en-US" sz="1600"/>
              <a:t>、将方程恢复到</a:t>
            </a:r>
            <a:r>
              <a:rPr lang="zh-CN" altLang="en-US" sz="1600"/>
              <a:t>与原始方程相同的形式，</a:t>
            </a:r>
            <a:r>
              <a:rPr lang="zh-CN" altLang="en-US" sz="1600"/>
              <a:t>得到参数流方程</a:t>
            </a:r>
            <a:endParaRPr lang="zh-CN" altLang="en-US" sz="1600"/>
          </a:p>
          <a:p>
            <a:pPr indent="0" algn="l" fontAlgn="auto">
              <a:lnSpc>
                <a:spcPct val="150000"/>
              </a:lnSpc>
            </a:pPr>
            <a:r>
              <a:rPr lang="en-US" altLang="zh-CN" sz="1600"/>
              <a:t>4</a:t>
            </a:r>
            <a:r>
              <a:rPr lang="zh-CN" altLang="en-US" sz="1600"/>
              <a:t>、求参数空间的不动点，在不动点附近线性近似，看稳不稳定，稳定就可以</a:t>
            </a:r>
            <a:r>
              <a:rPr lang="zh-CN" altLang="en-US" sz="1600"/>
              <a:t>计算标度</a:t>
            </a:r>
            <a:r>
              <a:rPr lang="zh-CN" altLang="en-US" sz="1600"/>
              <a:t>指数</a:t>
            </a:r>
            <a:endParaRPr lang="zh-CN" altLang="en-US" sz="1600"/>
          </a:p>
        </p:txBody>
      </p:sp>
      <p:sp>
        <p:nvSpPr>
          <p:cNvPr id="23" name="矩形 22"/>
          <p:cNvSpPr/>
          <p:nvPr/>
        </p:nvSpPr>
        <p:spPr>
          <a:xfrm>
            <a:off x="1077595" y="2876550"/>
            <a:ext cx="5671185" cy="48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748780" y="2508250"/>
            <a:ext cx="43662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1"/>
                </a:solidFill>
              </a:rPr>
              <a:t>最难的一步</a:t>
            </a:r>
            <a:endParaRPr lang="zh-CN" altLang="en-US" sz="1400">
              <a:solidFill>
                <a:schemeClr val="accent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24535" y="5034280"/>
            <a:ext cx="11458575" cy="1568450"/>
            <a:chOff x="1141" y="7928"/>
            <a:chExt cx="18045" cy="2470"/>
          </a:xfrm>
        </p:grpSpPr>
        <p:sp>
          <p:nvSpPr>
            <p:cNvPr id="25" name="文本框 24"/>
            <p:cNvSpPr txBox="1"/>
            <p:nvPr/>
          </p:nvSpPr>
          <p:spPr>
            <a:xfrm>
              <a:off x="1141" y="7928"/>
              <a:ext cx="18045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/>
                <a:t>在这篇文献中，省去了所有费曼图计算（会告诉你算了也没用，非线性项都是相关</a:t>
              </a:r>
              <a:r>
                <a:rPr lang="zh-CN" altLang="en-US" sz="1600"/>
                <a:t>的），关于</a:t>
              </a:r>
              <a:r>
                <a:rPr lang="en-US" altLang="zh-CN" sz="1600"/>
                <a:t>DRG</a:t>
              </a:r>
              <a:r>
                <a:rPr lang="zh-CN" altLang="en-US" sz="1600"/>
                <a:t>只要知道两点</a:t>
              </a:r>
              <a:endParaRPr lang="zh-CN" altLang="en-US" sz="1600"/>
            </a:p>
            <a:p>
              <a:pPr indent="457200" fontAlgn="auto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/>
                <a:t>1</a:t>
              </a:r>
              <a:r>
                <a:rPr lang="zh-CN" altLang="en-US" sz="1600"/>
                <a:t>、当微扰项（非线性项）可表示为全散度（</a:t>
              </a:r>
              <a:r>
                <a:rPr lang="en-US" altLang="zh-CN" sz="1600"/>
                <a:t>             </a:t>
              </a:r>
              <a:r>
                <a:rPr lang="zh-CN" altLang="en-US" sz="1600"/>
                <a:t>）时，高斯</a:t>
              </a:r>
              <a:r>
                <a:rPr lang="zh-CN" altLang="en-US" sz="1600"/>
                <a:t>白噪声噪声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ξ不可被重整化（但是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         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可以）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fontAlgn="auto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457200" fontAlgn="auto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、操作前后方程的对称性必须保持不变，这保证了由对称性所保护的项的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系数的费曼图修正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保持不变（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Ward Identity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8"/>
            <a:srcRect t="13220"/>
            <a:stretch>
              <a:fillRect/>
            </a:stretch>
          </p:blipFill>
          <p:spPr>
            <a:xfrm>
              <a:off x="8253" y="8806"/>
              <a:ext cx="1177" cy="382"/>
            </a:xfrm>
            <a:prstGeom prst="rect">
              <a:avLst/>
            </a:prstGeom>
          </p:spPr>
        </p:pic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0615" y="5588635"/>
            <a:ext cx="473075" cy="24574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9980" y="5866130"/>
            <a:ext cx="1077595" cy="3022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1708150" y="5868035"/>
                <a:ext cx="9448800" cy="343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solidFill>
                      <a:schemeClr val="accent1"/>
                    </a:solidFill>
                  </a:rPr>
                  <a:t>非线性项对噪声关联</a:t>
                </a:r>
                <a:r>
                  <a:rPr lang="en-US" altLang="zh-CN" sz="1600">
                    <a:solidFill>
                      <a:schemeClr val="accent1"/>
                    </a:solidFill>
                  </a:rPr>
                  <a:t>                    </a:t>
                </a:r>
                <a:r>
                  <a:rPr lang="zh-CN" altLang="en-US" sz="1600">
                    <a:solidFill>
                      <a:schemeClr val="accent1"/>
                    </a:solidFill>
                  </a:rPr>
                  <a:t>的贡献至少是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accent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>
                    <a:solidFill>
                      <a:schemeClr val="accent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，而噪声强度独立于</a:t>
                </a:r>
                <a:r>
                  <a:rPr lang="en-US" altLang="zh-CN" sz="1600">
                    <a:solidFill>
                      <a:schemeClr val="accent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q</a:t>
                </a:r>
                <a:endParaRPr lang="en-US" altLang="zh-CN" sz="1600">
                  <a:solidFill>
                    <a:schemeClr val="accent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50" y="5868035"/>
                <a:ext cx="9448800" cy="34353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617029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结论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657225" y="1531620"/>
            <a:ext cx="11412855" cy="4246880"/>
            <a:chOff x="1227" y="1327"/>
            <a:chExt cx="17973" cy="6688"/>
          </a:xfrm>
        </p:grpSpPr>
        <p:sp>
          <p:nvSpPr>
            <p:cNvPr id="5" name="文本框 4"/>
            <p:cNvSpPr txBox="1"/>
            <p:nvPr/>
          </p:nvSpPr>
          <p:spPr>
            <a:xfrm>
              <a:off x="1227" y="1327"/>
              <a:ext cx="16220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/>
                <a:t>对于</a:t>
              </a:r>
              <a:r>
                <a:rPr lang="en-US" altLang="zh-CN" sz="1600"/>
                <a:t>multhusian flocks</a:t>
              </a:r>
              <a:r>
                <a:rPr lang="zh-CN" altLang="en-US" sz="1600"/>
                <a:t>，</a:t>
              </a:r>
              <a:endParaRPr lang="zh-CN" altLang="en-US" sz="1600"/>
            </a:p>
            <a:p>
              <a:pPr marL="742950" lvl="1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存在长程序</a:t>
              </a:r>
              <a:r>
                <a:rPr lang="en-US" altLang="zh-CN" sz="1600"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 ( χ&lt;0 )</a:t>
              </a:r>
              <a:endParaRPr lang="en-US" altLang="zh-CN" sz="160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fontAlgn="auto">
                <a:lnSpc>
                  <a:spcPct val="150000"/>
                </a:lnSpc>
              </a:pPr>
              <a:endParaRPr lang="zh-CN" altLang="en-US" sz="1600"/>
            </a:p>
            <a:p>
              <a:pPr fontAlgn="auto">
                <a:lnSpc>
                  <a:spcPct val="150000"/>
                </a:lnSpc>
              </a:pPr>
              <a:endParaRPr lang="en-US" altLang="zh-CN" sz="1600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44" y="3952"/>
              <a:ext cx="3091" cy="159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988" y="3075"/>
              <a:ext cx="1413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lvl="1" indent="-285750">
                <a:buFont typeface="Arial" panose="020B0604020202020204" pitchFamily="34" charset="0"/>
                <a:buChar char="•"/>
              </a:pPr>
              <a:r>
                <a:rPr lang="zh-CN" altLang="en-US" sz="1600">
                  <a:sym typeface="+mn-ea"/>
                </a:rPr>
                <a:t>只能得到两组标度指数关系，无法算出精确标度指数</a:t>
              </a:r>
              <a:endParaRPr lang="en-US" altLang="zh-CN" sz="160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sz="16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43" y="5545"/>
              <a:ext cx="17857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>
                  <a:sym typeface="+mn-ea"/>
                </a:rPr>
                <a:t>对于</a:t>
              </a:r>
              <a:r>
                <a:rPr lang="en-US" altLang="zh-CN" sz="1600">
                  <a:sym typeface="+mn-ea"/>
                </a:rPr>
                <a:t>immortal flocks</a:t>
              </a:r>
              <a:r>
                <a:rPr lang="zh-CN" altLang="en-US" sz="1600">
                  <a:sym typeface="+mn-ea"/>
                </a:rPr>
                <a:t>，</a:t>
              </a:r>
              <a:endParaRPr lang="zh-CN" altLang="en-US" sz="1600"/>
            </a:p>
            <a:p>
              <a:pPr marL="742950" lvl="1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/>
                <a:t>无法论证存在长程序（虽然有大量模拟数据显示存在</a:t>
              </a:r>
              <a:r>
                <a:rPr lang="zh-CN" altLang="en-US" sz="1600"/>
                <a:t>长程序）</a:t>
              </a:r>
              <a:endParaRPr lang="zh-CN" altLang="en-US" sz="1600"/>
            </a:p>
            <a:p>
              <a:pPr marL="742950" lvl="1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>
                  <a:sym typeface="+mn-ea"/>
                </a:rPr>
                <a:t>无法获得任何标度指数关系</a:t>
              </a:r>
              <a:endParaRPr lang="zh-CN" altLang="en-US" sz="1600"/>
            </a:p>
            <a:p>
              <a:pPr marL="742950" lvl="1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zh-CN" altLang="en-US" sz="1600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57225" y="701675"/>
            <a:ext cx="122631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全面重新检查了二维</a:t>
            </a:r>
            <a:r>
              <a:rPr lang="en-US" altLang="zh-CN" sz="1600">
                <a:sym typeface="+mn-ea"/>
              </a:rPr>
              <a:t>multhusian flocking</a:t>
            </a:r>
            <a:r>
              <a:rPr lang="zh-CN" altLang="en-US" sz="1600">
                <a:sym typeface="+mn-ea"/>
              </a:rPr>
              <a:t>（数量不守恒）和</a:t>
            </a:r>
            <a:r>
              <a:rPr lang="en-US" altLang="zh-CN" sz="1600">
                <a:sym typeface="+mn-ea"/>
              </a:rPr>
              <a:t>immortal flocking</a:t>
            </a:r>
            <a:r>
              <a:rPr lang="zh-CN" altLang="en-US" sz="1600">
                <a:sym typeface="+mn-ea"/>
              </a:rPr>
              <a:t>（数量守恒）的</a:t>
            </a:r>
            <a:endParaRPr lang="zh-CN" altLang="en-US" sz="160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长波长、长时间的有序相</a:t>
            </a:r>
            <a:r>
              <a:rPr lang="zh-CN" altLang="en-US" sz="1600">
                <a:sym typeface="+mn-ea"/>
              </a:rPr>
              <a:t>的流体动力学理论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：方程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80035" y="2989580"/>
            <a:ext cx="102095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认为密度恒定，在下一节会说明这样近似是合理的（密度涨落的作用只是改变了</a:t>
            </a:r>
            <a:r>
              <a:rPr lang="en-US" altLang="zh-CN" sz="1600"/>
              <a:t>y</a:t>
            </a:r>
            <a:r>
              <a:rPr lang="zh-CN" altLang="en-US" sz="1600"/>
              <a:t>方向的扩散系数）</a:t>
            </a:r>
            <a:endParaRPr lang="en-US" altLang="zh-CN" sz="1600"/>
          </a:p>
        </p:txBody>
      </p:sp>
      <p:grpSp>
        <p:nvGrpSpPr>
          <p:cNvPr id="35" name="组合 34"/>
          <p:cNvGrpSpPr/>
          <p:nvPr/>
        </p:nvGrpSpPr>
        <p:grpSpPr>
          <a:xfrm>
            <a:off x="280035" y="3768467"/>
            <a:ext cx="5660728" cy="529590"/>
            <a:chOff x="1056" y="6115"/>
            <a:chExt cx="8716" cy="82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41" y="6115"/>
              <a:ext cx="6731" cy="82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56" y="6272"/>
              <a:ext cx="2226" cy="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加上</a:t>
              </a:r>
              <a:r>
                <a:rPr lang="zh-CN" altLang="en-US" sz="1600"/>
                <a:t>微扰</a:t>
              </a:r>
              <a:endParaRPr lang="zh-CN" altLang="en-US" sz="1600"/>
            </a:p>
          </p:txBody>
        </p:sp>
      </p:grp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36140" y="4317365"/>
            <a:ext cx="5398770" cy="47053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80035" y="4361180"/>
            <a:ext cx="2301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代入第一个</a:t>
            </a:r>
            <a:r>
              <a:rPr lang="zh-CN" altLang="en-US" sz="1600"/>
              <a:t>方程</a:t>
            </a:r>
            <a:endParaRPr lang="zh-CN" altLang="en-US" sz="1600"/>
          </a:p>
        </p:txBody>
      </p:sp>
      <p:grpSp>
        <p:nvGrpSpPr>
          <p:cNvPr id="24" name="组合 23"/>
          <p:cNvGrpSpPr/>
          <p:nvPr/>
        </p:nvGrpSpPr>
        <p:grpSpPr>
          <a:xfrm>
            <a:off x="280035" y="3412490"/>
            <a:ext cx="5471160" cy="416560"/>
            <a:chOff x="971" y="5483"/>
            <a:chExt cx="8616" cy="65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rcRect l="13602" t="42850"/>
            <a:stretch>
              <a:fillRect/>
            </a:stretch>
          </p:blipFill>
          <p:spPr>
            <a:xfrm>
              <a:off x="2581" y="5576"/>
              <a:ext cx="2255" cy="563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971" y="5521"/>
              <a:ext cx="321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稳态</a:t>
              </a:r>
              <a:r>
                <a:rPr lang="zh-CN" altLang="en-US" sz="1600"/>
                <a:t>解</a:t>
              </a:r>
              <a:endParaRPr lang="zh-CN" altLang="en-US" sz="1600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4836" y="5483"/>
              <a:ext cx="4751" cy="653"/>
              <a:chOff x="5612" y="5543"/>
              <a:chExt cx="4751" cy="653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5612" y="5543"/>
                <a:ext cx="475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/>
                  <a:t>，并选择</a:t>
                </a:r>
                <a:r>
                  <a:rPr lang="en-US" altLang="zh-CN" sz="1600"/>
                  <a:t>     </a:t>
                </a:r>
                <a:r>
                  <a:rPr lang="zh-CN" altLang="en-US" sz="1600"/>
                  <a:t>作为</a:t>
                </a:r>
                <a:r>
                  <a:rPr lang="en-US" altLang="zh-CN" sz="1600"/>
                  <a:t>x</a:t>
                </a:r>
                <a:r>
                  <a:rPr lang="zh-CN" altLang="en-US" sz="1600"/>
                  <a:t>轴</a:t>
                </a:r>
                <a:endParaRPr lang="zh-CN" altLang="en-US" sz="1600"/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/>
              <a:srcRect l="87972" t="45806" r="-5301"/>
              <a:stretch>
                <a:fillRect/>
              </a:stretch>
            </p:blipFill>
            <p:spPr>
              <a:xfrm>
                <a:off x="7160" y="5648"/>
                <a:ext cx="464" cy="548"/>
              </a:xfrm>
              <a:prstGeom prst="rect">
                <a:avLst/>
              </a:prstGeom>
            </p:spPr>
          </p:pic>
        </p:grpSp>
      </p:grpSp>
      <p:grpSp>
        <p:nvGrpSpPr>
          <p:cNvPr id="39" name="组合 38"/>
          <p:cNvGrpSpPr/>
          <p:nvPr>
            <p:custDataLst>
              <p:tags r:id="rId6"/>
            </p:custDataLst>
          </p:nvPr>
        </p:nvGrpSpPr>
        <p:grpSpPr>
          <a:xfrm>
            <a:off x="7606665" y="4364990"/>
            <a:ext cx="7918450" cy="337185"/>
            <a:chOff x="447" y="8261"/>
            <a:chExt cx="12470" cy="531"/>
          </a:xfrm>
        </p:grpSpPr>
        <p:grpSp>
          <p:nvGrpSpPr>
            <p:cNvPr id="38" name="组合 37"/>
            <p:cNvGrpSpPr/>
            <p:nvPr/>
          </p:nvGrpSpPr>
          <p:grpSpPr>
            <a:xfrm>
              <a:off x="447" y="8261"/>
              <a:ext cx="12470" cy="531"/>
              <a:chOff x="447" y="8261"/>
              <a:chExt cx="12470" cy="531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7" y="8261"/>
                <a:ext cx="1247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buNone/>
                </a:pPr>
                <a:r>
                  <a:rPr lang="en-US" altLang="zh-CN" sz="1600"/>
                  <a:t>             </a:t>
                </a:r>
                <a:r>
                  <a:rPr lang="zh-CN" altLang="en-US" sz="1600"/>
                  <a:t>是快模，</a:t>
                </a:r>
                <a:endParaRPr lang="en-US" altLang="zh-CN" sz="1600"/>
              </a:p>
            </p:txBody>
          </p:sp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1268" y="8270"/>
                <a:ext cx="451" cy="492"/>
              </a:xfrm>
              <a:prstGeom prst="rect">
                <a:avLst/>
              </a:prstGeom>
            </p:spPr>
          </p:pic>
        </p:grpSp>
        <p:pic>
          <p:nvPicPr>
            <p:cNvPr id="20" name="图片 19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038" y="8298"/>
              <a:ext cx="934" cy="444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>
              <p:custDataLst>
                <p:tags r:id="rId12"/>
              </p:custDataLst>
            </p:nvPr>
          </p:nvSpPr>
          <p:spPr>
            <a:xfrm>
              <a:off x="3856" y="8261"/>
              <a:ext cx="194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是慢模</a:t>
              </a:r>
              <a:endParaRPr lang="zh-CN" altLang="en-US" sz="1600"/>
            </a:p>
          </p:txBody>
        </p:sp>
      </p:grp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3325495" y="5224145"/>
            <a:ext cx="47199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可</a:t>
            </a:r>
            <a:r>
              <a:rPr lang="zh-CN" altLang="en-US" sz="1600"/>
              <a:t>获得</a:t>
            </a:r>
            <a:endParaRPr lang="zh-CN" altLang="en-US" sz="1600"/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5290820" y="522605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 </a:t>
            </a:r>
            <a:r>
              <a:rPr lang="zh-CN" altLang="en-US" sz="1600"/>
              <a:t>的表达式，从而可以</a:t>
            </a:r>
            <a:r>
              <a:rPr lang="zh-CN" altLang="en-US" sz="1600"/>
              <a:t>消去</a:t>
            </a:r>
            <a:endParaRPr lang="zh-CN" altLang="en-US" sz="1600"/>
          </a:p>
        </p:txBody>
      </p:sp>
      <p:grpSp>
        <p:nvGrpSpPr>
          <p:cNvPr id="41" name="组合 40"/>
          <p:cNvGrpSpPr/>
          <p:nvPr>
            <p:custDataLst>
              <p:tags r:id="rId15"/>
            </p:custDataLst>
          </p:nvPr>
        </p:nvGrpSpPr>
        <p:grpSpPr>
          <a:xfrm>
            <a:off x="353060" y="5230495"/>
            <a:ext cx="9339580" cy="339090"/>
            <a:chOff x="556" y="8237"/>
            <a:chExt cx="14708" cy="534"/>
          </a:xfrm>
        </p:grpSpPr>
        <p:sp>
          <p:nvSpPr>
            <p:cNvPr id="23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556" y="8237"/>
              <a:ext cx="1470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对第一个方程，两边</a:t>
              </a:r>
              <a:r>
                <a:rPr lang="zh-CN" altLang="en-US" sz="1600"/>
                <a:t>同乘</a:t>
              </a:r>
              <a:endParaRPr lang="zh-CN" altLang="en-US" sz="1600"/>
            </a:p>
          </p:txBody>
        </p:sp>
        <p:pic>
          <p:nvPicPr>
            <p:cNvPr id="25" name="图片 2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4766" y="8288"/>
              <a:ext cx="586" cy="421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6377" y="8329"/>
              <a:ext cx="400" cy="41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7674" y="8356"/>
              <a:ext cx="831" cy="395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>
              <p:custDataLst>
                <p:tags r:id="rId22"/>
              </p:custDataLst>
            </p:nvPr>
          </p:nvSpPr>
          <p:spPr>
            <a:xfrm>
              <a:off x="6777" y="8241"/>
              <a:ext cx="97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关于</a:t>
              </a:r>
              <a:endParaRPr lang="zh-CN" altLang="en-US" sz="1600"/>
            </a:p>
          </p:txBody>
        </p:sp>
        <p:pic>
          <p:nvPicPr>
            <p:cNvPr id="31" name="图片 3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12127" y="8314"/>
              <a:ext cx="423" cy="436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/>
        </p:nvGrpSpPr>
        <p:grpSpPr>
          <a:xfrm>
            <a:off x="3065780" y="6134735"/>
            <a:ext cx="5040630" cy="508000"/>
            <a:chOff x="4732" y="9782"/>
            <a:chExt cx="7938" cy="800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732" y="9782"/>
              <a:ext cx="7640" cy="801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4766" y="9843"/>
              <a:ext cx="7904" cy="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14385" y="6182360"/>
            <a:ext cx="3710940" cy="444500"/>
          </a:xfrm>
          <a:prstGeom prst="rect">
            <a:avLst/>
          </a:prstGeom>
        </p:spPr>
      </p:pic>
      <p:grpSp>
        <p:nvGrpSpPr>
          <p:cNvPr id="37" name="组合 36"/>
          <p:cNvGrpSpPr/>
          <p:nvPr>
            <p:custDataLst>
              <p:tags r:id="rId26"/>
            </p:custDataLst>
          </p:nvPr>
        </p:nvGrpSpPr>
        <p:grpSpPr>
          <a:xfrm>
            <a:off x="1569085" y="4787265"/>
            <a:ext cx="2828290" cy="387985"/>
            <a:chOff x="2471" y="7588"/>
            <a:chExt cx="4454" cy="611"/>
          </a:xfrm>
        </p:grpSpPr>
        <p:pic>
          <p:nvPicPr>
            <p:cNvPr id="15" name="图片 1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3515" y="7596"/>
              <a:ext cx="3410" cy="603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>
              <p:custDataLst>
                <p:tags r:id="rId29"/>
              </p:custDataLst>
            </p:nvPr>
          </p:nvSpPr>
          <p:spPr>
            <a:xfrm>
              <a:off x="2471" y="7588"/>
              <a:ext cx="129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其中</a:t>
              </a:r>
              <a:endParaRPr lang="zh-CN" altLang="en-US" sz="1600"/>
            </a:p>
          </p:txBody>
        </p:sp>
      </p:grpSp>
      <p:sp>
        <p:nvSpPr>
          <p:cNvPr id="40" name="右箭头 39"/>
          <p:cNvSpPr/>
          <p:nvPr>
            <p:custDataLst>
              <p:tags r:id="rId30"/>
            </p:custDataLst>
          </p:nvPr>
        </p:nvSpPr>
        <p:spPr>
          <a:xfrm>
            <a:off x="7606665" y="4470400"/>
            <a:ext cx="404495" cy="1543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22030" y="1980565"/>
            <a:ext cx="3569335" cy="826135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685800" y="1217295"/>
            <a:ext cx="8051800" cy="1085850"/>
            <a:chOff x="742" y="1168"/>
            <a:chExt cx="12680" cy="1710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42" y="1168"/>
              <a:ext cx="12681" cy="1038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42" y="2156"/>
              <a:ext cx="10538" cy="722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>
          <a:xfrm>
            <a:off x="428625" y="753110"/>
            <a:ext cx="2779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满足方程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353060" y="5705475"/>
            <a:ext cx="3957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最终得到</a:t>
            </a:r>
            <a:r>
              <a:rPr lang="en-US" altLang="zh-CN" sz="1600"/>
              <a:t>goldstone mode</a:t>
            </a:r>
            <a:r>
              <a:rPr lang="zh-CN" altLang="en-US" sz="1600"/>
              <a:t>方程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线性分析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685" y="1672590"/>
            <a:ext cx="3686810" cy="4362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7525" y="1248410"/>
            <a:ext cx="7718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忽略λ项的非线性效应，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得到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420" y="738505"/>
            <a:ext cx="4192270" cy="440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805" y="2364105"/>
            <a:ext cx="1463675" cy="380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685" y="2882265"/>
            <a:ext cx="2743200" cy="37592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594995" y="2407285"/>
            <a:ext cx="4821555" cy="336550"/>
            <a:chOff x="937" y="3791"/>
            <a:chExt cx="7593" cy="530"/>
          </a:xfrm>
        </p:grpSpPr>
        <p:sp>
          <p:nvSpPr>
            <p:cNvPr id="8" name="文本框 7"/>
            <p:cNvSpPr txBox="1"/>
            <p:nvPr/>
          </p:nvSpPr>
          <p:spPr>
            <a:xfrm>
              <a:off x="937" y="3791"/>
              <a:ext cx="471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改变</a:t>
              </a:r>
              <a:r>
                <a:rPr lang="zh-CN" altLang="en-US" sz="1600"/>
                <a:t>坐标系</a:t>
              </a:r>
              <a:endParaRPr lang="zh-CN" altLang="en-US" sz="160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648" y="3791"/>
              <a:ext cx="288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，得到</a:t>
              </a:r>
              <a:endParaRPr lang="zh-CN" altLang="en-US" sz="1600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530" y="3522980"/>
            <a:ext cx="1172845" cy="2946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985" y="3973195"/>
            <a:ext cx="1424940" cy="40703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335395" y="2882265"/>
            <a:ext cx="3862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C00000"/>
                </a:solidFill>
              </a:rPr>
              <a:t>（线性理论下有赝伽利略不变性）</a:t>
            </a:r>
            <a:endParaRPr lang="zh-CN" altLang="en-US" sz="1600">
              <a:solidFill>
                <a:srgbClr val="C0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25710" y="958215"/>
            <a:ext cx="903605" cy="1250950"/>
            <a:chOff x="15946" y="1509"/>
            <a:chExt cx="1423" cy="197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946" y="1509"/>
              <a:ext cx="1420" cy="61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946" y="2122"/>
              <a:ext cx="1353" cy="82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059" y="3015"/>
              <a:ext cx="1311" cy="465"/>
            </a:xfrm>
            <a:prstGeom prst="rect">
              <a:avLst/>
            </a:prstGeom>
          </p:spPr>
        </p:pic>
      </p:grpSp>
      <p:sp>
        <p:nvSpPr>
          <p:cNvPr id="24" name="矩形 23"/>
          <p:cNvSpPr/>
          <p:nvPr/>
        </p:nvSpPr>
        <p:spPr>
          <a:xfrm>
            <a:off x="10109200" y="968375"/>
            <a:ext cx="936625" cy="126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643890" y="4330700"/>
            <a:ext cx="8318500" cy="705485"/>
            <a:chOff x="1014" y="6820"/>
            <a:chExt cx="13100" cy="1111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/>
            <a:srcRect l="-21862"/>
            <a:stretch>
              <a:fillRect/>
            </a:stretch>
          </p:blipFill>
          <p:spPr>
            <a:xfrm>
              <a:off x="1014" y="6820"/>
              <a:ext cx="4732" cy="94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42" y="6921"/>
              <a:ext cx="4185" cy="1010"/>
            </a:xfrm>
            <a:prstGeom prst="rect">
              <a:avLst/>
            </a:prstGeom>
          </p:spPr>
        </p:pic>
        <p:sp>
          <p:nvSpPr>
            <p:cNvPr id="19" name="右箭头 18"/>
            <p:cNvSpPr/>
            <p:nvPr/>
          </p:nvSpPr>
          <p:spPr>
            <a:xfrm>
              <a:off x="6115" y="7220"/>
              <a:ext cx="519" cy="1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756" y="6921"/>
              <a:ext cx="2358" cy="723"/>
            </a:xfrm>
            <a:prstGeom prst="rect">
              <a:avLst/>
            </a:prstGeom>
          </p:spPr>
        </p:pic>
        <p:sp>
          <p:nvSpPr>
            <p:cNvPr id="25" name="右箭头 24"/>
            <p:cNvSpPr/>
            <p:nvPr/>
          </p:nvSpPr>
          <p:spPr>
            <a:xfrm>
              <a:off x="11237" y="7220"/>
              <a:ext cx="519" cy="1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55" y="693420"/>
            <a:ext cx="4851400" cy="508635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290195" y="1143000"/>
            <a:ext cx="6203950" cy="635000"/>
            <a:chOff x="457" y="1800"/>
            <a:chExt cx="9770" cy="1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1" y="1800"/>
              <a:ext cx="7446" cy="100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457" y="2058"/>
              <a:ext cx="458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泰勒展开</a:t>
              </a:r>
              <a:endParaRPr lang="zh-CN" altLang="en-US" sz="160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90195" y="1766570"/>
            <a:ext cx="7393305" cy="361315"/>
            <a:chOff x="469" y="3116"/>
            <a:chExt cx="11643" cy="56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5" y="3116"/>
              <a:ext cx="7250" cy="56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4" y="3205"/>
              <a:ext cx="1678" cy="390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469" y="3135"/>
              <a:ext cx="257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标度变换</a:t>
              </a:r>
              <a:endParaRPr lang="zh-CN" altLang="en-US" sz="160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90195" y="2250440"/>
            <a:ext cx="7081520" cy="1808480"/>
            <a:chOff x="469" y="3957"/>
            <a:chExt cx="11152" cy="284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3" y="4496"/>
              <a:ext cx="4674" cy="2309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469" y="3957"/>
              <a:ext cx="1115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得到参数的递归关系，</a:t>
              </a:r>
              <a:r>
                <a:rPr lang="en-US" altLang="zh-CN" sz="1600"/>
                <a:t>“graphs”</a:t>
              </a:r>
              <a:r>
                <a:rPr lang="zh-CN" altLang="en-US" sz="1600"/>
                <a:t>是</a:t>
              </a:r>
              <a:r>
                <a:rPr lang="zh-CN" altLang="en-US" sz="1600"/>
                <a:t>费曼图修正</a:t>
              </a:r>
              <a:endParaRPr lang="zh-CN" altLang="en-US" sz="160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54000" y="4304030"/>
            <a:ext cx="9245600" cy="1026160"/>
            <a:chOff x="603" y="7560"/>
            <a:chExt cx="14560" cy="1616"/>
          </a:xfrm>
        </p:grpSpPr>
        <p:grpSp>
          <p:nvGrpSpPr>
            <p:cNvPr id="14" name="组合 13"/>
            <p:cNvGrpSpPr/>
            <p:nvPr/>
          </p:nvGrpSpPr>
          <p:grpSpPr>
            <a:xfrm>
              <a:off x="603" y="7560"/>
              <a:ext cx="12829" cy="531"/>
              <a:chOff x="1000" y="1411"/>
              <a:chExt cx="12829" cy="531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1000" y="1411"/>
                <a:ext cx="12829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首先，忽略图形修正，在不动点，参数</a:t>
                </a:r>
                <a:r>
                  <a:rPr lang="en-US" altLang="zh-CN" sz="1600"/>
                  <a:t>          </a:t>
                </a:r>
                <a:r>
                  <a:rPr lang="zh-CN" altLang="en-US" sz="1600"/>
                  <a:t>，</a:t>
                </a:r>
                <a:r>
                  <a:rPr lang="en-US" altLang="zh-CN" sz="1600"/>
                  <a:t>      </a:t>
                </a:r>
                <a:r>
                  <a:rPr lang="zh-CN" altLang="en-US" sz="1600"/>
                  <a:t>在标度变换下不变</a:t>
                </a:r>
                <a:r>
                  <a:rPr lang="en-US" altLang="zh-CN" sz="1600"/>
                  <a:t> </a:t>
                </a:r>
                <a:r>
                  <a:rPr lang="zh-CN" altLang="en-US" sz="1600"/>
                  <a:t>，得到</a:t>
                </a:r>
                <a:r>
                  <a:rPr lang="en-US" altLang="zh-CN" sz="1600"/>
                  <a:t>  </a:t>
                </a:r>
                <a:endParaRPr lang="en-US" altLang="zh-CN" sz="1600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4" y="1519"/>
                <a:ext cx="668" cy="360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04" y="1519"/>
                <a:ext cx="486" cy="361"/>
              </a:xfrm>
              <a:prstGeom prst="rect">
                <a:avLst/>
              </a:prstGeom>
            </p:spPr>
          </p:pic>
        </p:grp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67" y="8195"/>
              <a:ext cx="5802" cy="346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67" y="8683"/>
              <a:ext cx="3511" cy="41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8600" y="8645"/>
              <a:ext cx="65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solidFill>
                    <a:srgbClr val="C00000"/>
                  </a:solidFill>
                </a:rPr>
                <a:t>（线性理论的结果）</a:t>
              </a:r>
              <a:endParaRPr lang="zh-CN" altLang="en-US" sz="1600">
                <a:solidFill>
                  <a:srgbClr val="C00000"/>
                </a:solidFill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2410" y="5621020"/>
            <a:ext cx="1992630" cy="713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254000" y="5367655"/>
                <a:ext cx="5055235" cy="355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代入缩放指数到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得到</a:t>
                </a:r>
                <a:endParaRPr lang="zh-CN" altLang="en-US" sz="16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5367655"/>
                <a:ext cx="5055235" cy="3556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1833245" y="6416040"/>
            <a:ext cx="88868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C00000"/>
                </a:solidFill>
              </a:rPr>
              <a:t>所有的非线性项都是相关的，线性理论是失效的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435610" y="993775"/>
            <a:ext cx="8988425" cy="613410"/>
            <a:chOff x="1343" y="1296"/>
            <a:chExt cx="14155" cy="966"/>
          </a:xfrm>
        </p:grpSpPr>
        <p:sp>
          <p:nvSpPr>
            <p:cNvPr id="5" name="文本框 4"/>
            <p:cNvSpPr txBox="1"/>
            <p:nvPr/>
          </p:nvSpPr>
          <p:spPr>
            <a:xfrm>
              <a:off x="1343" y="1502"/>
              <a:ext cx="901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非线性</a:t>
              </a:r>
              <a:r>
                <a:rPr lang="zh-CN" altLang="en-US" sz="1600"/>
                <a:t>项</a:t>
              </a:r>
              <a:endParaRPr lang="zh-CN" altLang="en-US" sz="1600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l="12199" r="34995"/>
            <a:stretch>
              <a:fillRect/>
            </a:stretch>
          </p:blipFill>
          <p:spPr>
            <a:xfrm>
              <a:off x="3548" y="1296"/>
              <a:ext cx="3798" cy="966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352" y="1499"/>
              <a:ext cx="814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可写成全散度的</a:t>
              </a:r>
              <a:r>
                <a:rPr lang="zh-CN" altLang="en-US" sz="1600"/>
                <a:t>形式</a:t>
              </a:r>
              <a:endParaRPr lang="zh-CN" altLang="en-US" sz="160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35610" y="1543050"/>
            <a:ext cx="10861675" cy="713740"/>
            <a:chOff x="600" y="2429"/>
            <a:chExt cx="17105" cy="1124"/>
          </a:xfrm>
        </p:grpSpPr>
        <p:sp>
          <p:nvSpPr>
            <p:cNvPr id="9" name="右箭头 8"/>
            <p:cNvSpPr/>
            <p:nvPr/>
          </p:nvSpPr>
          <p:spPr>
            <a:xfrm>
              <a:off x="600" y="2902"/>
              <a:ext cx="657" cy="19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457" y="2602"/>
              <a:ext cx="162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zh-CN" altLang="en-US" sz="1600"/>
                <a:t>只能导致</a:t>
              </a:r>
              <a:r>
                <a:rPr lang="en-US" altLang="zh-CN" sz="1600"/>
                <a:t>“</a:t>
              </a:r>
              <a:r>
                <a:rPr lang="zh-CN" altLang="en-US" sz="1600"/>
                <a:t>全散度形式</a:t>
              </a:r>
              <a:r>
                <a:rPr lang="en-US" altLang="zh-CN" sz="1600"/>
                <a:t>”</a:t>
              </a:r>
              <a:r>
                <a:rPr lang="zh-CN" altLang="en-US" sz="1600"/>
                <a:t>噪声的重整化，不能导致</a:t>
              </a:r>
              <a:r>
                <a:rPr lang="en-US" altLang="zh-CN" sz="1600"/>
                <a:t>       </a:t>
              </a:r>
              <a:r>
                <a:rPr lang="zh-CN" altLang="en-US" sz="1600"/>
                <a:t>的重整化，因此</a:t>
              </a:r>
              <a:r>
                <a:rPr lang="en-US" altLang="zh-CN" sz="1600"/>
                <a:t>       </a:t>
              </a:r>
              <a:r>
                <a:rPr lang="zh-CN" altLang="en-US" sz="1600"/>
                <a:t>递归</a:t>
              </a:r>
              <a:r>
                <a:rPr lang="zh-CN" altLang="en-US" sz="1600"/>
                <a:t>关系里的</a:t>
              </a:r>
              <a:r>
                <a:rPr lang="en-US" altLang="zh-CN" sz="1600">
                  <a:sym typeface="+mn-ea"/>
                </a:rPr>
                <a:t>“graphs”</a:t>
              </a:r>
              <a:r>
                <a:rPr lang="zh-CN" altLang="en-US" sz="1600">
                  <a:sym typeface="+mn-ea"/>
                </a:rPr>
                <a:t>必须消失</a:t>
              </a:r>
              <a:r>
                <a:rPr lang="en-US" altLang="zh-CN" sz="1600"/>
                <a:t>                                                                                                                                   </a:t>
              </a:r>
              <a:endParaRPr lang="en-US" altLang="zh-CN" sz="1600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rcRect l="96358"/>
            <a:stretch>
              <a:fillRect/>
            </a:stretch>
          </p:blipFill>
          <p:spPr>
            <a:xfrm>
              <a:off x="8350" y="2429"/>
              <a:ext cx="309" cy="112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rcRect l="4735" t="79862" r="85903" b="-2348"/>
            <a:stretch>
              <a:fillRect/>
            </a:stretch>
          </p:blipFill>
          <p:spPr>
            <a:xfrm>
              <a:off x="11095" y="2806"/>
              <a:ext cx="516" cy="613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435610" y="2309495"/>
            <a:ext cx="5575935" cy="363220"/>
            <a:chOff x="686" y="3799"/>
            <a:chExt cx="8781" cy="57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" y="3799"/>
              <a:ext cx="2669" cy="572"/>
            </a:xfrm>
            <a:prstGeom prst="rect">
              <a:avLst/>
            </a:prstGeom>
          </p:spPr>
        </p:pic>
        <p:sp>
          <p:nvSpPr>
            <p:cNvPr id="14" name="右箭头 13"/>
            <p:cNvSpPr/>
            <p:nvPr/>
          </p:nvSpPr>
          <p:spPr>
            <a:xfrm>
              <a:off x="686" y="3951"/>
              <a:ext cx="657" cy="18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457" y="3799"/>
              <a:ext cx="590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对于不动点，噪声的不可重整化</a:t>
              </a:r>
              <a:r>
                <a:rPr lang="zh-CN" altLang="en-US" sz="1600"/>
                <a:t>保证</a:t>
              </a:r>
              <a:endParaRPr lang="zh-CN" altLang="en-US" sz="160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35610" y="2858135"/>
            <a:ext cx="12157075" cy="831850"/>
            <a:chOff x="1457" y="4575"/>
            <a:chExt cx="19145" cy="13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1457" y="4575"/>
                  <a:ext cx="14595" cy="1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285750" indent="-285750" fontAlgn="auto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600">
                      <a:latin typeface="Arial" panose="020B0604020202020204" pitchFamily="34" charset="0"/>
                      <a:ea typeface="微软雅黑" panose="020B0503020204020204" charset="-122"/>
                    </a:rPr>
                    <a:t>4-</a:t>
                  </a:r>
                  <a:r>
                    <a:rPr lang="en-US" altLang="zh-CN" sz="1600">
                      <a:latin typeface="Arial" panose="020B0604020202020204" pitchFamily="34" charset="0"/>
                      <a:ea typeface="微软雅黑" panose="020B0503020204020204" charset="-122"/>
                      <a:cs typeface="+mn-lt"/>
                    </a:rPr>
                    <a:t>ε</a:t>
                  </a:r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  <a:cs typeface="+mn-lt"/>
                    </a:rPr>
                    <a:t>维微扰</a:t>
                  </a:r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</a:rPr>
                    <a:t>展开有</a:t>
                  </a:r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</a:rPr>
                    <a:t>结论，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，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</m:oMath>
                  </a14:m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的</a:t>
                  </a:r>
                  <a:r>
                    <a:rPr lang="en-US" altLang="zh-CN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“</a:t>
                  </a:r>
                  <a:r>
                    <a:rPr lang="en-US" altLang="zh-CN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graphs”</a:t>
                  </a:r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在</a:t>
                  </a:r>
                  <a:r>
                    <a:rPr lang="en-US" altLang="zh-CN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4</a:t>
                  </a:r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维附近是正值</a:t>
                  </a:r>
                  <a:endParaRPr lang="zh-CN" altLang="en-US" sz="1600"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endParaRPr>
                </a:p>
                <a:p>
                  <a:pPr indent="457200" fontAlgn="auto">
                    <a:lnSpc>
                      <a:spcPct val="150000"/>
                    </a:lnSpc>
                  </a:pPr>
                  <a:r>
                    <a:rPr lang="zh-CN" altLang="en-US" sz="160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假设这个结论能维持到</a:t>
                  </a:r>
                  <a:r>
                    <a:rPr lang="en-US" altLang="zh-CN" sz="160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2</a:t>
                  </a:r>
                  <a:r>
                    <a:rPr lang="zh-CN" altLang="en-US" sz="160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rPr>
                    <a:t>维</a:t>
                  </a:r>
                  <a:endParaRPr lang="zh-CN" altLang="en-US" sz="160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" y="4575"/>
                  <a:ext cx="14595" cy="131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10238" y="4750"/>
              <a:ext cx="10364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600">
                  <a:solidFill>
                    <a:schemeClr val="accent1"/>
                  </a:solidFill>
                  <a:ea typeface="微软雅黑" panose="020B0503020204020204" charset="-122"/>
                  <a:cs typeface="+mn-lt"/>
                </a:rPr>
                <a:t>L. Chen,</a:t>
              </a:r>
              <a:r>
                <a:rPr lang="en-US" altLang="zh-CN" sz="1600" i="1">
                  <a:solidFill>
                    <a:schemeClr val="accent1"/>
                  </a:solidFill>
                  <a:ea typeface="微软雅黑" panose="020B0503020204020204" charset="-122"/>
                  <a:cs typeface="+mn-lt"/>
                </a:rPr>
                <a:t>et al.</a:t>
              </a:r>
              <a:r>
                <a:rPr lang="en-US" altLang="zh-CN" sz="1600">
                  <a:solidFill>
                    <a:schemeClr val="accent1"/>
                  </a:solidFill>
                  <a:ea typeface="微软雅黑" panose="020B0503020204020204" charset="-122"/>
                  <a:cs typeface="+mn-lt"/>
                </a:rPr>
                <a:t>, </a:t>
              </a:r>
              <a:r>
                <a:rPr lang="en-US" altLang="zh-CN" sz="1600">
                  <a:solidFill>
                    <a:schemeClr val="accent1"/>
                  </a:solidFill>
                  <a:ea typeface="微软雅黑" panose="020B0503020204020204" charset="-122"/>
                  <a:cs typeface="+mn-lt"/>
                  <a:sym typeface="+mn-ea"/>
                </a:rPr>
                <a:t>Phys. Rev. Lett.</a:t>
              </a:r>
              <a:r>
                <a:rPr lang="en-US" altLang="zh-CN" sz="1600">
                  <a:solidFill>
                    <a:schemeClr val="accent1"/>
                  </a:solidFill>
                  <a:ea typeface="微软雅黑" panose="020B0503020204020204" charset="-122"/>
                  <a:cs typeface="+mn-lt"/>
                </a:rPr>
                <a:t> </a:t>
              </a:r>
              <a:r>
                <a:rPr lang="en-US" altLang="zh-CN" sz="1600" b="1">
                  <a:solidFill>
                    <a:schemeClr val="accent1"/>
                  </a:solidFill>
                  <a:ea typeface="微软雅黑" panose="020B0503020204020204" charset="-122"/>
                  <a:cs typeface="+mn-lt"/>
                </a:rPr>
                <a:t>125</a:t>
              </a:r>
              <a:r>
                <a:rPr lang="en-US" altLang="zh-CN" sz="1600">
                  <a:solidFill>
                    <a:schemeClr val="accent1"/>
                  </a:solidFill>
                  <a:ea typeface="微软雅黑" panose="020B0503020204020204" charset="-122"/>
                  <a:cs typeface="+mn-lt"/>
                </a:rPr>
                <a:t>, 098003 (2020).</a:t>
              </a:r>
              <a:endParaRPr lang="en-US" altLang="zh-CN" sz="1600">
                <a:solidFill>
                  <a:schemeClr val="accent1"/>
                </a:solidFill>
                <a:ea typeface="微软雅黑" panose="020B0503020204020204" charset="-122"/>
                <a:cs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322695" y="5956300"/>
            <a:ext cx="544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multhusian flock</a:t>
            </a:r>
            <a:r>
              <a:rPr lang="zh-CN" altLang="en-US">
                <a:solidFill>
                  <a:srgbClr val="C00000"/>
                </a:solidFill>
              </a:rPr>
              <a:t>存在长程序</a:t>
            </a:r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62610" y="3868420"/>
            <a:ext cx="3422015" cy="842010"/>
            <a:chOff x="886" y="6092"/>
            <a:chExt cx="5389" cy="1326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15" y="6129"/>
              <a:ext cx="1728" cy="46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15" y="6878"/>
              <a:ext cx="1761" cy="54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745" y="6092"/>
                  <a:ext cx="3410" cy="5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600">
                      <a:latin typeface="Arial" panose="020B0604020202020204" pitchFamily="34" charset="0"/>
                      <a:ea typeface="微软雅黑" panose="020B0503020204020204" charset="-122"/>
                    </a:rPr>
                    <a:t>为使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，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</m:oMath>
                  </a14:m>
                  <a:r>
                    <a:rPr lang="zh-CN" altLang="en-US" sz="1600">
                      <a:latin typeface="Cambria Math" panose="02040503050406030204" charset="0"/>
                      <a:ea typeface="微软雅黑" panose="020B0503020204020204" charset="-122"/>
                      <a:cs typeface="Cambria Math" panose="02040503050406030204" charset="0"/>
                    </a:rPr>
                    <a:t>不动</a:t>
                  </a:r>
                  <a:endParaRPr lang="zh-CN" altLang="en-US" sz="160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5" y="6092"/>
                  <a:ext cx="3410" cy="53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右箭头 27"/>
            <p:cNvSpPr/>
            <p:nvPr/>
          </p:nvSpPr>
          <p:spPr>
            <a:xfrm>
              <a:off x="886" y="6265"/>
              <a:ext cx="657" cy="18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63305" y="681990"/>
            <a:ext cx="3239770" cy="970280"/>
            <a:chOff x="13619" y="5920"/>
            <a:chExt cx="5102" cy="1528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rcRect t="41199"/>
            <a:stretch>
              <a:fillRect/>
            </a:stretch>
          </p:blipFill>
          <p:spPr>
            <a:xfrm>
              <a:off x="13643" y="5943"/>
              <a:ext cx="5078" cy="1475"/>
            </a:xfrm>
            <a:prstGeom prst="rect">
              <a:avLst/>
            </a:prstGeom>
          </p:spPr>
        </p:pic>
        <p:sp>
          <p:nvSpPr>
            <p:cNvPr id="29" name="矩形 28"/>
            <p:cNvSpPr/>
            <p:nvPr/>
          </p:nvSpPr>
          <p:spPr>
            <a:xfrm>
              <a:off x="13619" y="5920"/>
              <a:ext cx="5102" cy="1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504565" y="4940935"/>
            <a:ext cx="3595370" cy="1366520"/>
            <a:chOff x="2116" y="7922"/>
            <a:chExt cx="5662" cy="215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54" y="8726"/>
              <a:ext cx="1224" cy="535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6" y="7922"/>
              <a:ext cx="3084" cy="661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9" y="8785"/>
              <a:ext cx="1728" cy="46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69" y="9534"/>
              <a:ext cx="1761" cy="540"/>
            </a:xfrm>
            <a:prstGeom prst="rect">
              <a:avLst/>
            </a:prstGeom>
          </p:spPr>
        </p:pic>
        <p:sp>
          <p:nvSpPr>
            <p:cNvPr id="36" name="右大括号 35"/>
            <p:cNvSpPr/>
            <p:nvPr/>
          </p:nvSpPr>
          <p:spPr>
            <a:xfrm>
              <a:off x="5471" y="8108"/>
              <a:ext cx="275" cy="1864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4020" y="772795"/>
            <a:ext cx="4385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考虑非线性</a:t>
            </a:r>
            <a:r>
              <a:rPr lang="zh-CN" altLang="en-US" sz="1600"/>
              <a:t>相关项</a:t>
            </a:r>
            <a:endParaRPr lang="zh-CN" altLang="en-US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b="57486"/>
          <a:stretch>
            <a:fillRect/>
          </a:stretch>
        </p:blipFill>
        <p:spPr>
          <a:xfrm>
            <a:off x="8286750" y="870585"/>
            <a:ext cx="3527425" cy="7410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14020" y="1368425"/>
                <a:ext cx="7056120" cy="355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旋转对称性保要求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所有阶的图形修正一样（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ward identity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），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即</a:t>
                </a:r>
                <a:endParaRPr lang="zh-CN" altLang="en-US" sz="16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20" y="1368425"/>
                <a:ext cx="7056120" cy="3556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795" y="1889125"/>
            <a:ext cx="4084320" cy="80454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69900" y="2796540"/>
            <a:ext cx="3191510" cy="355600"/>
            <a:chOff x="740" y="4404"/>
            <a:chExt cx="5026" cy="560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" y="4508"/>
              <a:ext cx="932" cy="40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740" y="4404"/>
                  <a:ext cx="5027" cy="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sz="1600"/>
                    <a:t>              </a:t>
                  </a:r>
                  <a:r>
                    <a:rPr lang="zh-CN" altLang="en-US" sz="1600"/>
                    <a:t>使得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>
                      <a:latin typeface="Cambria Math" panose="02040503050406030204" charset="0"/>
                      <a:cs typeface="Cambria Math" panose="02040503050406030204" charset="0"/>
                    </a:rPr>
                    <a:t>是最相关</a:t>
                  </a:r>
                  <a:r>
                    <a:rPr lang="zh-CN" altLang="en-US" sz="1600">
                      <a:latin typeface="Cambria Math" panose="02040503050406030204" charset="0"/>
                      <a:cs typeface="Cambria Math" panose="02040503050406030204" charset="0"/>
                    </a:rPr>
                    <a:t>项</a:t>
                  </a:r>
                  <a:endParaRPr lang="zh-CN" altLang="en-US" sz="1600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" y="4404"/>
                  <a:ext cx="5027" cy="56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本框 13"/>
          <p:cNvSpPr txBox="1"/>
          <p:nvPr/>
        </p:nvSpPr>
        <p:spPr>
          <a:xfrm>
            <a:off x="469900" y="3351530"/>
            <a:ext cx="6614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因此，描述长波长时极限的</a:t>
            </a:r>
            <a:r>
              <a:rPr lang="zh-CN" altLang="en-US" sz="1600">
                <a:solidFill>
                  <a:srgbClr val="C00000"/>
                </a:solidFill>
              </a:rPr>
              <a:t>最小理论</a:t>
            </a:r>
            <a:r>
              <a:rPr lang="zh-CN" altLang="en-US" sz="1600"/>
              <a:t>是</a:t>
            </a:r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l="12199" r="34995"/>
          <a:stretch>
            <a:fillRect/>
          </a:stretch>
        </p:blipFill>
        <p:spPr>
          <a:xfrm>
            <a:off x="2675255" y="671830"/>
            <a:ext cx="2411730" cy="61341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1911985" y="4690745"/>
            <a:ext cx="2033905" cy="337185"/>
            <a:chOff x="3011" y="7387"/>
            <a:chExt cx="3203" cy="531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26" y="7458"/>
              <a:ext cx="2288" cy="46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3011" y="7387"/>
              <a:ext cx="171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其中</a:t>
              </a:r>
              <a:endParaRPr lang="zh-CN" altLang="en-US" sz="16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053080" y="3754120"/>
            <a:ext cx="4991100" cy="726440"/>
            <a:chOff x="4808" y="5912"/>
            <a:chExt cx="7860" cy="114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08" y="5912"/>
              <a:ext cx="7861" cy="1093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4829" y="6182"/>
              <a:ext cx="7788" cy="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135" y="954405"/>
            <a:ext cx="3312160" cy="3545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070" y="1537970"/>
            <a:ext cx="1064260" cy="298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530" y="1921510"/>
            <a:ext cx="718820" cy="2781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" y="1637030"/>
            <a:ext cx="4172585" cy="20618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595" y="2199640"/>
            <a:ext cx="3907790" cy="54356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>
            <a:off x="4269105" y="2824480"/>
            <a:ext cx="3965575" cy="2279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34315" y="700405"/>
            <a:ext cx="2494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递推</a:t>
            </a:r>
            <a:r>
              <a:rPr lang="zh-CN" altLang="en-US"/>
              <a:t>关系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330200" y="2541905"/>
            <a:ext cx="4394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对于</a:t>
            </a:r>
            <a:endParaRPr lang="zh-CN" altLang="en-US" sz="1600"/>
          </a:p>
        </p:txBody>
      </p:sp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30200" y="774065"/>
            <a:ext cx="11271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寻找稳定的不动点，因为</a:t>
            </a:r>
            <a:r>
              <a:rPr lang="en-US" altLang="zh-CN" sz="1600"/>
              <a:t>                         </a:t>
            </a:r>
            <a:r>
              <a:rPr lang="zh-CN" altLang="en-US" sz="1600"/>
              <a:t>（线性理论）不稳定，只存在三种</a:t>
            </a:r>
            <a:r>
              <a:rPr lang="zh-CN" altLang="en-US" sz="1600"/>
              <a:t>情形</a:t>
            </a:r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842010"/>
            <a:ext cx="1428115" cy="2692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0200" y="1999615"/>
            <a:ext cx="81889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下面证明</a:t>
            </a:r>
            <a:r>
              <a:rPr lang="en-US" altLang="zh-CN" sz="1600"/>
              <a:t>(i)</a:t>
            </a:r>
            <a:r>
              <a:rPr lang="zh-CN" altLang="en-US" sz="1600"/>
              <a:t>和</a:t>
            </a:r>
            <a:r>
              <a:rPr lang="en-US" altLang="zh-CN" sz="1600"/>
              <a:t>(ii)</a:t>
            </a:r>
            <a:r>
              <a:rPr lang="zh-CN" altLang="en-US" sz="1600"/>
              <a:t>是不稳定的，只有</a:t>
            </a:r>
            <a:r>
              <a:rPr lang="en-US" altLang="zh-CN" sz="1600"/>
              <a:t>(iii)</a:t>
            </a:r>
            <a:r>
              <a:rPr lang="zh-CN" altLang="en-US" sz="1600"/>
              <a:t>是可能的</a:t>
            </a:r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13428" t="36806" b="33548"/>
          <a:stretch>
            <a:fillRect/>
          </a:stretch>
        </p:blipFill>
        <p:spPr>
          <a:xfrm>
            <a:off x="1223010" y="2625090"/>
            <a:ext cx="1473835" cy="2139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76812" r="10936" b="-26052"/>
          <a:stretch>
            <a:fillRect/>
          </a:stretch>
        </p:blipFill>
        <p:spPr>
          <a:xfrm>
            <a:off x="4822825" y="2758440"/>
            <a:ext cx="638810" cy="87439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 rot="0">
            <a:off x="892810" y="2817495"/>
            <a:ext cx="8239760" cy="678815"/>
            <a:chOff x="906" y="1996"/>
            <a:chExt cx="12575" cy="1047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rcRect l="35960" r="43890" b="-6075"/>
            <a:stretch>
              <a:fillRect/>
            </a:stretch>
          </p:blipFill>
          <p:spPr>
            <a:xfrm>
              <a:off x="1240" y="1996"/>
              <a:ext cx="1430" cy="1047"/>
            </a:xfrm>
            <a:prstGeom prst="rect">
              <a:avLst/>
            </a:prstGeom>
          </p:spPr>
        </p:pic>
        <p:grpSp>
          <p:nvGrpSpPr>
            <p:cNvPr id="21" name="组合 20"/>
            <p:cNvGrpSpPr/>
            <p:nvPr/>
          </p:nvGrpSpPr>
          <p:grpSpPr>
            <a:xfrm>
              <a:off x="906" y="2260"/>
              <a:ext cx="12575" cy="637"/>
              <a:chOff x="906" y="2260"/>
              <a:chExt cx="12575" cy="637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906" y="2366"/>
                <a:ext cx="12575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               </a:t>
                </a:r>
                <a:r>
                  <a:rPr lang="zh-CN" altLang="en-US" sz="1600"/>
                  <a:t>作为唯一的非线性项，无法使</a:t>
                </a:r>
                <a:r>
                  <a:rPr lang="en-US" altLang="zh-CN" sz="1600"/>
                  <a:t>            </a:t>
                </a:r>
                <a:r>
                  <a:rPr lang="zh-CN" altLang="en-US" sz="1600"/>
                  <a:t>重整化</a:t>
                </a:r>
                <a:r>
                  <a:rPr lang="en-US" altLang="zh-CN" sz="1600"/>
                  <a:t>                                 </a:t>
                </a:r>
                <a:endParaRPr lang="en-US" altLang="zh-CN" sz="1600"/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43" y="2260"/>
                <a:ext cx="1316" cy="637"/>
              </a:xfrm>
              <a:prstGeom prst="rect">
                <a:avLst/>
              </a:prstGeom>
            </p:spPr>
          </p:pic>
          <p:sp>
            <p:nvSpPr>
              <p:cNvPr id="14" name="右箭头 13"/>
              <p:cNvSpPr/>
              <p:nvPr/>
            </p:nvSpPr>
            <p:spPr>
              <a:xfrm>
                <a:off x="8961" y="2591"/>
                <a:ext cx="776" cy="142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rcRect t="20056"/>
          <a:stretch>
            <a:fillRect/>
          </a:stretch>
        </p:blipFill>
        <p:spPr>
          <a:xfrm>
            <a:off x="8721090" y="684530"/>
            <a:ext cx="3208655" cy="2717165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4260215" y="1221105"/>
            <a:ext cx="1828165" cy="720090"/>
            <a:chOff x="6709" y="1923"/>
            <a:chExt cx="2879" cy="113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rcRect t="4995"/>
            <a:stretch>
              <a:fillRect/>
            </a:stretch>
          </p:blipFill>
          <p:spPr>
            <a:xfrm>
              <a:off x="6709" y="1931"/>
              <a:ext cx="2778" cy="1126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/>
            <a:srcRect l="13139" t="4995" b="64799"/>
            <a:stretch>
              <a:fillRect/>
            </a:stretch>
          </p:blipFill>
          <p:spPr>
            <a:xfrm>
              <a:off x="7176" y="2278"/>
              <a:ext cx="2413" cy="358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2"/>
            <a:srcRect l="14651" t="35623" b="34425"/>
            <a:stretch>
              <a:fillRect/>
            </a:stretch>
          </p:blipFill>
          <p:spPr>
            <a:xfrm>
              <a:off x="7116" y="1923"/>
              <a:ext cx="2371" cy="355"/>
            </a:xfrm>
            <a:prstGeom prst="rect">
              <a:avLst/>
            </a:prstGeom>
          </p:spPr>
        </p:pic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rcRect l="13139" t="4995" b="64799"/>
          <a:stretch>
            <a:fillRect/>
          </a:stretch>
        </p:blipFill>
        <p:spPr>
          <a:xfrm>
            <a:off x="1436370" y="5784215"/>
            <a:ext cx="1532255" cy="22733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440690" y="5704840"/>
            <a:ext cx="3329940" cy="257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对于</a:t>
            </a:r>
            <a:r>
              <a:rPr lang="en-US" altLang="zh-CN" sz="1600"/>
              <a:t>                            </a:t>
            </a:r>
            <a:r>
              <a:rPr lang="zh-CN" altLang="en-US" sz="1600"/>
              <a:t>同理</a:t>
            </a:r>
            <a:endParaRPr lang="zh-CN" altLang="en-US" sz="16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rcRect t="3954"/>
          <a:stretch>
            <a:fillRect/>
          </a:stretch>
        </p:blipFill>
        <p:spPr>
          <a:xfrm>
            <a:off x="3534410" y="5962015"/>
            <a:ext cx="1429385" cy="5264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2470150" y="6488430"/>
                <a:ext cx="428371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>
                    <a:solidFill>
                      <a:schemeClr val="tx1"/>
                    </a:solidFill>
                    <a:sym typeface="+mn-ea"/>
                  </a:rPr>
                  <a:t>，</a:t>
                </a:r>
                <a:r>
                  <a:rPr lang="zh-CN" altLang="en-US" sz="1600">
                    <a:solidFill>
                      <a:srgbClr val="C00000"/>
                    </a:solidFill>
                    <a:sym typeface="+mn-ea"/>
                  </a:rPr>
                  <a:t>该情形不动点对于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>
                    <a:solidFill>
                      <a:srgbClr val="C00000"/>
                    </a:solidFill>
                    <a:sym typeface="+mn-ea"/>
                  </a:rPr>
                  <a:t>不稳定</a:t>
                </a:r>
                <a:endParaRPr lang="zh-CN" altLang="en-US" sz="1600">
                  <a:solidFill>
                    <a:srgbClr val="C00000"/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150" y="6488430"/>
                <a:ext cx="4283710" cy="33718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/>
          <p:cNvGrpSpPr/>
          <p:nvPr/>
        </p:nvGrpSpPr>
        <p:grpSpPr>
          <a:xfrm>
            <a:off x="892810" y="5220970"/>
            <a:ext cx="6849745" cy="342900"/>
            <a:chOff x="1547" y="8193"/>
            <a:chExt cx="10787" cy="540"/>
          </a:xfrm>
        </p:grpSpPr>
        <p:sp>
          <p:nvSpPr>
            <p:cNvPr id="43" name="文本框 42"/>
            <p:cNvSpPr txBox="1"/>
            <p:nvPr/>
          </p:nvSpPr>
          <p:spPr>
            <a:xfrm>
              <a:off x="1547" y="8193"/>
              <a:ext cx="208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由于</a:t>
              </a:r>
              <a:endParaRPr lang="zh-CN" altLang="en-US" sz="1600"/>
            </a:p>
          </p:txBody>
        </p:sp>
        <p:grpSp>
          <p:nvGrpSpPr>
            <p:cNvPr id="29" name="组合 28"/>
            <p:cNvGrpSpPr/>
            <p:nvPr/>
          </p:nvGrpSpPr>
          <p:grpSpPr>
            <a:xfrm rot="0">
              <a:off x="2796" y="8203"/>
              <a:ext cx="9539" cy="531"/>
              <a:chOff x="7417" y="6573"/>
              <a:chExt cx="9244" cy="52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8341" y="6573"/>
                    <a:ext cx="8320" cy="5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zh-CN" altLang="en-US" sz="1600">
                        <a:solidFill>
                          <a:schemeClr val="tx1"/>
                        </a:solidFill>
                      </a:rPr>
                      <a:t>，</a:t>
                    </a:r>
                    <a:r>
                      <a:rPr lang="zh-CN" altLang="en-US" sz="1600">
                        <a:solidFill>
                          <a:srgbClr val="C00000"/>
                        </a:solidFill>
                      </a:rPr>
                      <a:t>该情形不动点对于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zh-CN" altLang="en-US" sz="1600">
                        <a:solidFill>
                          <a:srgbClr val="C00000"/>
                        </a:solidFill>
                      </a:rPr>
                      <a:t>不稳定</a:t>
                    </a:r>
                    <a:endParaRPr lang="zh-CN" altLang="en-US" sz="160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1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1" y="6573"/>
                    <a:ext cx="8320" cy="520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17" y="6592"/>
                <a:ext cx="970" cy="424"/>
              </a:xfrm>
              <a:prstGeom prst="rect">
                <a:avLst/>
              </a:prstGeom>
            </p:spPr>
          </p:pic>
        </p:grpSp>
      </p:grpSp>
      <p:grpSp>
        <p:nvGrpSpPr>
          <p:cNvPr id="45" name="组合 44"/>
          <p:cNvGrpSpPr/>
          <p:nvPr/>
        </p:nvGrpSpPr>
        <p:grpSpPr>
          <a:xfrm>
            <a:off x="892643" y="3511550"/>
            <a:ext cx="8996680" cy="369570"/>
            <a:chOff x="1298" y="5540"/>
            <a:chExt cx="14168" cy="582"/>
          </a:xfrm>
        </p:grpSpPr>
        <p:grpSp>
          <p:nvGrpSpPr>
            <p:cNvPr id="23" name="组合 22"/>
            <p:cNvGrpSpPr/>
            <p:nvPr/>
          </p:nvGrpSpPr>
          <p:grpSpPr>
            <a:xfrm rot="0">
              <a:off x="1298" y="5555"/>
              <a:ext cx="14168" cy="532"/>
              <a:chOff x="986" y="5430"/>
              <a:chExt cx="13730" cy="52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文本框 14"/>
                  <p:cNvSpPr txBox="1"/>
                  <p:nvPr/>
                </p:nvSpPr>
                <p:spPr>
                  <a:xfrm>
                    <a:off x="986" y="5430"/>
                    <a:ext cx="13730" cy="5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zh-CN" altLang="en-US" sz="1600">
                        <a:latin typeface="Arial" panose="020B0604020202020204" pitchFamily="34" charset="0"/>
                        <a:ea typeface="微软雅黑" panose="020B0503020204020204" charset="-122"/>
                      </a:rPr>
                      <a:t>假设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</m:oMath>
                    </a14:m>
                    <a:r>
                      <a:rPr lang="zh-CN" altLang="en-US" sz="1600">
                        <a:latin typeface="Arial" panose="020B0604020202020204" pitchFamily="34" charset="0"/>
                        <a:ea typeface="微软雅黑" panose="020B0503020204020204" charset="-122"/>
                        <a:cs typeface="Cambria Math" panose="02040503050406030204" charset="0"/>
                      </a:rPr>
                      <a:t>是稳定的，且非零</a:t>
                    </a:r>
                    <a:endParaRPr lang="zh-CN" altLang="en-US" sz="1600">
                      <a:latin typeface="Arial" panose="020B0604020202020204" pitchFamily="34" charset="0"/>
                      <a:ea typeface="微软雅黑" panose="020B0503020204020204" charset="-122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5" name="文本框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" y="5430"/>
                    <a:ext cx="13730" cy="52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11"/>
              <a:srcRect l="50158"/>
              <a:stretch>
                <a:fillRect/>
              </a:stretch>
            </p:blipFill>
            <p:spPr>
              <a:xfrm>
                <a:off x="7413" y="5454"/>
                <a:ext cx="844" cy="497"/>
              </a:xfrm>
              <a:prstGeom prst="rect">
                <a:avLst/>
              </a:prstGeom>
            </p:spPr>
          </p:pic>
          <p:sp>
            <p:nvSpPr>
              <p:cNvPr id="17" name="右箭头 16"/>
              <p:cNvSpPr/>
              <p:nvPr/>
            </p:nvSpPr>
            <p:spPr>
              <a:xfrm>
                <a:off x="5378" y="5639"/>
                <a:ext cx="776" cy="142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5"/>
            <a:srcRect l="21929" t="87647" r="58302" b="4040"/>
            <a:stretch>
              <a:fillRect/>
            </a:stretch>
          </p:blipFill>
          <p:spPr>
            <a:xfrm>
              <a:off x="6800" y="5540"/>
              <a:ext cx="1306" cy="582"/>
            </a:xfrm>
            <a:prstGeom prst="rect">
              <a:avLst/>
            </a:prstGeom>
          </p:spPr>
        </p:pic>
      </p:grpSp>
      <p:grpSp>
        <p:nvGrpSpPr>
          <p:cNvPr id="59" name="组合 58"/>
          <p:cNvGrpSpPr/>
          <p:nvPr/>
        </p:nvGrpSpPr>
        <p:grpSpPr>
          <a:xfrm>
            <a:off x="892864" y="3976736"/>
            <a:ext cx="7021141" cy="1154260"/>
            <a:chOff x="1406" y="6263"/>
            <a:chExt cx="11057" cy="1818"/>
          </a:xfrm>
        </p:grpSpPr>
        <p:grpSp>
          <p:nvGrpSpPr>
            <p:cNvPr id="30" name="组合 29"/>
            <p:cNvGrpSpPr/>
            <p:nvPr/>
          </p:nvGrpSpPr>
          <p:grpSpPr>
            <a:xfrm rot="0">
              <a:off x="1406" y="6263"/>
              <a:ext cx="11057" cy="1818"/>
              <a:chOff x="846" y="4377"/>
              <a:chExt cx="10715" cy="178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46" y="4377"/>
                <a:ext cx="8122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                                           </a:t>
                </a:r>
                <a:endParaRPr lang="zh-CN" altLang="en-US" sz="16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12"/>
              <a:srcRect t="10382"/>
              <a:stretch>
                <a:fillRect/>
              </a:stretch>
            </p:blipFill>
            <p:spPr>
              <a:xfrm>
                <a:off x="6706" y="4928"/>
                <a:ext cx="4855" cy="762"/>
              </a:xfrm>
              <a:prstGeom prst="rect">
                <a:avLst/>
              </a:prstGeom>
            </p:spPr>
          </p:pic>
          <p:grpSp>
            <p:nvGrpSpPr>
              <p:cNvPr id="26" name="组合 25"/>
              <p:cNvGrpSpPr/>
              <p:nvPr/>
            </p:nvGrpSpPr>
            <p:grpSpPr>
              <a:xfrm>
                <a:off x="1618" y="4377"/>
                <a:ext cx="3259" cy="1780"/>
                <a:chOff x="3091" y="4927"/>
                <a:chExt cx="3259" cy="1780"/>
              </a:xfrm>
            </p:grpSpPr>
            <p:pic>
              <p:nvPicPr>
                <p:cNvPr id="24" name="图片 23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91" y="4927"/>
                  <a:ext cx="3259" cy="698"/>
                </a:xfrm>
                <a:prstGeom prst="rect">
                  <a:avLst/>
                </a:prstGeom>
              </p:spPr>
            </p:pic>
            <p:pic>
              <p:nvPicPr>
                <p:cNvPr id="27" name="图片 2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48" y="6186"/>
                  <a:ext cx="1076" cy="521"/>
                </a:xfrm>
                <a:prstGeom prst="rect">
                  <a:avLst/>
                </a:prstGeom>
              </p:spPr>
            </p:pic>
          </p:grpSp>
          <p:sp>
            <p:nvSpPr>
              <p:cNvPr id="28" name="右箭头 27"/>
              <p:cNvSpPr/>
              <p:nvPr/>
            </p:nvSpPr>
            <p:spPr>
              <a:xfrm>
                <a:off x="5394" y="5183"/>
                <a:ext cx="804" cy="168"/>
              </a:xfrm>
              <a:prstGeom prst="rightArrow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2376" y="6956"/>
              <a:ext cx="2381" cy="743"/>
              <a:chOff x="2388" y="6970"/>
              <a:chExt cx="2002" cy="625"/>
            </a:xfrm>
          </p:grpSpPr>
          <p:pic>
            <p:nvPicPr>
              <p:cNvPr id="46" name="图片 45"/>
              <p:cNvPicPr>
                <a:picLocks noChangeAspect="1"/>
              </p:cNvPicPr>
              <p:nvPr/>
            </p:nvPicPr>
            <p:blipFill>
              <a:blip r:embed="rId11"/>
              <a:srcRect l="50158"/>
              <a:stretch>
                <a:fillRect/>
              </a:stretch>
            </p:blipFill>
            <p:spPr>
              <a:xfrm>
                <a:off x="3542" y="6986"/>
                <a:ext cx="848" cy="494"/>
              </a:xfrm>
              <a:prstGeom prst="rect">
                <a:avLst/>
              </a:prstGeom>
            </p:spPr>
          </p:pic>
          <p:pic>
            <p:nvPicPr>
              <p:cNvPr id="47" name="图片 46"/>
              <p:cNvPicPr>
                <a:picLocks noChangeAspect="1"/>
              </p:cNvPicPr>
              <p:nvPr/>
            </p:nvPicPr>
            <p:blipFill>
              <a:blip r:embed="rId5"/>
              <a:srcRect l="21929" t="88320" r="58302" b="2526"/>
              <a:stretch>
                <a:fillRect/>
              </a:stretch>
            </p:blipFill>
            <p:spPr>
              <a:xfrm>
                <a:off x="2388" y="6970"/>
                <a:ext cx="1273" cy="625"/>
              </a:xfrm>
              <a:prstGeom prst="rect">
                <a:avLst/>
              </a:prstGeom>
            </p:spPr>
          </p:pic>
        </p:grpSp>
      </p:grp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rcRect l="20144" t="68458" r="-726" b="-1608"/>
          <a:stretch>
            <a:fillRect/>
          </a:stretch>
        </p:blipFill>
        <p:spPr>
          <a:xfrm>
            <a:off x="9196070" y="3843020"/>
            <a:ext cx="1405890" cy="247015"/>
          </a:xfrm>
          <a:prstGeom prst="rect">
            <a:avLst/>
          </a:prstGeom>
        </p:spPr>
      </p:pic>
      <p:cxnSp>
        <p:nvCxnSpPr>
          <p:cNvPr id="51" name="直接连接符 50"/>
          <p:cNvCxnSpPr/>
          <p:nvPr/>
        </p:nvCxnSpPr>
        <p:spPr>
          <a:xfrm>
            <a:off x="8407400" y="617855"/>
            <a:ext cx="25400" cy="2875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8432800" y="3512820"/>
            <a:ext cx="3738245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8376285" y="3762375"/>
            <a:ext cx="22256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对于</a:t>
            </a:r>
            <a:endParaRPr lang="zh-CN" altLang="en-US" sz="160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5070" y="4345305"/>
            <a:ext cx="3194685" cy="29146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5070" y="4709160"/>
            <a:ext cx="2910840" cy="323850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8721090" y="5130800"/>
            <a:ext cx="1746250" cy="439420"/>
            <a:chOff x="13734" y="8080"/>
            <a:chExt cx="2750" cy="692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4236" y="8080"/>
              <a:ext cx="2249" cy="692"/>
            </a:xfrm>
            <a:prstGeom prst="rect">
              <a:avLst/>
            </a:prstGeom>
          </p:spPr>
        </p:pic>
        <p:sp>
          <p:nvSpPr>
            <p:cNvPr id="57" name="右箭头 56"/>
            <p:cNvSpPr/>
            <p:nvPr/>
          </p:nvSpPr>
          <p:spPr>
            <a:xfrm>
              <a:off x="13734" y="8384"/>
              <a:ext cx="502" cy="122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0" y="64770"/>
            <a:ext cx="3768725" cy="52387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965835" y="6430010"/>
            <a:ext cx="1325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由于</a:t>
            </a:r>
            <a:endParaRPr lang="zh-CN" altLang="en-US" sz="1600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8950" y="6448563"/>
            <a:ext cx="635595" cy="2748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multhusian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：总结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9690" y="1111885"/>
            <a:ext cx="4735195" cy="4965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2580" y="721995"/>
            <a:ext cx="41503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得到</a:t>
            </a:r>
            <a:r>
              <a:rPr lang="en-US" altLang="zh-CN" sz="1600"/>
              <a:t>goldstone mode</a:t>
            </a:r>
            <a:r>
              <a:rPr lang="zh-CN" altLang="en-US" sz="1600"/>
              <a:t>所满足的</a:t>
            </a:r>
            <a:r>
              <a:rPr lang="zh-CN" altLang="en-US" sz="1600"/>
              <a:t>方程</a:t>
            </a:r>
            <a:endParaRPr lang="zh-CN" altLang="en-US" sz="1600"/>
          </a:p>
        </p:txBody>
      </p:sp>
      <p:grpSp>
        <p:nvGrpSpPr>
          <p:cNvPr id="5" name="组合 4"/>
          <p:cNvGrpSpPr/>
          <p:nvPr/>
        </p:nvGrpSpPr>
        <p:grpSpPr>
          <a:xfrm>
            <a:off x="322580" y="1736725"/>
            <a:ext cx="11116310" cy="343535"/>
            <a:chOff x="508" y="2820"/>
            <a:chExt cx="17506" cy="541"/>
          </a:xfrm>
        </p:grpSpPr>
        <p:sp>
          <p:nvSpPr>
            <p:cNvPr id="11" name="文本框 10"/>
            <p:cNvSpPr txBox="1"/>
            <p:nvPr/>
          </p:nvSpPr>
          <p:spPr>
            <a:xfrm>
              <a:off x="508" y="2831"/>
              <a:ext cx="1750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线性理论得到</a:t>
              </a:r>
              <a:r>
                <a:rPr lang="en-US" altLang="zh-CN" sz="1600"/>
                <a:t>                                        </a:t>
              </a:r>
              <a:r>
                <a:rPr lang="zh-CN" altLang="en-US" sz="1600"/>
                <a:t>，</a:t>
              </a:r>
              <a:r>
                <a:rPr lang="zh-CN" altLang="en-US" sz="1600"/>
                <a:t>但是所有的非线性项都相关，线性理论是</a:t>
              </a:r>
              <a:r>
                <a:rPr lang="zh-CN" altLang="en-US" sz="1600"/>
                <a:t>失效的</a:t>
              </a:r>
              <a:endParaRPr lang="zh-CN" altLang="en-US" sz="160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7" y="2820"/>
              <a:ext cx="3504" cy="529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322580" y="2216150"/>
            <a:ext cx="11215370" cy="418465"/>
            <a:chOff x="613" y="3535"/>
            <a:chExt cx="17662" cy="659"/>
          </a:xfrm>
        </p:grpSpPr>
        <p:sp>
          <p:nvSpPr>
            <p:cNvPr id="13" name="文本框 12"/>
            <p:cNvSpPr txBox="1"/>
            <p:nvPr/>
          </p:nvSpPr>
          <p:spPr>
            <a:xfrm>
              <a:off x="613" y="3603"/>
              <a:ext cx="1766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>
                  <a:solidFill>
                    <a:srgbClr val="C00000"/>
                  </a:solidFill>
                </a:rPr>
                <a:t>非线性项是全散度的形式</a:t>
              </a:r>
              <a:r>
                <a:rPr lang="zh-CN" altLang="en-US" sz="1600"/>
                <a:t>保证噪声无法被重整化，推导出</a:t>
              </a:r>
              <a:r>
                <a:rPr lang="en-US" altLang="zh-CN" sz="1600"/>
                <a:t>                                   </a:t>
              </a:r>
              <a:r>
                <a:rPr lang="zh-CN" altLang="en-US" sz="1600"/>
                <a:t>以及</a:t>
              </a:r>
              <a:r>
                <a:rPr lang="en-US" altLang="zh-CN" sz="1600"/>
                <a:t>              </a:t>
              </a:r>
              <a:r>
                <a:rPr lang="zh-CN" altLang="en-US" sz="1600"/>
                <a:t>，后者说明存在</a:t>
              </a:r>
              <a:r>
                <a:rPr lang="zh-CN" altLang="en-US" sz="1600"/>
                <a:t>长程序</a:t>
              </a:r>
              <a:endParaRPr lang="zh-CN" altLang="en-US" sz="1600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0" y="3535"/>
              <a:ext cx="3075" cy="659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89" y="3661"/>
              <a:ext cx="930" cy="406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10907" t="4995" r="12803" b="63082"/>
          <a:stretch>
            <a:fillRect/>
          </a:stretch>
        </p:blipFill>
        <p:spPr>
          <a:xfrm>
            <a:off x="3062605" y="2885440"/>
            <a:ext cx="1428115" cy="2552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rcRect l="18186" t="69033"/>
          <a:stretch>
            <a:fillRect/>
          </a:stretch>
        </p:blipFill>
        <p:spPr>
          <a:xfrm>
            <a:off x="2878455" y="3371850"/>
            <a:ext cx="1476375" cy="2381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l="14312" t="34768" b="33500"/>
          <a:stretch>
            <a:fillRect/>
          </a:stretch>
        </p:blipFill>
        <p:spPr>
          <a:xfrm>
            <a:off x="4726305" y="2872740"/>
            <a:ext cx="1668780" cy="26416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298565" y="2820035"/>
            <a:ext cx="4568825" cy="337185"/>
            <a:chOff x="9919" y="4441"/>
            <a:chExt cx="7195" cy="531"/>
          </a:xfrm>
        </p:grpSpPr>
        <p:sp>
          <p:nvSpPr>
            <p:cNvPr id="22" name="文本框 21"/>
            <p:cNvSpPr txBox="1"/>
            <p:nvPr/>
          </p:nvSpPr>
          <p:spPr>
            <a:xfrm>
              <a:off x="9919" y="4441"/>
              <a:ext cx="719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利用</a:t>
              </a:r>
              <a:r>
                <a:rPr lang="en-US" altLang="zh-CN" sz="1600"/>
                <a:t>            </a:t>
              </a:r>
              <a:r>
                <a:rPr lang="zh-CN" altLang="en-US" sz="1600"/>
                <a:t>条件，可以推</a:t>
              </a:r>
              <a:r>
                <a:rPr lang="zh-CN" altLang="en-US" sz="1600"/>
                <a:t>导出不动点</a:t>
              </a:r>
              <a:r>
                <a:rPr lang="zh-CN" altLang="en-US" sz="1600"/>
                <a:t>不稳定</a:t>
              </a:r>
              <a:endParaRPr lang="zh-CN" altLang="en-US" sz="1600"/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62" y="4514"/>
              <a:ext cx="930" cy="406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322580" y="3880485"/>
            <a:ext cx="13994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结论：对于</a:t>
            </a:r>
            <a:r>
              <a:rPr lang="en-US" altLang="zh-CN" sz="1600"/>
              <a:t>multhusian flock</a:t>
            </a:r>
            <a:r>
              <a:rPr lang="zh-CN" altLang="en-US" sz="1600"/>
              <a:t>，有如下三个关系。</a:t>
            </a:r>
            <a:r>
              <a:rPr lang="zh-CN" altLang="en-US" sz="1600"/>
              <a:t>并且微扰</a:t>
            </a:r>
            <a:r>
              <a:rPr lang="zh-CN" altLang="en-US" sz="1600"/>
              <a:t>法得出的标度指数在</a:t>
            </a:r>
            <a:r>
              <a:rPr lang="en-US" altLang="zh-CN" sz="1600"/>
              <a:t>2</a:t>
            </a:r>
            <a:r>
              <a:rPr lang="zh-CN" altLang="en-US" sz="1600"/>
              <a:t>维是完全不可信</a:t>
            </a:r>
            <a:r>
              <a:rPr lang="zh-CN" altLang="en-US" sz="1600"/>
              <a:t>的</a:t>
            </a:r>
            <a:endParaRPr lang="zh-CN" altLang="en-US" sz="1600"/>
          </a:p>
        </p:txBody>
      </p:sp>
      <p:grpSp>
        <p:nvGrpSpPr>
          <p:cNvPr id="19" name="组合 18"/>
          <p:cNvGrpSpPr/>
          <p:nvPr/>
        </p:nvGrpSpPr>
        <p:grpSpPr>
          <a:xfrm>
            <a:off x="1634490" y="4549775"/>
            <a:ext cx="1951990" cy="1082040"/>
            <a:chOff x="2742" y="7545"/>
            <a:chExt cx="3074" cy="1704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2" y="7951"/>
              <a:ext cx="3075" cy="65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2" y="7545"/>
              <a:ext cx="930" cy="406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42" y="8563"/>
              <a:ext cx="2233" cy="686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/>
        </p:nvGrpSpPr>
        <p:grpSpPr>
          <a:xfrm>
            <a:off x="6991985" y="4566285"/>
            <a:ext cx="5136515" cy="813435"/>
            <a:chOff x="11011" y="7191"/>
            <a:chExt cx="8089" cy="1281"/>
          </a:xfrm>
        </p:grpSpPr>
        <p:sp>
          <p:nvSpPr>
            <p:cNvPr id="29" name="文本框 28"/>
            <p:cNvSpPr txBox="1"/>
            <p:nvPr/>
          </p:nvSpPr>
          <p:spPr>
            <a:xfrm>
              <a:off x="11011" y="7191"/>
              <a:ext cx="536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solidFill>
                    <a:srgbClr val="C00000"/>
                  </a:solidFill>
                </a:rPr>
                <a:t>补充：三维情况可用微扰法计算</a:t>
              </a:r>
              <a:endParaRPr lang="zh-CN" altLang="en-US" sz="1600">
                <a:solidFill>
                  <a:srgbClr val="C00000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1100" y="7942"/>
              <a:ext cx="8000" cy="531"/>
            </a:xfrm>
            <a:prstGeom prst="rect">
              <a:avLst/>
            </a:prstGeom>
          </p:spPr>
          <p:txBody>
            <a:bodyPr>
              <a:spAutoFit/>
            </a:bodyPr>
            <a:p>
              <a:r>
                <a:rPr lang="en-US" altLang="zh-CN" sz="16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charset="0"/>
                </a:rPr>
                <a:t>L. Chen, </a:t>
              </a:r>
              <a:r>
                <a:rPr lang="en-US" altLang="zh-CN" sz="1600" i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charset="0"/>
                </a:rPr>
                <a:t>et al.</a:t>
              </a:r>
              <a:r>
                <a:rPr lang="en-US" altLang="zh-CN" sz="16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charset="0"/>
                </a:rPr>
                <a:t>,</a:t>
              </a:r>
              <a:r>
                <a:rPr lang="en-US" altLang="zh-CN" sz="1600">
                  <a:solidFill>
                    <a:schemeClr val="accent1"/>
                  </a:solidFill>
                  <a:ea typeface="微软雅黑" panose="020B0503020204020204" charset="-122"/>
                  <a:cs typeface="+mn-lt"/>
                  <a:sym typeface="+mn-ea"/>
                </a:rPr>
                <a:t>Phys. Rev. Lett.</a:t>
              </a:r>
              <a:r>
                <a:rPr lang="en-US" altLang="zh-CN" sz="1600" b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charset="0"/>
                </a:rPr>
                <a:t>125</a:t>
              </a:r>
              <a:r>
                <a:rPr lang="en-US" altLang="zh-CN" sz="16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charset="0"/>
                </a:rPr>
                <a:t>, 098003 (2020).</a:t>
              </a:r>
              <a:endParaRPr lang="en-US" altLang="zh-CN" sz="16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22580" y="2820035"/>
            <a:ext cx="60134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对于这两种情形的不动点：</a:t>
            </a:r>
            <a:r>
              <a:rPr lang="en-US" altLang="zh-CN" sz="1600"/>
              <a:t>                           </a:t>
            </a:r>
            <a:r>
              <a:rPr lang="zh-CN" altLang="en-US" sz="1600"/>
              <a:t>，</a:t>
            </a:r>
            <a:endParaRPr lang="zh-CN" altLang="en-US" sz="1600"/>
          </a:p>
        </p:txBody>
      </p:sp>
      <p:grpSp>
        <p:nvGrpSpPr>
          <p:cNvPr id="15" name="组合 14"/>
          <p:cNvGrpSpPr/>
          <p:nvPr/>
        </p:nvGrpSpPr>
        <p:grpSpPr>
          <a:xfrm>
            <a:off x="322580" y="3235960"/>
            <a:ext cx="10934065" cy="673735"/>
            <a:chOff x="508" y="5096"/>
            <a:chExt cx="17219" cy="1061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16" y="5096"/>
              <a:ext cx="2311" cy="71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6929" y="5238"/>
                  <a:ext cx="8945" cy="9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600"/>
                    <a:t>由旋转对称性要求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1600">
                      <a:latin typeface="Cambria Math" panose="02040503050406030204" charset="0"/>
                      <a:cs typeface="Cambria Math" panose="02040503050406030204" charset="0"/>
                    </a:rPr>
                    <a:t>的</a:t>
                  </a:r>
                  <a:r>
                    <a:rPr lang="en-US" altLang="zh-CN" sz="1600">
                      <a:latin typeface="Cambria Math" panose="02040503050406030204" charset="0"/>
                      <a:cs typeface="Cambria Math" panose="02040503050406030204" charset="0"/>
                    </a:rPr>
                    <a:t>“</a:t>
                  </a:r>
                  <a:r>
                    <a:rPr lang="zh-CN" altLang="en-US" sz="1600">
                      <a:latin typeface="Cambria Math" panose="02040503050406030204" charset="0"/>
                      <a:cs typeface="Cambria Math" panose="02040503050406030204" charset="0"/>
                    </a:rPr>
                    <a:t>图形修正</a:t>
                  </a:r>
                  <a:r>
                    <a:rPr lang="en-US" altLang="zh-CN" sz="1600">
                      <a:latin typeface="Cambria Math" panose="02040503050406030204" charset="0"/>
                      <a:cs typeface="Cambria Math" panose="02040503050406030204" charset="0"/>
                    </a:rPr>
                    <a:t>”</a:t>
                  </a:r>
                  <a:r>
                    <a:rPr lang="zh-CN" altLang="en-US" sz="1600">
                      <a:latin typeface="Cambria Math" panose="02040503050406030204" charset="0"/>
                      <a:cs typeface="Cambria Math" panose="02040503050406030204" charset="0"/>
                    </a:rPr>
                    <a:t>一样，推出超标度关系</a:t>
                  </a:r>
                  <a:endParaRPr lang="zh-CN" altLang="en-US" sz="1600"/>
                </a:p>
                <a:p>
                  <a:endParaRPr lang="zh-CN" altLang="en-US" sz="1600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9" y="5238"/>
                  <a:ext cx="8945" cy="91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508" y="5250"/>
              <a:ext cx="4892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>
                  <a:sym typeface="+mn-ea"/>
                </a:rPr>
                <a:t>对于这种情形的不动点</a:t>
              </a:r>
              <a:endParaRPr lang="zh-CN" altLang="en-US" sz="1600"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rcRect b="28440"/>
          <a:stretch>
            <a:fillRect/>
          </a:stretch>
        </p:blipFill>
        <p:spPr>
          <a:xfrm>
            <a:off x="8122285" y="1941830"/>
            <a:ext cx="3948430" cy="65405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1160780" y="1217295"/>
            <a:ext cx="7577455" cy="888365"/>
            <a:chOff x="742" y="1168"/>
            <a:chExt cx="12681" cy="1638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" y="1168"/>
              <a:ext cx="12681" cy="1038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/>
            <a:srcRect r="34693" b="9972"/>
            <a:stretch>
              <a:fillRect/>
            </a:stretch>
          </p:blipFill>
          <p:spPr>
            <a:xfrm>
              <a:off x="742" y="2156"/>
              <a:ext cx="6882" cy="650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>
          <a:xfrm>
            <a:off x="428625" y="753110"/>
            <a:ext cx="2779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满足方程</a:t>
            </a:r>
            <a:endParaRPr lang="zh-CN" altLang="en-US" sz="1600"/>
          </a:p>
        </p:txBody>
      </p:sp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immortal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：方程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551940" y="4110355"/>
            <a:ext cx="8799830" cy="1054735"/>
            <a:chOff x="2444" y="6818"/>
            <a:chExt cx="13858" cy="1661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44" y="6818"/>
              <a:ext cx="13859" cy="56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6" y="7467"/>
              <a:ext cx="8253" cy="1013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88034"/>
          <a:stretch>
            <a:fillRect/>
          </a:stretch>
        </p:blipFill>
        <p:spPr>
          <a:xfrm>
            <a:off x="5273040" y="1700530"/>
            <a:ext cx="800735" cy="458470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342900" y="2424430"/>
            <a:ext cx="5471160" cy="416560"/>
            <a:chOff x="971" y="5483"/>
            <a:chExt cx="8616" cy="65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rcRect l="13602" t="42850"/>
            <a:stretch>
              <a:fillRect/>
            </a:stretch>
          </p:blipFill>
          <p:spPr>
            <a:xfrm>
              <a:off x="2581" y="5576"/>
              <a:ext cx="2255" cy="56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71" y="5521"/>
              <a:ext cx="321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/>
                <a:t>稳态</a:t>
              </a:r>
              <a:r>
                <a:rPr lang="zh-CN" altLang="en-US" sz="1600"/>
                <a:t>解</a:t>
              </a:r>
              <a:endParaRPr lang="zh-CN" altLang="en-US" sz="1600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4836" y="5483"/>
              <a:ext cx="4751" cy="653"/>
              <a:chOff x="5612" y="5543"/>
              <a:chExt cx="4751" cy="653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5612" y="5543"/>
                <a:ext cx="475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/>
                  <a:t>，并选择</a:t>
                </a:r>
                <a:r>
                  <a:rPr lang="en-US" altLang="zh-CN" sz="1600"/>
                  <a:t>     </a:t>
                </a:r>
                <a:r>
                  <a:rPr lang="zh-CN" altLang="en-US" sz="1600"/>
                  <a:t>作为</a:t>
                </a:r>
                <a:r>
                  <a:rPr lang="en-US" altLang="zh-CN" sz="1600"/>
                  <a:t>x</a:t>
                </a:r>
                <a:r>
                  <a:rPr lang="zh-CN" altLang="en-US" sz="1600"/>
                  <a:t>轴</a:t>
                </a:r>
                <a:endParaRPr lang="zh-CN" altLang="en-US" sz="1600"/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6"/>
              <a:srcRect l="87972" t="45806" r="-5301"/>
              <a:stretch>
                <a:fillRect/>
              </a:stretch>
            </p:blipFill>
            <p:spPr>
              <a:xfrm>
                <a:off x="7160" y="5648"/>
                <a:ext cx="464" cy="548"/>
              </a:xfrm>
              <a:prstGeom prst="rect">
                <a:avLst/>
              </a:prstGeom>
            </p:spPr>
          </p:pic>
        </p:grpSp>
      </p:grpSp>
      <p:grpSp>
        <p:nvGrpSpPr>
          <p:cNvPr id="17" name="组合 16"/>
          <p:cNvGrpSpPr/>
          <p:nvPr/>
        </p:nvGrpSpPr>
        <p:grpSpPr>
          <a:xfrm>
            <a:off x="342900" y="2843530"/>
            <a:ext cx="5660390" cy="843915"/>
            <a:chOff x="441" y="5935"/>
            <a:chExt cx="8914" cy="13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67" y="6526"/>
              <a:ext cx="3486" cy="739"/>
            </a:xfrm>
            <a:prstGeom prst="rect">
              <a:avLst/>
            </a:prstGeom>
          </p:spPr>
        </p:pic>
        <p:grpSp>
          <p:nvGrpSpPr>
            <p:cNvPr id="35" name="组合 34"/>
            <p:cNvGrpSpPr/>
            <p:nvPr/>
          </p:nvGrpSpPr>
          <p:grpSpPr>
            <a:xfrm>
              <a:off x="441" y="5935"/>
              <a:ext cx="8915" cy="834"/>
              <a:chOff x="1056" y="6115"/>
              <a:chExt cx="8716" cy="828"/>
            </a:xfrm>
          </p:grpSpPr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1" y="6115"/>
                <a:ext cx="6731" cy="828"/>
              </a:xfrm>
              <a:prstGeom prst="rect">
                <a:avLst/>
              </a:prstGeom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1056" y="6272"/>
                <a:ext cx="2226" cy="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加上</a:t>
                </a:r>
                <a:r>
                  <a:rPr lang="zh-CN" altLang="en-US" sz="1600"/>
                  <a:t>微扰</a:t>
                </a:r>
                <a:endParaRPr lang="zh-CN" altLang="en-US" sz="1600"/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342900" y="3688080"/>
            <a:ext cx="6970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得到方程</a:t>
            </a:r>
            <a:endParaRPr lang="zh-CN" altLang="en-US" sz="1600"/>
          </a:p>
        </p:txBody>
      </p:sp>
      <p:sp>
        <p:nvSpPr>
          <p:cNvPr id="23" name="文本框 22"/>
          <p:cNvSpPr txBox="1"/>
          <p:nvPr/>
        </p:nvSpPr>
        <p:spPr>
          <a:xfrm>
            <a:off x="428625" y="5292725"/>
            <a:ext cx="10525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在这里我们可以说明</a:t>
            </a:r>
            <a:r>
              <a:rPr lang="en-US" altLang="zh-CN" sz="1600"/>
              <a:t>multhusian flock</a:t>
            </a:r>
            <a:r>
              <a:rPr lang="zh-CN" altLang="en-US" sz="1600">
                <a:sym typeface="+mn-ea"/>
              </a:rPr>
              <a:t>认为密度恒定的近似是合理的（这里的合理性是最低阶的</a:t>
            </a:r>
            <a:r>
              <a:rPr lang="zh-CN" altLang="en-US" sz="1600">
                <a:sym typeface="+mn-ea"/>
              </a:rPr>
              <a:t>合理性）</a:t>
            </a:r>
            <a:endParaRPr lang="zh-CN" altLang="en-US" sz="1600"/>
          </a:p>
        </p:txBody>
      </p:sp>
      <p:sp>
        <p:nvSpPr>
          <p:cNvPr id="26" name="文本框 25"/>
          <p:cNvSpPr txBox="1"/>
          <p:nvPr/>
        </p:nvSpPr>
        <p:spPr>
          <a:xfrm>
            <a:off x="873760" y="5722620"/>
            <a:ext cx="10443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multhusian flock</a:t>
            </a:r>
            <a:r>
              <a:rPr lang="zh-CN" altLang="en-US" sz="1600"/>
              <a:t>密度</a:t>
            </a:r>
            <a:r>
              <a:rPr lang="zh-CN" altLang="en-US" sz="1600"/>
              <a:t>涨落保留最相关项的结果</a:t>
            </a:r>
            <a:endParaRPr lang="zh-CN" altLang="en-US" sz="16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875" y="5628005"/>
            <a:ext cx="1671955" cy="5791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859790" y="6185535"/>
                <a:ext cx="876363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考虑最低阶影响（</a:t>
                </a:r>
                <a:r>
                  <a:rPr lang="en-US" altLang="zh-CN" sz="16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项），最终密度涨落只影响了</a:t>
                </a:r>
                <a:r>
                  <a:rPr lang="en-US" altLang="zh-CN" sz="1600">
                    <a:latin typeface="Cambria Math" panose="02040503050406030204" charset="0"/>
                    <a:cs typeface="Cambria Math" panose="02040503050406030204" charset="0"/>
                  </a:rPr>
                  <a:t>y</a:t>
                </a:r>
                <a:r>
                  <a:rPr lang="zh-CN" altLang="en-US" sz="1600">
                    <a:latin typeface="Cambria Math" panose="02040503050406030204" charset="0"/>
                    <a:cs typeface="Cambria Math" panose="02040503050406030204" charset="0"/>
                  </a:rPr>
                  <a:t>方向的扩散强度</a:t>
                </a:r>
                <a:endParaRPr lang="zh-CN" altLang="en-US" sz="16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90" y="6185535"/>
                <a:ext cx="8763635" cy="33718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immortal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：线性分析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60" y="1680210"/>
            <a:ext cx="2756535" cy="4775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30" y="2991485"/>
            <a:ext cx="3771900" cy="12407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720" y="4965065"/>
            <a:ext cx="2392045" cy="3613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31495" y="805180"/>
            <a:ext cx="9853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accent1"/>
                </a:solidFill>
                <a:ea typeface="SFRM0900"/>
                <a:cs typeface="+mn-lt"/>
                <a:sym typeface="+mn-ea"/>
              </a:rPr>
              <a:t>J. Toner, Physical Review E </a:t>
            </a:r>
            <a:r>
              <a:rPr lang="en-US" altLang="zh-CN" sz="1600" b="1">
                <a:solidFill>
                  <a:schemeClr val="accent1"/>
                </a:solidFill>
                <a:ea typeface="SFBX0900"/>
                <a:cs typeface="+mn-lt"/>
                <a:sym typeface="+mn-ea"/>
              </a:rPr>
              <a:t>86 </a:t>
            </a:r>
            <a:r>
              <a:rPr lang="en-US" altLang="zh-CN" sz="1600">
                <a:solidFill>
                  <a:schemeClr val="accent1"/>
                </a:solidFill>
                <a:ea typeface="SFRM0900"/>
                <a:cs typeface="+mn-lt"/>
                <a:sym typeface="+mn-ea"/>
              </a:rPr>
              <a:t>, 031918 (2012).</a:t>
            </a:r>
            <a:r>
              <a:rPr lang="zh-CN" altLang="en-US" sz="1600"/>
              <a:t>详细推导出了线性</a:t>
            </a:r>
            <a:r>
              <a:rPr lang="zh-CN" altLang="en-US" sz="1600"/>
              <a:t>理论下的结果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1260475" y="1242695"/>
            <a:ext cx="47332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本征矢量</a:t>
            </a:r>
            <a:r>
              <a:rPr lang="en-US" altLang="zh-CN" sz="1600"/>
              <a:t>              </a:t>
            </a:r>
            <a:r>
              <a:rPr lang="zh-CN" altLang="en-US" sz="1600"/>
              <a:t>的表达式</a:t>
            </a:r>
            <a:r>
              <a:rPr lang="zh-CN" altLang="en-US" sz="1600"/>
              <a:t>为</a:t>
            </a:r>
            <a:endParaRPr lang="zh-CN" altLang="en-US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295" y="1767205"/>
            <a:ext cx="1964055" cy="2717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0" y="1247140"/>
            <a:ext cx="596900" cy="29654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4130675" y="2104390"/>
            <a:ext cx="4819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57470" y="2104390"/>
            <a:ext cx="779780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055110" y="2154555"/>
            <a:ext cx="1102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声速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201920" y="2186940"/>
            <a:ext cx="1001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阻尼</a:t>
            </a:r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531495" y="2511425"/>
            <a:ext cx="53416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根据本征矢量算出关联函数</a:t>
            </a:r>
            <a:endParaRPr lang="zh-CN" altLang="en-US" sz="1600"/>
          </a:p>
        </p:txBody>
      </p:sp>
      <p:sp>
        <p:nvSpPr>
          <p:cNvPr id="21" name="文本框 20"/>
          <p:cNvSpPr txBox="1"/>
          <p:nvPr/>
        </p:nvSpPr>
        <p:spPr>
          <a:xfrm>
            <a:off x="577850" y="4465955"/>
            <a:ext cx="33204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根据关联函数可以看出</a:t>
            </a:r>
            <a:r>
              <a:rPr lang="en-US" altLang="zh-CN" sz="1600"/>
              <a:t>      </a:t>
            </a:r>
            <a:endParaRPr lang="en-US" altLang="zh-CN" sz="1600"/>
          </a:p>
        </p:txBody>
      </p:sp>
      <p:sp>
        <p:nvSpPr>
          <p:cNvPr id="22" name="文本框 21"/>
          <p:cNvSpPr txBox="1"/>
          <p:nvPr/>
        </p:nvSpPr>
        <p:spPr>
          <a:xfrm>
            <a:off x="6038215" y="4965065"/>
            <a:ext cx="4689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C00000"/>
                </a:solidFill>
              </a:rPr>
              <a:t>（和</a:t>
            </a:r>
            <a:r>
              <a:rPr lang="en-US" altLang="zh-CN" sz="1600">
                <a:solidFill>
                  <a:srgbClr val="C00000"/>
                </a:solidFill>
              </a:rPr>
              <a:t>multhusian</a:t>
            </a:r>
            <a:r>
              <a:rPr lang="zh-CN" altLang="en-US" sz="1600">
                <a:solidFill>
                  <a:srgbClr val="C00000"/>
                </a:solidFill>
              </a:rPr>
              <a:t>的线性理论标度指数一致）</a:t>
            </a:r>
            <a:endParaRPr lang="zh-CN" altLang="en-US" sz="1600">
              <a:solidFill>
                <a:srgbClr val="C00000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760095"/>
            <a:ext cx="2390140" cy="587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immortal flocks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DRG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分析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560" y="2396490"/>
            <a:ext cx="5855335" cy="4178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55270" y="2929890"/>
            <a:ext cx="8810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参数太多，情况太复杂，这里只说主要</a:t>
            </a:r>
            <a:r>
              <a:rPr lang="zh-CN" altLang="en-US" sz="1600"/>
              <a:t>结果：</a:t>
            </a:r>
            <a:endParaRPr lang="zh-CN" alt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50240" y="3382645"/>
                <a:ext cx="11485880" cy="2317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对于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θ，非线性项并不是全散度形式，噪声可被重整化；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对于δρ，虽然非线性项是全散度形式，但是噪声是守恒噪声，依然可被重整化。（对于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multhusian flock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，是根据噪声不可重整化推出一个标度关系，以及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𝜃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的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）</a:t>
                </a:r>
                <a:endParaRPr lang="zh-CN" altLang="en-US" sz="16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密度守恒可推出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𝜌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rPr>
                  <a:t>。但是因为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无法推出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𝜃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rPr>
                  <a:t>（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rPr>
                  <a:t>multhusian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rPr>
                  <a:t>能推出是因为噪声不可重整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  <a:cs typeface="Cambria Math" panose="02040503050406030204" charset="0"/>
                  </a:rPr>
                  <a:t>化），无法证明一定存在长程序</a:t>
                </a:r>
                <a:endParaRPr lang="zh-CN" altLang="en-US" sz="1600">
                  <a:latin typeface="Arial" panose="020B0604020202020204" pitchFamily="34" charset="0"/>
                  <a:ea typeface="微软雅黑" panose="020B0503020204020204" charset="-122"/>
                  <a:cs typeface="Cambria Math" panose="02040503050406030204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二维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情形，如果承认存在长程序（大量数据支持这个结果），则理论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上存在</a:t>
                </a:r>
                <a:r>
                  <a:rPr lang="en-US" altLang="zh-CN" sz="1600">
                    <a:latin typeface="Arial" panose="020B0604020202020204" pitchFamily="34" charset="0"/>
                    <a:ea typeface="微软雅黑" panose="020B0503020204020204" charset="-122"/>
                  </a:rPr>
                  <a:t>14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个相关的非线性项，线性理论失效</a:t>
                </a:r>
                <a:endParaRPr lang="zh-CN" altLang="en-US" sz="160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不知道在不动点这些参数是否非零（即假设他们中的一些的不动点的参数值是零，无法得知这个参数是否稳定），因此无法推出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任何标度</a:t>
                </a:r>
                <a:r>
                  <a:rPr lang="zh-CN" altLang="en-US" sz="1600">
                    <a:latin typeface="Arial" panose="020B0604020202020204" pitchFamily="34" charset="0"/>
                    <a:ea typeface="微软雅黑" panose="020B0503020204020204" charset="-122"/>
                  </a:rPr>
                  <a:t>关系</a:t>
                </a:r>
                <a:endParaRPr lang="zh-CN" altLang="en-US" sz="160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" y="3382645"/>
                <a:ext cx="11485880" cy="23177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1186815" y="1045210"/>
            <a:ext cx="9712960" cy="974090"/>
            <a:chOff x="1340" y="1476"/>
            <a:chExt cx="16060" cy="166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0" y="1476"/>
              <a:ext cx="15462" cy="86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0" y="2472"/>
              <a:ext cx="16061" cy="664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/>
        </p:nvSpPr>
        <p:spPr>
          <a:xfrm>
            <a:off x="255270" y="742950"/>
            <a:ext cx="2513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满足方程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267970" y="2037080"/>
            <a:ext cx="30010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标度变换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504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9115" y="901065"/>
            <a:ext cx="1115885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全面重新检查了二维</a:t>
            </a:r>
            <a:r>
              <a:rPr lang="en-US" altLang="zh-CN" sz="1600"/>
              <a:t>multhusian flocking</a:t>
            </a:r>
            <a:r>
              <a:rPr lang="zh-CN" altLang="en-US" sz="1600"/>
              <a:t>（</a:t>
            </a:r>
            <a:r>
              <a:rPr lang="zh-CN" altLang="en-US" sz="1600">
                <a:sym typeface="+mn-ea"/>
              </a:rPr>
              <a:t>数量不守恒）</a:t>
            </a:r>
            <a:r>
              <a:rPr lang="zh-CN" altLang="en-US" sz="1600"/>
              <a:t>和</a:t>
            </a:r>
            <a:r>
              <a:rPr lang="en-US" altLang="zh-CN" sz="1600"/>
              <a:t>immortal flocking</a:t>
            </a:r>
            <a:r>
              <a:rPr lang="zh-CN" altLang="en-US" sz="1600"/>
              <a:t>（</a:t>
            </a:r>
            <a:r>
              <a:rPr lang="zh-CN" altLang="en-US" sz="1600">
                <a:sym typeface="+mn-ea"/>
              </a:rPr>
              <a:t>数量守恒）</a:t>
            </a:r>
            <a:r>
              <a:rPr lang="zh-CN" altLang="en-US" sz="1600"/>
              <a:t>的长波长、长时间的流体动力学理论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对于</a:t>
            </a:r>
            <a:r>
              <a:rPr lang="en-US" altLang="zh-CN" sz="1600"/>
              <a:t>multhusian flock</a:t>
            </a:r>
            <a:r>
              <a:rPr lang="zh-CN" altLang="en-US" sz="1600"/>
              <a:t>，有长程序，并且有两个标度</a:t>
            </a:r>
            <a:r>
              <a:rPr lang="zh-CN" altLang="en-US" sz="1600"/>
              <a:t>关系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对于</a:t>
            </a:r>
            <a:r>
              <a:rPr lang="en-US" altLang="zh-CN" sz="1600"/>
              <a:t>immortal flock</a:t>
            </a:r>
            <a:r>
              <a:rPr lang="zh-CN" altLang="en-US" sz="1600"/>
              <a:t>，在解析论证上，</a:t>
            </a:r>
            <a:r>
              <a:rPr lang="zh-CN" altLang="en-US" sz="1600"/>
              <a:t>无法给出任何标度</a:t>
            </a:r>
            <a:r>
              <a:rPr lang="zh-CN" altLang="en-US" sz="1600"/>
              <a:t>关系</a:t>
            </a:r>
            <a:endParaRPr lang="zh-CN" altLang="en-US" sz="1600"/>
          </a:p>
        </p:txBody>
      </p:sp>
      <p:grpSp>
        <p:nvGrpSpPr>
          <p:cNvPr id="19" name="组合 18"/>
          <p:cNvGrpSpPr/>
          <p:nvPr/>
        </p:nvGrpSpPr>
        <p:grpSpPr>
          <a:xfrm>
            <a:off x="4486275" y="2179320"/>
            <a:ext cx="1952625" cy="824230"/>
            <a:chOff x="2742" y="7951"/>
            <a:chExt cx="3075" cy="1298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42" y="7951"/>
              <a:ext cx="3075" cy="659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2" y="8563"/>
              <a:ext cx="2233" cy="686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539115" y="3777615"/>
            <a:ext cx="11779885" cy="2729230"/>
            <a:chOff x="635" y="6497"/>
            <a:chExt cx="18551" cy="4298"/>
          </a:xfrm>
        </p:grpSpPr>
        <p:sp>
          <p:nvSpPr>
            <p:cNvPr id="7" name="文本框 6"/>
            <p:cNvSpPr txBox="1"/>
            <p:nvPr/>
          </p:nvSpPr>
          <p:spPr>
            <a:xfrm>
              <a:off x="2379" y="7747"/>
              <a:ext cx="9600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600">
                  <a:solidFill>
                    <a:schemeClr val="accent1"/>
                  </a:solidFill>
                </a:rPr>
                <a:t> L. Chen et al., Nat. Commun. 7, 12215 (2016)  </a:t>
              </a:r>
              <a:endParaRPr lang="en-US" altLang="zh-CN" sz="1600">
                <a:solidFill>
                  <a:schemeClr val="accent1"/>
                </a:solidFill>
              </a:endParaRPr>
            </a:p>
            <a:p>
              <a:r>
                <a:rPr lang="en-US" altLang="zh-CN" sz="1600">
                  <a:solidFill>
                    <a:schemeClr val="accent1"/>
                  </a:solidFill>
                </a:rPr>
                <a:t> L. Chen et al., Phys. Rev. E 109, L012601 (2024)  </a:t>
              </a:r>
              <a:endParaRPr lang="en-US" altLang="zh-CN" sz="1600">
                <a:solidFill>
                  <a:schemeClr val="accent1"/>
                </a:solidFill>
              </a:endParaRPr>
            </a:p>
            <a:p>
              <a:r>
                <a:rPr lang="en-US" altLang="zh-CN" sz="1600">
                  <a:solidFill>
                    <a:schemeClr val="accent1"/>
                  </a:solidFill>
                </a:rPr>
                <a:t>A. Maitra et al., Phys. Rev. Lett. 124, 028002 (2020)</a:t>
              </a:r>
              <a:endParaRPr lang="en-US" altLang="zh-CN" sz="1600">
                <a:solidFill>
                  <a:schemeClr val="accent1"/>
                </a:solidFill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35" y="6497"/>
              <a:ext cx="18551" cy="4298"/>
              <a:chOff x="635" y="6497"/>
              <a:chExt cx="18551" cy="4298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635" y="6497"/>
                <a:ext cx="18551" cy="3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二维非平衡</a:t>
                </a:r>
                <a:r>
                  <a:rPr lang="en-US" altLang="zh-CN" sz="1600"/>
                  <a:t>flock</a:t>
                </a:r>
                <a:r>
                  <a:rPr lang="zh-CN" altLang="en-US" sz="1600"/>
                  <a:t>有</a:t>
                </a:r>
                <a:r>
                  <a:rPr lang="zh-CN" altLang="en-US" sz="1600"/>
                  <a:t>没有可以解析</a:t>
                </a:r>
                <a:r>
                  <a:rPr lang="zh-CN" altLang="en-US" sz="1600"/>
                  <a:t>获得的标度指数？</a:t>
                </a:r>
                <a:r>
                  <a:rPr lang="zh-CN" altLang="en-US" sz="1600"/>
                  <a:t>有</a:t>
                </a:r>
                <a:endParaRPr lang="zh-CN" altLang="en-US" sz="1600"/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imcompressible flock+</a:t>
                </a:r>
                <a:r>
                  <a:rPr lang="zh-CN" altLang="en-US" sz="1600"/>
                  <a:t>退火（长程序是由于不可压缩性而非</a:t>
                </a:r>
                <a:r>
                  <a:rPr lang="zh-CN" altLang="en-US" sz="1600"/>
                  <a:t>运动）</a:t>
                </a:r>
                <a:endParaRPr lang="zh-CN" altLang="en-US" sz="1600"/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sz="1600"/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sz="1600"/>
              </a:p>
              <a:p>
                <a:pPr marL="742950" lvl="1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/>
                  <a:t>imcompressible flock+</a:t>
                </a:r>
                <a:r>
                  <a:rPr lang="zh-CN" altLang="en-US" sz="1600"/>
                  <a:t>淬火无序（长程序的</a:t>
                </a:r>
                <a:r>
                  <a:rPr lang="zh-CN" altLang="en-US" sz="1600"/>
                  <a:t>出现需要运动）</a:t>
                </a:r>
                <a:endParaRPr lang="zh-CN" altLang="en-US" sz="160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379" y="9488"/>
                <a:ext cx="9600" cy="13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>
                    <a:solidFill>
                      <a:schemeClr val="accent1"/>
                    </a:solidFill>
                  </a:rPr>
                  <a:t> A. Maitra, Phys. Rev. E 101, 012605 (2020)  </a:t>
                </a:r>
                <a:endParaRPr lang="en-US" altLang="zh-CN" sz="1600">
                  <a:solidFill>
                    <a:schemeClr val="accent1"/>
                  </a:solidFill>
                </a:endParaRPr>
              </a:p>
              <a:p>
                <a:r>
                  <a:rPr lang="en-US" altLang="zh-CN" sz="1600">
                    <a:solidFill>
                      <a:schemeClr val="accent1"/>
                    </a:solidFill>
                  </a:rPr>
                  <a:t> L. Chen et al., Phys. Rev. E 106, 044608 (2022)  </a:t>
                </a:r>
                <a:endParaRPr lang="en-US" altLang="zh-CN" sz="1600">
                  <a:solidFill>
                    <a:schemeClr val="accent1"/>
                  </a:solidFill>
                </a:endParaRPr>
              </a:p>
              <a:p>
                <a:r>
                  <a:rPr lang="en-US" altLang="zh-CN" sz="1600">
                    <a:solidFill>
                      <a:schemeClr val="accent1"/>
                    </a:solidFill>
                  </a:rPr>
                  <a:t> L. Chen et al., Phys. Rev. Lett. 129, 188004 (2022)</a:t>
                </a:r>
                <a:endParaRPr lang="en-US" altLang="zh-CN" sz="1600">
                  <a:solidFill>
                    <a:schemeClr val="accent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64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65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66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67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68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69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0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1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2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3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4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5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6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7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8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79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80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81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ags/tag82.xml><?xml version="1.0" encoding="utf-8"?>
<p:tagLst xmlns:p="http://schemas.openxmlformats.org/presentationml/2006/main">
  <p:tag name="KSO_WM_DIAGRAM_VIRTUALLY_FRAME" val="{&quot;height&quot;:98.65,&quot;left&quot;:22.05,&quot;top&quot;:339.95,&quot;width&quot;:1200.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5351</Words>
  <Application>WPS 演示</Application>
  <PresentationFormat>宽屏</PresentationFormat>
  <Paragraphs>393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Cambria Math</vt:lpstr>
      <vt:lpstr>MS Mincho</vt:lpstr>
      <vt:lpstr>Segoe Print</vt:lpstr>
      <vt:lpstr>Times New Roman</vt:lpstr>
      <vt:lpstr>SFRM0900</vt:lpstr>
      <vt:lpstr>SFBX0900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WPS_1601999913</cp:lastModifiedBy>
  <cp:revision>178</cp:revision>
  <dcterms:created xsi:type="dcterms:W3CDTF">2019-06-19T02:08:00Z</dcterms:created>
  <dcterms:modified xsi:type="dcterms:W3CDTF">2025-05-24T13:49:10Z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821E7D03CD894250B4551F8ABEC75C9F_12</vt:lpwstr>
  </property>
</Properties>
</file>
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7" r:id="rId3"/>
    <p:sldId id="259" r:id="rId5"/>
    <p:sldId id="340" r:id="rId6"/>
    <p:sldId id="341" r:id="rId7"/>
    <p:sldId id="261" r:id="rId8"/>
    <p:sldId id="347" r:id="rId9"/>
    <p:sldId id="346" r:id="rId10"/>
    <p:sldId id="345" r:id="rId11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2E61"/>
    <a:srgbClr val="462650"/>
    <a:srgbClr val="784089"/>
    <a:srgbClr val="3E2146"/>
    <a:srgbClr val="763F86"/>
    <a:srgbClr val="D264B5"/>
    <a:srgbClr val="510B51"/>
    <a:srgbClr val="6E0F6D"/>
    <a:srgbClr val="B179B5"/>
    <a:srgbClr val="D8B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49" autoAdjust="0"/>
  </p:normalViewPr>
  <p:slideViewPr>
    <p:cSldViewPr snapToGrid="0" showGuides="1">
      <p:cViewPr varScale="1">
        <p:scale>
          <a:sx n="109" d="100"/>
          <a:sy n="109" d="100"/>
        </p:scale>
        <p:origin x="636" y="150"/>
      </p:cViewPr>
      <p:guideLst>
        <p:guide orient="horz" pos="22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B0C771-B932-4C58-ABEA-F67C2089A3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硫代磷酸二氯酸盐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2A3232-EF31-4E79-A0D3-E63BB9BF7B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94AA-01E8-46CB-BB2E-F66A7DE7704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3AC3E-91AE-4B37-9D92-08DF80AAC16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CCF0B-1098-4C13-891E-FC34AB89453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260FC-5F1B-4C34-BD7B-0EF81948E3A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C2DF-7F92-4602-81EB-3AB0836AC34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09939-6406-4E1D-81C0-3DA4A659CFD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373B1-4E3D-4180-B7EE-264EEDAF8B6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9C67-E658-46AD-9ACB-7380A4432D2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0D08-A89D-4AB7-B09D-97999DB13FF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2DE49-F2CB-4BD6-AFD1-2AF0FE844DF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7A65-DC48-48AB-9CC0-B5E22AF8159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27A65-DC48-48AB-9CC0-B5E22AF8159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png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18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3" Type="http://schemas.openxmlformats.org/officeDocument/2006/relationships/image" Target="../media/image38.png"/><Relationship Id="rId12" Type="http://schemas.openxmlformats.org/officeDocument/2006/relationships/image" Target="../media/image37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55706" y="1394234"/>
            <a:ext cx="46548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2" descr="https://gss0.bdstatic.com/-4o3dSag_xI4khGkpoWK1HF6hhy/baike/c0%3Dbaike272%2C5%2C5%2C272%2C90/sign=8a9a0b9d3787e950561afb3e71513826/2fdda3cc7cd98d103d73086f2c3fb80e7aec90c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95" y="0"/>
            <a:ext cx="1145264" cy="13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logo-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680" y="-437810"/>
            <a:ext cx="3331845" cy="3074670"/>
          </a:xfrm>
          <a:prstGeom prst="rect">
            <a:avLst/>
          </a:prstGeom>
        </p:spPr>
      </p:pic>
      <p:pic>
        <p:nvPicPr>
          <p:cNvPr id="11" name="图片 10" descr="logo-06 - 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9894"/>
            <a:ext cx="2627948" cy="242458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853170" y="5290820"/>
            <a:ext cx="2103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arxiv:2410.13377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55" y="2055495"/>
            <a:ext cx="10981690" cy="2129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797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9895" y="1460500"/>
            <a:ext cx="10764520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实验观察</a:t>
            </a:r>
            <a:r>
              <a:rPr lang="zh-CN" altLang="en-US" sz="30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→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冰规则</a:t>
            </a:r>
            <a:endParaRPr lang="en-US" altLang="zh-CN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六顶点模型到</a:t>
            </a: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CPL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模型的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endParaRPr lang="zh-CN" altLang="en-US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实验结果和理论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比对</a:t>
            </a:r>
            <a:endParaRPr lang="zh-CN" altLang="en-US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</a:t>
            </a: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无序转变</a:t>
            </a:r>
            <a:endParaRPr lang="en-US" altLang="zh-CN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3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5941" y="5487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12553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50298"/>
            <a:ext cx="363288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5653" y="6489500"/>
            <a:ext cx="20574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0" y="4524375"/>
            <a:ext cx="4227830" cy="20923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8145" y="883285"/>
            <a:ext cx="4923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实验装置：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微米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quincke roller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限制在宽度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微米的方形管道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网络中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0265" y="1245235"/>
            <a:ext cx="2451735" cy="226187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330" y="3507105"/>
            <a:ext cx="2382520" cy="21856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88620" y="1682115"/>
            <a:ext cx="4817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研究进入稳态后粒子的轨迹（拉格朗日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轨迹）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620" y="2276475"/>
            <a:ext cx="3787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稳定的流是均匀的，通量可认为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760" y="2282190"/>
            <a:ext cx="1030605" cy="36258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02945" y="2686685"/>
            <a:ext cx="3805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（由于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quincke roller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匀速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运动）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840" y="3759835"/>
            <a:ext cx="1462405" cy="46799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965" y="4281805"/>
            <a:ext cx="1707515" cy="76200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88620" y="3202940"/>
            <a:ext cx="3568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导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冰规则：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945" y="5203825"/>
            <a:ext cx="109220" cy="30416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939165" y="5153025"/>
            <a:ext cx="1157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是节点，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6770" y="5139055"/>
            <a:ext cx="553720" cy="3949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2573020" y="5184140"/>
            <a:ext cx="1935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是连接两点的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9"/>
          <a:srcRect l="2487" r="49720"/>
          <a:stretch>
            <a:fillRect/>
          </a:stretch>
        </p:blipFill>
        <p:spPr>
          <a:xfrm>
            <a:off x="5636260" y="644525"/>
            <a:ext cx="3789045" cy="1736725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6260" y="2474595"/>
            <a:ext cx="4025900" cy="1793240"/>
          </a:xfrm>
          <a:prstGeom prst="rect">
            <a:avLst/>
          </a:prstGeom>
        </p:spPr>
      </p:pic>
      <p:sp>
        <p:nvSpPr>
          <p:cNvPr id="77" name="文本框 76"/>
          <p:cNvSpPr txBox="1"/>
          <p:nvPr/>
        </p:nvSpPr>
        <p:spPr>
          <a:xfrm>
            <a:off x="3357245" y="4415790"/>
            <a:ext cx="2668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（两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出两进）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55941" y="62852"/>
            <a:ext cx="363288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六顶点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endParaRPr lang="zh-CN" alt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Sixvertex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577850"/>
            <a:ext cx="6012815" cy="13106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850" y="762635"/>
            <a:ext cx="2823845" cy="240601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479425" y="1932305"/>
            <a:ext cx="8116570" cy="3666490"/>
            <a:chOff x="891" y="3978"/>
            <a:chExt cx="12782" cy="5774"/>
          </a:xfrm>
        </p:grpSpPr>
        <p:grpSp>
          <p:nvGrpSpPr>
            <p:cNvPr id="9" name="组合 8"/>
            <p:cNvGrpSpPr/>
            <p:nvPr/>
          </p:nvGrpSpPr>
          <p:grpSpPr>
            <a:xfrm>
              <a:off x="891" y="3978"/>
              <a:ext cx="12526" cy="3583"/>
              <a:chOff x="567" y="1602"/>
              <a:chExt cx="12526" cy="3583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7" y="3607"/>
                <a:ext cx="262" cy="418"/>
              </a:xfrm>
              <a:prstGeom prst="rect">
                <a:avLst/>
              </a:prstGeom>
            </p:spPr>
          </p:pic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6" y="3109"/>
                <a:ext cx="3540" cy="1485"/>
              </a:xfrm>
              <a:prstGeom prst="rect">
                <a:avLst/>
              </a:prstGeom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6929" y="3566"/>
                <a:ext cx="336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是一种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配置，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43" y="3607"/>
                <a:ext cx="3425" cy="510"/>
              </a:xfrm>
              <a:prstGeom prst="rect">
                <a:avLst/>
              </a:prstGeom>
            </p:spPr>
          </p:pic>
          <p:pic>
            <p:nvPicPr>
              <p:cNvPr id="23" name="图片 2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46" y="4707"/>
                <a:ext cx="3784" cy="455"/>
              </a:xfrm>
              <a:prstGeom prst="rect">
                <a:avLst/>
              </a:prstGeom>
            </p:spPr>
          </p:pic>
          <p:sp>
            <p:nvSpPr>
              <p:cNvPr id="24" name="文本框 23"/>
              <p:cNvSpPr txBox="1"/>
              <p:nvPr/>
            </p:nvSpPr>
            <p:spPr>
              <a:xfrm>
                <a:off x="589" y="4595"/>
                <a:ext cx="82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• 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这个体系下，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箭头反转，能量不变，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要求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30" y="4677"/>
                <a:ext cx="1663" cy="508"/>
              </a:xfrm>
              <a:prstGeom prst="rect">
                <a:avLst/>
              </a:prstGeom>
            </p:spPr>
          </p:pic>
          <p:sp>
            <p:nvSpPr>
              <p:cNvPr id="6" name="文本框 5"/>
              <p:cNvSpPr txBox="1"/>
              <p:nvPr/>
            </p:nvSpPr>
            <p:spPr>
              <a:xfrm>
                <a:off x="567" y="3566"/>
                <a:ext cx="248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• 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配分函数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" name="文本框 1"/>
              <p:cNvSpPr txBox="1"/>
              <p:nvPr/>
            </p:nvSpPr>
            <p:spPr>
              <a:xfrm>
                <a:off x="567" y="2537"/>
                <a:ext cx="951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• 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方形晶格上对每个顶点施加</a:t>
                </a: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“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两进两出</a:t>
                </a:r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”</a:t>
                </a:r>
                <a:r>
                  <a: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冰规则</a:t>
                </a:r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589" y="1602"/>
                <a:ext cx="11082" cy="5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0" indent="0"/>
                <a:r>
                  <a:rPr lang="en-US" altLang="zh-CN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• </a:t>
                </a:r>
                <a:r>
                  <a:rPr lang="zh-CN" altLang="en-US" b="0" i="0">
                    <a:solidFill>
                      <a:srgbClr val="2021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最早由</a:t>
                </a:r>
                <a:r>
                  <a:rPr lang="zh-CN" altLang="en-US" b="0" i="0">
                    <a:solidFill>
                      <a:srgbClr val="2021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鲍林于 </a:t>
                </a:r>
                <a:r>
                  <a:rPr lang="en-US" altLang="zh-CN" b="0" i="0">
                    <a:solidFill>
                      <a:srgbClr val="2021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1935 </a:t>
                </a:r>
                <a:r>
                  <a:rPr lang="zh-CN" altLang="en-US" b="0" i="0">
                    <a:solidFill>
                      <a:srgbClr val="2021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年提出，用于解释冰的</a:t>
                </a:r>
                <a:r>
                  <a:rPr lang="zh-CN" altLang="en-US" b="0" i="0">
                    <a:solidFill>
                      <a:srgbClr val="20212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残余熵。</a:t>
                </a:r>
                <a:endParaRPr lang="zh-CN" altLang="en-US" b="0" i="0">
                  <a:solidFill>
                    <a:srgbClr val="20212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891" y="7737"/>
              <a:ext cx="31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• 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各向异性参数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357" y="7737"/>
              <a:ext cx="974" cy="572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81" y="8495"/>
              <a:ext cx="1867" cy="527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81" y="9208"/>
              <a:ext cx="1072" cy="410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9348" y="7834"/>
              <a:ext cx="361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铁电相，有宏观极化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878" y="8555"/>
              <a:ext cx="379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无序相，有共形不变性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497" y="9221"/>
              <a:ext cx="417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反铁电相，交错对齐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08555" y="4192905"/>
            <a:ext cx="1608455" cy="66675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8684895" y="3097530"/>
            <a:ext cx="3606165" cy="3245134"/>
            <a:chOff x="7222" y="2025"/>
            <a:chExt cx="9341" cy="8098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22" y="2025"/>
              <a:ext cx="7380" cy="7755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8353" y="2584"/>
              <a:ext cx="4269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 ferroelectric</a:t>
              </a:r>
              <a:endParaRPr lang="zh-CN" altLang="en-US" sz="1400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3237" y="7547"/>
              <a:ext cx="3326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 ferroelectric</a:t>
              </a:r>
              <a:endParaRPr lang="zh-CN" altLang="en-US" sz="1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1588" y="3700"/>
              <a:ext cx="3014" cy="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disorder</a:t>
              </a:r>
              <a:endParaRPr lang="en-US" altLang="zh-CN" sz="140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7785" y="8820"/>
              <a:ext cx="2933" cy="13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400"/>
                <a:t> </a:t>
              </a:r>
              <a:r>
                <a:rPr lang="en-US" altLang="zh-CN" sz="1400"/>
                <a:t>anti-</a:t>
              </a:r>
              <a:endParaRPr lang="en-US" altLang="zh-CN" sz="1400"/>
            </a:p>
            <a:p>
              <a:r>
                <a:rPr lang="zh-CN" altLang="en-US" sz="1400"/>
                <a:t>ferroelectric</a:t>
              </a:r>
              <a:endParaRPr lang="zh-CN" altLang="en-US" sz="14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93395" y="5676900"/>
            <a:ext cx="7374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二维上是完全可解模型，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有转移矩阵或者Bethe Ansatz方法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352" y="2560"/>
            <a:ext cx="12187647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56210" y="47625"/>
            <a:ext cx="1096327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六顶点模型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到Completely Packed Loop model (CPL模型)的</a:t>
            </a:r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endParaRPr lang="zh-CN" alt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14454" r="66221"/>
          <a:stretch>
            <a:fillRect/>
          </a:stretch>
        </p:blipFill>
        <p:spPr>
          <a:xfrm>
            <a:off x="410210" y="688340"/>
            <a:ext cx="2207260" cy="2166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2305"/>
          <a:stretch>
            <a:fillRect/>
          </a:stretch>
        </p:blipFill>
        <p:spPr>
          <a:xfrm>
            <a:off x="519430" y="3772535"/>
            <a:ext cx="2175510" cy="207264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 rot="5400000">
            <a:off x="850900" y="3039745"/>
            <a:ext cx="814070" cy="23622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84630" y="30565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Baxter-Kelland-Wu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35049"/>
          <a:stretch>
            <a:fillRect/>
          </a:stretch>
        </p:blipFill>
        <p:spPr>
          <a:xfrm>
            <a:off x="5465445" y="1284605"/>
            <a:ext cx="3627120" cy="889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785" y="2235200"/>
            <a:ext cx="2131695" cy="32734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4480" y="2113915"/>
            <a:ext cx="3561080" cy="19678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5420" y="4324350"/>
            <a:ext cx="2383155" cy="6330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5420" y="1149985"/>
            <a:ext cx="2094230" cy="8782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683885" y="729615"/>
            <a:ext cx="3190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映射规则：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6152515" y="5518785"/>
            <a:ext cx="3764915" cy="645160"/>
            <a:chOff x="9091" y="9013"/>
            <a:chExt cx="5929" cy="101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38" y="9013"/>
              <a:ext cx="4683" cy="1017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9091" y="9113"/>
              <a:ext cx="17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可算出</a:t>
              </a:r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0835" y="5172710"/>
            <a:ext cx="306705" cy="2336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1045" y="5172075"/>
            <a:ext cx="281940" cy="23431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728720" y="5093335"/>
            <a:ext cx="736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节点数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8450" y="5824855"/>
            <a:ext cx="229235" cy="2489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70835" y="5499735"/>
            <a:ext cx="251460" cy="23177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3728720" y="5424805"/>
            <a:ext cx="15601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回路数量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28720" y="5756275"/>
            <a:ext cx="19081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回路逸度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（根据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耦合强度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决定）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9366885" y="729615"/>
            <a:ext cx="2668270" cy="633730"/>
            <a:chOff x="11546" y="949"/>
            <a:chExt cx="4202" cy="998"/>
          </a:xfrm>
        </p:grpSpPr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1546" y="1096"/>
              <a:ext cx="2046" cy="686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364" y="949"/>
              <a:ext cx="2385" cy="999"/>
            </a:xfrm>
            <a:prstGeom prst="rect">
              <a:avLst/>
            </a:prstGeom>
          </p:spPr>
        </p:pic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1920" y="2758440"/>
            <a:ext cx="1062355" cy="105981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212725" y="6303010"/>
            <a:ext cx="63525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注：一个顶点配置可以对应多个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CPL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轨迹，计算某种顶点配置对配分函数的贡献时，需要考虑所以轨迹的加权，有相应数学技术处理（Temperley-Lieb代数）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83714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220" y="1360170"/>
            <a:ext cx="2176780" cy="21971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8620" y="850265"/>
            <a:ext cx="3586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拉格朗</a:t>
            </a:r>
            <a:r>
              <a:rPr lang="zh-CN" altLang="en-US"/>
              <a:t>日轨迹形成自回避</a:t>
            </a:r>
            <a:r>
              <a:rPr lang="zh-CN" altLang="en-US"/>
              <a:t>环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" y="4203065"/>
            <a:ext cx="3967480" cy="263969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5740" y="3827145"/>
            <a:ext cx="550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实验也表明粒子轨迹遵循 Baxter-Keeland-Wu</a:t>
            </a:r>
            <a:r>
              <a:rPr lang="zh-CN" altLang="en-US"/>
              <a:t>映射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970" y="762635"/>
            <a:ext cx="2574290" cy="24396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520" y="762635"/>
            <a:ext cx="2547620" cy="24034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140" y="850265"/>
            <a:ext cx="2398395" cy="22275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5740" y="98425"/>
            <a:ext cx="374904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lang="zh-CN" altLang="en-US" sz="27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51500" y="3451225"/>
            <a:ext cx="5790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c</a:t>
            </a:r>
            <a:r>
              <a:rPr lang="zh-CN" altLang="en-US"/>
              <a:t>）轨迹的回转半径与其长度L的关系。蓝色：除最大环外的所有环。粉色：最大环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651500" y="4172585"/>
            <a:ext cx="599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d</a:t>
            </a:r>
            <a:r>
              <a:rPr lang="zh-CN" altLang="en-US"/>
              <a:t>）轨迹形成的集合中找到长度为L的环的概率P（L）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712460" y="4703445"/>
            <a:ext cx="5850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e</a:t>
            </a:r>
            <a:r>
              <a:rPr lang="zh-CN" altLang="en-US"/>
              <a:t>）两点相关函数C(r)。在同一个</a:t>
            </a:r>
            <a:r>
              <a:rPr lang="zh-CN" altLang="en-US"/>
              <a:t>轨迹中找到相隔距离r的两点的概率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692140" y="5635625"/>
            <a:ext cx="5872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实验理论匹配，证明六顶点模型可以描述</a:t>
            </a:r>
            <a:r>
              <a:rPr lang="en-US" altLang="zh-CN"/>
              <a:t>quincke roller</a:t>
            </a:r>
            <a:r>
              <a:rPr lang="zh-CN" altLang="en-US"/>
              <a:t>的四价网络；反之，</a:t>
            </a:r>
            <a:r>
              <a:rPr lang="en-US" altLang="zh-CN"/>
              <a:t>quincke roller</a:t>
            </a:r>
            <a:r>
              <a:rPr lang="zh-CN" altLang="en-US"/>
              <a:t>四价网络也可以映射成六顶点</a:t>
            </a:r>
            <a:r>
              <a:rPr lang="zh-CN" altLang="en-US"/>
              <a:t>模型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010" y="3025775"/>
            <a:ext cx="1703705" cy="492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83714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7640" y="932180"/>
            <a:ext cx="3284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在通道中心加半径为</a:t>
            </a:r>
            <a:r>
              <a:rPr lang="en-US" altLang="zh-CN"/>
              <a:t>r</a:t>
            </a:r>
            <a:r>
              <a:rPr lang="zh-CN" altLang="en-US"/>
              <a:t>的圆柱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1920" y="93345"/>
            <a:ext cx="106076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反铁磁</a:t>
            </a: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无序转变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327785"/>
            <a:ext cx="8310245" cy="44945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260" y="2264410"/>
            <a:ext cx="238760" cy="2235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020" y="2176145"/>
            <a:ext cx="937260" cy="3073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412480" y="2673985"/>
            <a:ext cx="202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所在块的平均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环流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19700" y="5880100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无序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284720" y="5849620"/>
            <a:ext cx="662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有序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075" y="2585085"/>
            <a:ext cx="1067435" cy="106743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3672840" y="901065"/>
            <a:ext cx="5431155" cy="368935"/>
            <a:chOff x="735" y="9110"/>
            <a:chExt cx="8553" cy="58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5" y="9159"/>
              <a:ext cx="2257" cy="52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8" y="9110"/>
              <a:ext cx="2152" cy="581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5290" y="9111"/>
              <a:ext cx="39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发生反铁磁</a:t>
              </a: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-</a:t>
              </a:r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无序转变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01249"/>
          </a:xfrm>
          <a:prstGeom prst="rect">
            <a:avLst/>
          </a:prstGeom>
          <a:solidFill>
            <a:srgbClr val="552E61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55939" y="62851"/>
            <a:ext cx="10801093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27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448800" y="6483714"/>
            <a:ext cx="2743200" cy="365125"/>
          </a:xfrm>
        </p:spPr>
        <p:txBody>
          <a:bodyPr/>
          <a:lstStyle/>
          <a:p>
            <a:fld id="{6510895A-BA6C-4CBB-8279-3888D09C907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26110" y="1383665"/>
            <a:ext cx="94126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四价网络中的均匀流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性质导出了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两出两进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的冰规则，映射到六顶点模型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利用六顶点模型的已有理论以及和其他模型的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映射推出轨迹的一系列标度率，和实验数据符合很好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•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反铁电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无序转变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FiNWEyNDFiNzViYWY5MmIwMjg0NmM3ODU1MmU3NGQifQ==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943</Words>
  <Application>WPS 演示</Application>
  <PresentationFormat>宽屏</PresentationFormat>
  <Paragraphs>126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Calibri</vt:lpstr>
      <vt:lpstr>Arial Unicode MS</vt:lpstr>
      <vt:lpstr>等线 Light</vt:lpstr>
      <vt:lpstr>Calibri Light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Junsheng Zhang</dc:creator>
  <cp:lastModifiedBy>WPS_1601999913</cp:lastModifiedBy>
  <cp:revision>340</cp:revision>
  <dcterms:created xsi:type="dcterms:W3CDTF">2022-04-23T06:28:00Z</dcterms:created>
  <dcterms:modified xsi:type="dcterms:W3CDTF">2024-11-26T12:25:28Z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C5B78BCDBA524A0BBEFFE1DE39F04B94_13</vt:lpwstr>
  </property>
  <property fmtid="{D5CDD505-2E9C-101B-9397-08002B2CF9AE}" pid="3" name="KSOProductBuildVer">
    <vt:lpwstr>2052-12.1.0.17827</vt:lpwstr>
  </property>
</Properties>
</file>